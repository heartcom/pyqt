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02" r:id="rId2"/>
    <p:sldId id="319" r:id="rId3"/>
    <p:sldId id="323" r:id="rId4"/>
    <p:sldId id="379" r:id="rId5"/>
    <p:sldId id="380" r:id="rId6"/>
    <p:sldId id="381" r:id="rId7"/>
    <p:sldId id="382" r:id="rId8"/>
    <p:sldId id="324" r:id="rId9"/>
    <p:sldId id="332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384" r:id="rId18"/>
    <p:sldId id="344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401" r:id="rId28"/>
    <p:sldId id="403" r:id="rId29"/>
    <p:sldId id="404" r:id="rId30"/>
    <p:sldId id="402" r:id="rId31"/>
    <p:sldId id="405" r:id="rId32"/>
    <p:sldId id="406" r:id="rId33"/>
    <p:sldId id="407" r:id="rId34"/>
    <p:sldId id="408" r:id="rId35"/>
    <p:sldId id="409" r:id="rId36"/>
    <p:sldId id="410" r:id="rId37"/>
    <p:sldId id="411" r:id="rId38"/>
    <p:sldId id="412" r:id="rId39"/>
    <p:sldId id="413" r:id="rId40"/>
    <p:sldId id="414" r:id="rId41"/>
    <p:sldId id="415" r:id="rId42"/>
    <p:sldId id="417" r:id="rId43"/>
    <p:sldId id="418" r:id="rId44"/>
    <p:sldId id="419" r:id="rId45"/>
    <p:sldId id="420" r:id="rId46"/>
    <p:sldId id="421" r:id="rId47"/>
    <p:sldId id="422" r:id="rId48"/>
    <p:sldId id="423" r:id="rId49"/>
    <p:sldId id="416" r:id="rId50"/>
    <p:sldId id="424" r:id="rId51"/>
    <p:sldId id="427" r:id="rId52"/>
    <p:sldId id="426" r:id="rId53"/>
    <p:sldId id="425" r:id="rId54"/>
    <p:sldId id="383" r:id="rId55"/>
    <p:sldId id="345" r:id="rId56"/>
    <p:sldId id="346" r:id="rId57"/>
    <p:sldId id="430" r:id="rId58"/>
    <p:sldId id="347" r:id="rId59"/>
    <p:sldId id="429" r:id="rId60"/>
    <p:sldId id="431" r:id="rId61"/>
    <p:sldId id="348" r:id="rId62"/>
    <p:sldId id="432" r:id="rId63"/>
    <p:sldId id="433" r:id="rId64"/>
    <p:sldId id="440" r:id="rId65"/>
    <p:sldId id="434" r:id="rId66"/>
    <p:sldId id="435" r:id="rId67"/>
    <p:sldId id="436" r:id="rId68"/>
    <p:sldId id="437" r:id="rId69"/>
    <p:sldId id="438" r:id="rId70"/>
    <p:sldId id="439" r:id="rId71"/>
    <p:sldId id="441" r:id="rId72"/>
    <p:sldId id="442" r:id="rId73"/>
    <p:sldId id="320" r:id="rId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30" autoAdjust="0"/>
    <p:restoredTop sz="94660"/>
  </p:normalViewPr>
  <p:slideViewPr>
    <p:cSldViewPr snapToGrid="0">
      <p:cViewPr>
        <p:scale>
          <a:sx n="90" d="100"/>
          <a:sy n="90" d="100"/>
        </p:scale>
        <p:origin x="432" y="5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346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195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40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9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33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83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89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68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02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92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29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DC872-0E0F-4B71-97B1-1CA7CAEBA243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FA5A3-FC38-43A1-9656-A35F1BAD7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1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artcom/pyqt/tree/main/ExampleWidge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anaconda.com/docs/getting-started/miniconda/install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epo.anaconda.com/pkgs/msys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realvnc.com/en/connect/download/viewer/" TargetMode="Externa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1301-DF23-EDC5-AA59-0048FD9A1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B2DAE7-B487-80C9-452C-30917B35A51F}"/>
              </a:ext>
            </a:extLst>
          </p:cNvPr>
          <p:cNvSpPr/>
          <p:nvPr/>
        </p:nvSpPr>
        <p:spPr>
          <a:xfrm>
            <a:off x="0" y="0"/>
            <a:ext cx="12192000" cy="269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ko-KR" sz="6600" b="1" dirty="0">
                <a:solidFill>
                  <a:schemeClr val="bg1">
                    <a:lumMod val="85000"/>
                  </a:schemeClr>
                </a:solidFill>
              </a:rPr>
              <a:t>PyQt</a:t>
            </a:r>
          </a:p>
          <a:p>
            <a:pPr algn="ctr">
              <a:spcAft>
                <a:spcPts val="600"/>
              </a:spcAft>
            </a:pPr>
            <a:r>
              <a:rPr lang="en-US" altLang="ko-KR" sz="4000" b="1" dirty="0">
                <a:solidFill>
                  <a:schemeClr val="bg1">
                    <a:lumMod val="85000"/>
                  </a:schemeClr>
                </a:solidFill>
              </a:rPr>
              <a:t>LED &amp; DHT11</a:t>
            </a:r>
            <a:endParaRPr lang="ko-KR" altLang="en-US" sz="36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E51C8-3B31-A7B8-A9C8-B28FF145BC2C}"/>
              </a:ext>
            </a:extLst>
          </p:cNvPr>
          <p:cNvSpPr txBox="1"/>
          <p:nvPr/>
        </p:nvSpPr>
        <p:spPr>
          <a:xfrm>
            <a:off x="1412121" y="5830402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hlinkClick r:id="rId2"/>
              </a:rPr>
              <a:t>pyqt</a:t>
            </a:r>
            <a:r>
              <a:rPr lang="en-US" altLang="ko-KR" dirty="0">
                <a:hlinkClick r:id="rId2"/>
              </a:rPr>
              <a:t>/</a:t>
            </a:r>
            <a:r>
              <a:rPr lang="en-US" altLang="ko-KR" dirty="0" err="1">
                <a:hlinkClick r:id="rId2"/>
              </a:rPr>
              <a:t>ExampleWidget</a:t>
            </a:r>
            <a:r>
              <a:rPr lang="en-US" altLang="ko-KR" dirty="0">
                <a:hlinkClick r:id="rId2"/>
              </a:rPr>
              <a:t> at main · heartcom/</a:t>
            </a:r>
            <a:r>
              <a:rPr lang="en-US" altLang="ko-KR" dirty="0" err="1">
                <a:hlinkClick r:id="rId2"/>
              </a:rPr>
              <a:t>pyqt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5B8D3-AD6F-4292-B295-90EF1542B893}"/>
              </a:ext>
            </a:extLst>
          </p:cNvPr>
          <p:cNvSpPr txBox="1"/>
          <p:nvPr/>
        </p:nvSpPr>
        <p:spPr>
          <a:xfrm>
            <a:off x="657106" y="5831508"/>
            <a:ext cx="75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code :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ACD0F-2A55-4F07-BB7D-AEE65F37CDDB}"/>
              </a:ext>
            </a:extLst>
          </p:cNvPr>
          <p:cNvSpPr txBox="1"/>
          <p:nvPr/>
        </p:nvSpPr>
        <p:spPr>
          <a:xfrm>
            <a:off x="1002535" y="3205908"/>
            <a:ext cx="8251634" cy="1279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2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개발환경</a:t>
            </a:r>
            <a:br>
              <a:rPr lang="en-US" altLang="ko-KR" b="1" dirty="0"/>
            </a:br>
            <a:r>
              <a:rPr lang="en-US" altLang="ko-KR" b="1" dirty="0"/>
              <a:t>1) Serial </a:t>
            </a:r>
            <a:r>
              <a:rPr lang="ko-KR" altLang="en-US" b="1" dirty="0"/>
              <a:t>통신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en-US" altLang="ko-KR" b="1" dirty="0"/>
              <a:t>MCU</a:t>
            </a:r>
            <a:r>
              <a:rPr lang="ko-KR" altLang="en-US" b="1" dirty="0"/>
              <a:t> 기반 </a:t>
            </a:r>
            <a:r>
              <a:rPr lang="en-US" altLang="ko-KR" b="1" dirty="0"/>
              <a:t>: Arduino, ESP32, Cortex-Mx</a:t>
            </a:r>
            <a:br>
              <a:rPr lang="en-US" altLang="ko-KR" b="1" dirty="0"/>
            </a:br>
            <a:r>
              <a:rPr lang="en-US" altLang="ko-KR" b="1" dirty="0"/>
              <a:t>2) Raspberry pi </a:t>
            </a:r>
            <a:r>
              <a:rPr lang="en-US" altLang="ko-KR" b="1" dirty="0">
                <a:sym typeface="Wingdings" panose="05000000000000000000" pitchFamily="2" charset="2"/>
              </a:rPr>
              <a:t> GPIO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4511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315E-B11C-13EC-63C1-D4942703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DB5B5BD-380E-9DBA-7C64-50F8B82ABABA}"/>
              </a:ext>
            </a:extLst>
          </p:cNvPr>
          <p:cNvSpPr/>
          <p:nvPr/>
        </p:nvSpPr>
        <p:spPr>
          <a:xfrm>
            <a:off x="0" y="0"/>
            <a:ext cx="12192000" cy="316307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 algn="ctr"/>
            <a:r>
              <a:rPr lang="en-US" altLang="ko-KR" sz="4400" b="1" dirty="0"/>
              <a:t>PyQt </a:t>
            </a:r>
            <a:r>
              <a:rPr lang="ko-KR" altLang="en-US" sz="4400" b="1" dirty="0"/>
              <a:t>설치</a:t>
            </a:r>
            <a:endParaRPr lang="en-US" altLang="ko-KR" sz="4400" b="1" dirty="0"/>
          </a:p>
          <a:p>
            <a:pPr marL="179388" algn="ctr"/>
            <a:r>
              <a:rPr lang="en-US" altLang="ko-KR" sz="4400" b="1" dirty="0"/>
              <a:t>MCU Version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041995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047C8B6-E84C-6FF9-9571-C16C34E0BDDA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Windows  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PyQt </a:t>
            </a:r>
            <a:r>
              <a:rPr lang="ko-KR" altLang="en-US" sz="2000" b="1" dirty="0"/>
              <a:t>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F965B-4BC6-40A6-33C3-AB6F5344341B}"/>
              </a:ext>
            </a:extLst>
          </p:cNvPr>
          <p:cNvSpPr txBox="1"/>
          <p:nvPr/>
        </p:nvSpPr>
        <p:spPr>
          <a:xfrm>
            <a:off x="317350" y="966402"/>
            <a:ext cx="10666208" cy="390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>
                <a:latin typeface="+mn-ea"/>
              </a:rPr>
              <a:t>cmd </a:t>
            </a:r>
            <a:r>
              <a:rPr lang="ko-KR" altLang="en-US" dirty="0">
                <a:latin typeface="+mn-ea"/>
              </a:rPr>
              <a:t>창을 관리자 권한으로 열자</a:t>
            </a:r>
            <a:r>
              <a:rPr lang="en-US" altLang="ko-KR" dirty="0">
                <a:latin typeface="+mn-ea"/>
              </a:rPr>
              <a:t>.</a:t>
            </a:r>
          </a:p>
          <a:p>
            <a:pPr marL="342900" indent="-342900">
              <a:lnSpc>
                <a:spcPts val="2500"/>
              </a:lnSpc>
              <a:buAutoNum type="arabicPeriod"/>
            </a:pPr>
            <a:endParaRPr lang="en-US" altLang="ko-KR" dirty="0">
              <a:latin typeface="+mn-ea"/>
            </a:endParaRPr>
          </a:p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 err="1">
                <a:latin typeface="+mn-ea"/>
              </a:rPr>
              <a:t>conda</a:t>
            </a:r>
            <a:r>
              <a:rPr lang="ko-KR" altLang="en-US" dirty="0">
                <a:latin typeface="+mn-ea"/>
              </a:rPr>
              <a:t> 가상 환경 만들기 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    </a:t>
            </a:r>
            <a:r>
              <a:rPr lang="en-US" altLang="ko-KR" dirty="0" err="1">
                <a:latin typeface="+mn-ea"/>
              </a:rPr>
              <a:t>conda</a:t>
            </a:r>
            <a:r>
              <a:rPr lang="en-US" altLang="ko-KR" dirty="0">
                <a:latin typeface="+mn-ea"/>
              </a:rPr>
              <a:t> create –n </a:t>
            </a:r>
            <a:r>
              <a:rPr lang="en-US" altLang="ko-KR" dirty="0" err="1">
                <a:latin typeface="+mn-ea"/>
              </a:rPr>
              <a:t>pyQtFlask</a:t>
            </a:r>
            <a:r>
              <a:rPr lang="en-US" altLang="ko-KR" dirty="0">
                <a:latin typeface="+mn-ea"/>
              </a:rPr>
              <a:t>  python=3.11</a:t>
            </a:r>
          </a:p>
          <a:p>
            <a:pPr marL="342900" indent="-342900">
              <a:lnSpc>
                <a:spcPts val="2500"/>
              </a:lnSpc>
              <a:buAutoNum type="arabicPeriod"/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3.  pyqt5 </a:t>
            </a:r>
            <a:r>
              <a:rPr lang="ko-KR" altLang="en-US" dirty="0">
                <a:latin typeface="+mn-ea"/>
              </a:rPr>
              <a:t>설치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   </a:t>
            </a:r>
            <a:r>
              <a:rPr lang="en-US" altLang="ko-KR" dirty="0" err="1">
                <a:latin typeface="+mn-ea"/>
              </a:rPr>
              <a:t>conda</a:t>
            </a:r>
            <a:r>
              <a:rPr lang="en-US" altLang="ko-KR" dirty="0">
                <a:latin typeface="+mn-ea"/>
              </a:rPr>
              <a:t> install -y -c </a:t>
            </a:r>
            <a:r>
              <a:rPr lang="en-US" altLang="ko-KR" dirty="0" err="1">
                <a:latin typeface="+mn-ea"/>
              </a:rPr>
              <a:t>conda</a:t>
            </a:r>
            <a:r>
              <a:rPr lang="en-US" altLang="ko-KR" dirty="0">
                <a:latin typeface="+mn-ea"/>
              </a:rPr>
              <a:t>-forge </a:t>
            </a:r>
            <a:r>
              <a:rPr lang="en-US" altLang="ko-KR" dirty="0" err="1">
                <a:latin typeface="+mn-ea"/>
              </a:rPr>
              <a:t>pyqt</a:t>
            </a:r>
            <a:r>
              <a:rPr lang="en-US" altLang="ko-KR" dirty="0">
                <a:latin typeface="+mn-ea"/>
              </a:rPr>
              <a:t>=5 qt=5</a:t>
            </a: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4. Designer </a:t>
            </a:r>
            <a:r>
              <a:rPr lang="ko-KR" altLang="en-US" dirty="0">
                <a:latin typeface="+mn-ea"/>
              </a:rPr>
              <a:t>설치 위치</a:t>
            </a: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5. Designer </a:t>
            </a:r>
            <a:r>
              <a:rPr lang="ko-KR" altLang="en-US" dirty="0">
                <a:latin typeface="+mn-ea"/>
              </a:rPr>
              <a:t>실행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아래 명령 </a:t>
            </a:r>
            <a:r>
              <a:rPr lang="en-US" altLang="ko-KR" dirty="0">
                <a:latin typeface="+mn-ea"/>
              </a:rPr>
              <a:t>cmd</a:t>
            </a:r>
            <a:r>
              <a:rPr lang="ko-KR" altLang="en-US" dirty="0">
                <a:latin typeface="+mn-ea"/>
              </a:rPr>
              <a:t>에서 실행 혹은 </a:t>
            </a:r>
            <a:r>
              <a:rPr lang="en-US" altLang="ko-KR" dirty="0">
                <a:latin typeface="+mn-ea"/>
              </a:rPr>
              <a:t>designer.exe </a:t>
            </a:r>
            <a:r>
              <a:rPr lang="ko-KR" altLang="en-US" dirty="0">
                <a:latin typeface="+mn-ea"/>
              </a:rPr>
              <a:t>바탕화면 바로 가기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아이콘 클릭</a:t>
            </a:r>
            <a:r>
              <a:rPr lang="ko-KR" altLang="en-US" dirty="0">
                <a:latin typeface="+mn-ea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4329C-13F5-9353-46CA-678CF23BFC82}"/>
              </a:ext>
            </a:extLst>
          </p:cNvPr>
          <p:cNvSpPr txBox="1"/>
          <p:nvPr/>
        </p:nvSpPr>
        <p:spPr>
          <a:xfrm>
            <a:off x="629321" y="3879798"/>
            <a:ext cx="8665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C:\Users\heart\miniconda3\pkgs\qt-main-5.15.15-h9151539_4\Library\bin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5924C0-0B8D-8E5B-9915-20EF32B85DA7}"/>
              </a:ext>
            </a:extLst>
          </p:cNvPr>
          <p:cNvSpPr txBox="1"/>
          <p:nvPr/>
        </p:nvSpPr>
        <p:spPr>
          <a:xfrm>
            <a:off x="629321" y="4876127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%CONDA_PREFIX%\Library\bin\designer.exe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3A45D-D9FA-419C-9D4F-60CA0F5A0710}"/>
              </a:ext>
            </a:extLst>
          </p:cNvPr>
          <p:cNvSpPr txBox="1"/>
          <p:nvPr/>
        </p:nvSpPr>
        <p:spPr>
          <a:xfrm>
            <a:off x="629321" y="5348640"/>
            <a:ext cx="6943760" cy="6830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à"/>
            </a:pPr>
            <a:r>
              <a:rPr lang="en-US" altLang="ko-KR" sz="1600" dirty="0">
                <a:sym typeface="Wingdings" panose="05000000000000000000" pitchFamily="2" charset="2"/>
              </a:rPr>
              <a:t>cmd </a:t>
            </a:r>
            <a:r>
              <a:rPr lang="ko-KR" altLang="en-US" sz="1600" dirty="0">
                <a:sym typeface="Wingdings" panose="05000000000000000000" pitchFamily="2" charset="2"/>
              </a:rPr>
              <a:t>창에서 가상 환경으로 들어가서 위의 명령을 실행하여야 함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pPr marL="285750" indent="-285750">
              <a:lnSpc>
                <a:spcPts val="2400"/>
              </a:lnSpc>
              <a:buFont typeface="Wingdings" panose="05000000000000000000" pitchFamily="2" charset="2"/>
              <a:buChar char="à"/>
            </a:pPr>
            <a:r>
              <a:rPr lang="en-US" altLang="ko-KR" sz="1600" dirty="0">
                <a:sym typeface="Wingdings" panose="05000000000000000000" pitchFamily="2" charset="2"/>
              </a:rPr>
              <a:t>vs code </a:t>
            </a:r>
            <a:r>
              <a:rPr lang="ko-KR" altLang="en-US" sz="1600" dirty="0" err="1">
                <a:sym typeface="Wingdings" panose="05000000000000000000" pitchFamily="2" charset="2"/>
              </a:rPr>
              <a:t>터이널은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 err="1">
                <a:sym typeface="Wingdings" panose="05000000000000000000" pitchFamily="2" charset="2"/>
              </a:rPr>
              <a:t>powershell</a:t>
            </a:r>
            <a:r>
              <a:rPr lang="en-US" altLang="ko-KR" sz="1600" dirty="0"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sym typeface="Wingdings" panose="05000000000000000000" pitchFamily="2" charset="2"/>
              </a:rPr>
              <a:t>로 실행되는 경우가 있어 정상 동작하지 않음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0BE9A0-2EB2-4864-9CE3-94BDD5A3C1BF}"/>
              </a:ext>
            </a:extLst>
          </p:cNvPr>
          <p:cNvSpPr txBox="1"/>
          <p:nvPr/>
        </p:nvSpPr>
        <p:spPr>
          <a:xfrm>
            <a:off x="8082366" y="1283364"/>
            <a:ext cx="3307123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pip </a:t>
            </a:r>
            <a:r>
              <a:rPr lang="ko-KR" altLang="en-US" dirty="0" err="1"/>
              <a:t>install</a:t>
            </a:r>
            <a:r>
              <a:rPr lang="ko-KR" altLang="en-US" dirty="0"/>
              <a:t> PyQt5 PyQt5-tools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3A2D3-81A3-4F5B-AD98-F1B030301472}"/>
              </a:ext>
            </a:extLst>
          </p:cNvPr>
          <p:cNvSpPr txBox="1"/>
          <p:nvPr/>
        </p:nvSpPr>
        <p:spPr>
          <a:xfrm>
            <a:off x="8082366" y="925239"/>
            <a:ext cx="1919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>
                <a:solidFill>
                  <a:srgbClr val="0000FF"/>
                </a:solidFill>
              </a:rPr>
              <a:t>가상환경 없이 설치</a:t>
            </a:r>
          </a:p>
        </p:txBody>
      </p:sp>
    </p:spTree>
    <p:extLst>
      <p:ext uri="{BB962C8B-B14F-4D97-AF65-F5344CB8AC3E}">
        <p14:creationId xmlns:p14="http://schemas.microsoft.com/office/powerpoint/2010/main" val="201795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miniConda</a:t>
            </a:r>
            <a:r>
              <a:rPr lang="ko-KR" altLang="en-US" sz="2000" b="1" dirty="0"/>
              <a:t> 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F965B-4BC6-40A6-33C3-AB6F5344341B}"/>
              </a:ext>
            </a:extLst>
          </p:cNvPr>
          <p:cNvSpPr txBox="1"/>
          <p:nvPr/>
        </p:nvSpPr>
        <p:spPr>
          <a:xfrm>
            <a:off x="372434" y="840916"/>
            <a:ext cx="10666208" cy="134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>
                <a:latin typeface="+mn-ea"/>
              </a:rPr>
              <a:t>google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dirty="0" err="1">
                <a:latin typeface="+mn-ea"/>
              </a:rPr>
              <a:t>miniconda</a:t>
            </a:r>
            <a:r>
              <a:rPr lang="en-US" altLang="ko-KR" dirty="0">
                <a:latin typeface="+mn-ea"/>
              </a:rPr>
              <a:t> install </a:t>
            </a:r>
            <a:r>
              <a:rPr lang="ko-KR" altLang="en-US" dirty="0">
                <a:latin typeface="+mn-ea"/>
              </a:rPr>
              <a:t>검색  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hlinkClick r:id="rId2"/>
              </a:rPr>
              <a:t>Installing </a:t>
            </a:r>
            <a:r>
              <a:rPr lang="en-US" altLang="ko-KR" dirty="0" err="1">
                <a:hlinkClick r:id="rId2"/>
              </a:rPr>
              <a:t>Miniconda</a:t>
            </a:r>
            <a:r>
              <a:rPr lang="en-US" altLang="ko-KR" dirty="0">
                <a:hlinkClick r:id="rId2"/>
              </a:rPr>
              <a:t> - Anaconda</a:t>
            </a:r>
            <a:br>
              <a:rPr lang="en-US" altLang="ko-KR" dirty="0">
                <a:latin typeface="+mn-ea"/>
              </a:rPr>
            </a:br>
            <a:endParaRPr lang="en-US" altLang="ko-KR" dirty="0">
              <a:latin typeface="+mn-ea"/>
            </a:endParaRPr>
          </a:p>
          <a:p>
            <a:pPr marL="342900" indent="-342900">
              <a:lnSpc>
                <a:spcPts val="2500"/>
              </a:lnSpc>
              <a:buAutoNum type="arabicPeriod"/>
            </a:pPr>
            <a:r>
              <a:rPr lang="en-US" altLang="ko-KR" dirty="0">
                <a:latin typeface="+mn-ea"/>
              </a:rPr>
              <a:t>windows installation </a:t>
            </a:r>
            <a:r>
              <a:rPr lang="ko-KR" altLang="en-US" dirty="0">
                <a:latin typeface="+mn-ea"/>
              </a:rPr>
              <a:t>선택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941ED1-CF8A-4439-AB2E-DE7566930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06" y="2185836"/>
            <a:ext cx="7182852" cy="213389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0D57579-E437-4AC6-8D74-DC137A4ECC62}"/>
              </a:ext>
            </a:extLst>
          </p:cNvPr>
          <p:cNvSpPr/>
          <p:nvPr/>
        </p:nvSpPr>
        <p:spPr>
          <a:xfrm>
            <a:off x="903383" y="2787267"/>
            <a:ext cx="1916935" cy="34152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56C34745-A5DD-48DF-BEF9-0874D99A2C68}"/>
              </a:ext>
            </a:extLst>
          </p:cNvPr>
          <p:cNvSpPr/>
          <p:nvPr/>
        </p:nvSpPr>
        <p:spPr>
          <a:xfrm>
            <a:off x="2313542" y="2622014"/>
            <a:ext cx="319489" cy="1652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95F6478-B2F3-4479-924D-A86B70DF9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732" y="1976816"/>
            <a:ext cx="4163006" cy="1962424"/>
          </a:xfrm>
          <a:prstGeom prst="rect">
            <a:avLst/>
          </a:prstGeom>
          <a:ln w="28575">
            <a:solidFill>
              <a:schemeClr val="accent1">
                <a:shade val="50000"/>
              </a:schemeClr>
            </a:solidFill>
          </a:ln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5740667-4E35-4676-9890-841EC4C2D924}"/>
              </a:ext>
            </a:extLst>
          </p:cNvPr>
          <p:cNvCxnSpPr/>
          <p:nvPr/>
        </p:nvCxnSpPr>
        <p:spPr>
          <a:xfrm>
            <a:off x="2820318" y="2958028"/>
            <a:ext cx="3128790" cy="0"/>
          </a:xfrm>
          <a:prstGeom prst="straightConnector1">
            <a:avLst/>
          </a:prstGeom>
          <a:ln w="254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0A15CABA-104D-407D-9887-6E2C7ED039CA}"/>
              </a:ext>
            </a:extLst>
          </p:cNvPr>
          <p:cNvSpPr/>
          <p:nvPr/>
        </p:nvSpPr>
        <p:spPr>
          <a:xfrm>
            <a:off x="8259444" y="3216925"/>
            <a:ext cx="631168" cy="217433"/>
          </a:xfrm>
          <a:prstGeom prst="downArrow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512487-2BA8-41FE-86A3-FDEA5356BDA4}"/>
              </a:ext>
            </a:extLst>
          </p:cNvPr>
          <p:cNvSpPr txBox="1"/>
          <p:nvPr/>
        </p:nvSpPr>
        <p:spPr>
          <a:xfrm>
            <a:off x="372434" y="4530552"/>
            <a:ext cx="10666208" cy="383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3. download </a:t>
            </a:r>
            <a:r>
              <a:rPr lang="ko-KR" altLang="en-US" dirty="0">
                <a:latin typeface="+mn-ea"/>
              </a:rPr>
              <a:t>페이지 제일 하단에 </a:t>
            </a:r>
            <a:r>
              <a:rPr lang="en-US" altLang="ko-KR" dirty="0" err="1">
                <a:latin typeface="+mn-ea"/>
              </a:rPr>
              <a:t>miniconda</a:t>
            </a:r>
            <a:r>
              <a:rPr lang="en-US" altLang="ko-KR" dirty="0">
                <a:latin typeface="+mn-ea"/>
              </a:rPr>
              <a:t> installer </a:t>
            </a:r>
            <a:r>
              <a:rPr lang="ko-KR" altLang="en-US" dirty="0">
                <a:latin typeface="+mn-ea"/>
              </a:rPr>
              <a:t>클릭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67A32DF-649B-425C-9CD7-1E1ACB6B9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06" y="5075140"/>
            <a:ext cx="6646804" cy="143122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DFBD9590-4A76-4B2E-ADC9-A17F56A361B1}"/>
              </a:ext>
            </a:extLst>
          </p:cNvPr>
          <p:cNvSpPr/>
          <p:nvPr/>
        </p:nvSpPr>
        <p:spPr>
          <a:xfrm>
            <a:off x="3573424" y="5908367"/>
            <a:ext cx="631168" cy="217433"/>
          </a:xfrm>
          <a:prstGeom prst="downArrow">
            <a:avLst/>
          </a:prstGeom>
          <a:solidFill>
            <a:srgbClr val="FFC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827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Conda</a:t>
            </a:r>
            <a:r>
              <a:rPr lang="ko-KR" altLang="en-US" sz="2000" b="1" dirty="0"/>
              <a:t> 명령</a:t>
            </a:r>
          </a:p>
        </p:txBody>
      </p:sp>
      <p:graphicFrame>
        <p:nvGraphicFramePr>
          <p:cNvPr id="14" name="표 4">
            <a:extLst>
              <a:ext uri="{FF2B5EF4-FFF2-40B4-BE49-F238E27FC236}">
                <a16:creationId xmlns:a16="http://schemas.microsoft.com/office/drawing/2014/main" id="{ED8BD91C-55BD-4029-878C-F6A5C3A89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461110"/>
              </p:ext>
            </p:extLst>
          </p:nvPr>
        </p:nvGraphicFramePr>
        <p:xfrm>
          <a:off x="449905" y="760568"/>
          <a:ext cx="10726027" cy="55254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650904">
                  <a:extLst>
                    <a:ext uri="{9D8B030D-6E8A-4147-A177-3AD203B41FA5}">
                      <a16:colId xmlns:a16="http://schemas.microsoft.com/office/drawing/2014/main" val="1949829391"/>
                    </a:ext>
                  </a:extLst>
                </a:gridCol>
                <a:gridCol w="2455101">
                  <a:extLst>
                    <a:ext uri="{9D8B030D-6E8A-4147-A177-3AD203B41FA5}">
                      <a16:colId xmlns:a16="http://schemas.microsoft.com/office/drawing/2014/main" val="1782897615"/>
                    </a:ext>
                  </a:extLst>
                </a:gridCol>
                <a:gridCol w="3620022">
                  <a:extLst>
                    <a:ext uri="{9D8B030D-6E8A-4147-A177-3AD203B41FA5}">
                      <a16:colId xmlns:a16="http://schemas.microsoft.com/office/drawing/2014/main" val="2065192971"/>
                    </a:ext>
                  </a:extLst>
                </a:gridCol>
              </a:tblGrid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명령어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용 도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0943637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Conda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--version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Conda </a:t>
                      </a:r>
                      <a:r>
                        <a:rPr lang="ko-KR" altLang="en-US" sz="1400" dirty="0"/>
                        <a:t>버전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conda</a:t>
                      </a:r>
                      <a:r>
                        <a:rPr lang="ko-KR" altLang="en-US" sz="1400" dirty="0"/>
                        <a:t>가 정상 설치되었는지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154577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/>
                        <a:t>conda</a:t>
                      </a:r>
                      <a:r>
                        <a:rPr lang="en-US" altLang="ko-KR" sz="1600" b="1" dirty="0"/>
                        <a:t> env list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환경 목록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모든 가상환경 목록 보기</a:t>
                      </a:r>
                      <a:r>
                        <a:rPr lang="en-US" altLang="ko-KR" sz="1400" dirty="0"/>
                        <a:t>(python </a:t>
                      </a:r>
                      <a:r>
                        <a:rPr lang="ko-KR" altLang="en-US" sz="1400" dirty="0"/>
                        <a:t>버전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796606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/>
                        <a:t>conda</a:t>
                      </a:r>
                      <a:r>
                        <a:rPr lang="en-US" altLang="ko-KR" sz="1400" b="1" dirty="0"/>
                        <a:t> create -n [</a:t>
                      </a:r>
                      <a:r>
                        <a:rPr lang="ko-KR" altLang="en-US" sz="1400" b="1" dirty="0"/>
                        <a:t>환경이름</a:t>
                      </a:r>
                      <a:r>
                        <a:rPr lang="en-US" altLang="ko-KR" sz="1400" b="1" dirty="0"/>
                        <a:t>] python=[</a:t>
                      </a:r>
                      <a:r>
                        <a:rPr lang="ko-KR" altLang="en-US" sz="1400" b="1" dirty="0"/>
                        <a:t>버전</a:t>
                      </a:r>
                      <a:r>
                        <a:rPr lang="en-US" altLang="ko-KR" sz="1400" b="1" dirty="0"/>
                        <a:t>]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환경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create -n py38 python=3.8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515597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activate [</a:t>
                      </a:r>
                      <a:r>
                        <a:rPr lang="ko-KR" altLang="en-US" sz="1400" dirty="0"/>
                        <a:t>환경이름</a:t>
                      </a:r>
                      <a:r>
                        <a:rPr lang="en-US" altLang="ko-KR" sz="1400" dirty="0"/>
                        <a:t>]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환경 활성화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예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activate py38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238599"/>
                  </a:ext>
                </a:extLst>
              </a:tr>
              <a:tr h="457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deactivate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환경 비활성화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현재 활성화된 환경 끄기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353977"/>
                  </a:ext>
                </a:extLst>
              </a:tr>
              <a:tr h="6390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install 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 </a:t>
                      </a:r>
                      <a:r>
                        <a:rPr lang="ko-KR" altLang="en-US" sz="1400" dirty="0"/>
                        <a:t>또는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Pip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install</a:t>
                      </a:r>
                      <a:r>
                        <a:rPr lang="ko-KR" altLang="en-US" sz="1400" dirty="0"/>
                        <a:t>  </a:t>
                      </a:r>
                      <a:r>
                        <a:rPr lang="en-US" altLang="ko-KR" sz="1400" dirty="0"/>
                        <a:t>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패키지 설치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예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install </a:t>
                      </a:r>
                      <a:r>
                        <a:rPr lang="en-US" altLang="ko-KR" sz="1400" dirty="0" err="1"/>
                        <a:t>numpy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081489"/>
                  </a:ext>
                </a:extLst>
              </a:tr>
              <a:tr h="6390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remove 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 </a:t>
                      </a:r>
                      <a:r>
                        <a:rPr lang="ko-KR" altLang="en-US" sz="1400" dirty="0"/>
                        <a:t>또는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pip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uninstall</a:t>
                      </a:r>
                      <a:r>
                        <a:rPr lang="ko-KR" altLang="en-US" sz="1400" dirty="0"/>
                        <a:t>  </a:t>
                      </a:r>
                      <a:r>
                        <a:rPr lang="en-US" altLang="ko-KR" sz="1400" dirty="0"/>
                        <a:t>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패키지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예</a:t>
                      </a:r>
                      <a:r>
                        <a:rPr lang="en-US" altLang="ko-KR" sz="1400" dirty="0"/>
                        <a:t>: Conda remove </a:t>
                      </a:r>
                      <a:r>
                        <a:rPr lang="en-US" altLang="ko-KR" sz="1400" dirty="0" err="1"/>
                        <a:t>numpy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360871"/>
                  </a:ext>
                </a:extLst>
              </a:tr>
              <a:tr h="37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list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패키지 목록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현재 환경에 설치된 패키지 보기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572271"/>
                  </a:ext>
                </a:extLst>
              </a:tr>
              <a:tr h="37588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remove -n [</a:t>
                      </a:r>
                      <a:r>
                        <a:rPr lang="ko-KR" altLang="en-US" sz="1400" dirty="0"/>
                        <a:t>환경이름</a:t>
                      </a:r>
                      <a:r>
                        <a:rPr lang="en-US" altLang="ko-KR" sz="1400" dirty="0"/>
                        <a:t>] --all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환경 삭제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예</a:t>
                      </a:r>
                      <a:r>
                        <a:rPr lang="en-US" altLang="ko-KR" sz="1400" dirty="0"/>
                        <a:t>: </a:t>
                      </a:r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remove -n py38 --all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989389"/>
                  </a:ext>
                </a:extLst>
              </a:tr>
              <a:tr h="37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search [</a:t>
                      </a:r>
                      <a:r>
                        <a:rPr lang="ko-KR" altLang="en-US" sz="1400" dirty="0"/>
                        <a:t>패키지명</a:t>
                      </a:r>
                      <a:r>
                        <a:rPr lang="en-US" altLang="ko-KR" sz="1400" dirty="0"/>
                        <a:t>]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패키지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설치 가능한 패키지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425717"/>
                  </a:ext>
                </a:extLst>
              </a:tr>
              <a:tr h="3758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update </a:t>
                      </a:r>
                      <a:r>
                        <a:rPr lang="en-US" altLang="ko-KR" sz="1400" dirty="0" err="1"/>
                        <a:t>conda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Conda </a:t>
                      </a:r>
                      <a:r>
                        <a:rPr lang="ko-KR" altLang="en-US" sz="1400" dirty="0"/>
                        <a:t>업데이트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 err="1"/>
                        <a:t>conda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자체 최신 버전으로 업데이트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102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27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Conda</a:t>
            </a:r>
            <a:r>
              <a:rPr lang="ko-KR" altLang="en-US" sz="2000" b="1" dirty="0"/>
              <a:t>   </a:t>
            </a:r>
            <a:r>
              <a:rPr lang="en-US" altLang="ko-KR" sz="2000" b="1" dirty="0"/>
              <a:t>TOS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82C79-73D1-4E95-8064-22171B9B0487}"/>
              </a:ext>
            </a:extLst>
          </p:cNvPr>
          <p:cNvSpPr txBox="1"/>
          <p:nvPr/>
        </p:nvSpPr>
        <p:spPr>
          <a:xfrm>
            <a:off x="231228" y="925360"/>
            <a:ext cx="10005848" cy="4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3A0DFB"/>
                </a:solidFill>
              </a:rPr>
              <a:t>Anaconda Terms of Service </a:t>
            </a:r>
            <a:r>
              <a:rPr lang="ko-KR" altLang="en-US" dirty="0">
                <a:solidFill>
                  <a:srgbClr val="3A0DFB"/>
                </a:solidFill>
              </a:rPr>
              <a:t>수락 </a:t>
            </a:r>
            <a:r>
              <a:rPr lang="en-US" altLang="ko-KR" dirty="0">
                <a:solidFill>
                  <a:srgbClr val="3A0DFB"/>
                </a:solidFill>
              </a:rPr>
              <a:t>( </a:t>
            </a:r>
            <a:r>
              <a:rPr lang="ko-KR" altLang="en-US" dirty="0">
                <a:solidFill>
                  <a:srgbClr val="3A0DFB"/>
                </a:solidFill>
              </a:rPr>
              <a:t>아래 </a:t>
            </a:r>
            <a:r>
              <a:rPr lang="en-US" altLang="ko-KR" dirty="0">
                <a:solidFill>
                  <a:srgbClr val="3A0DFB"/>
                </a:solidFill>
              </a:rPr>
              <a:t>3</a:t>
            </a:r>
            <a:r>
              <a:rPr lang="ko-KR" altLang="en-US" dirty="0">
                <a:solidFill>
                  <a:srgbClr val="3A0DFB"/>
                </a:solidFill>
              </a:rPr>
              <a:t>줄</a:t>
            </a:r>
            <a:r>
              <a:rPr lang="en-US" altLang="ko-KR" dirty="0">
                <a:solidFill>
                  <a:srgbClr val="3A0DFB"/>
                </a:solidFill>
              </a:rPr>
              <a:t>, </a:t>
            </a:r>
            <a:r>
              <a:rPr lang="en-US" altLang="ko-KR" dirty="0" err="1">
                <a:solidFill>
                  <a:srgbClr val="3A0DFB"/>
                </a:solidFill>
              </a:rPr>
              <a:t>cmd</a:t>
            </a:r>
            <a:r>
              <a:rPr lang="ko-KR" altLang="en-US" dirty="0">
                <a:solidFill>
                  <a:srgbClr val="3A0DFB"/>
                </a:solidFill>
              </a:rPr>
              <a:t>에 입력</a:t>
            </a:r>
            <a:r>
              <a:rPr lang="en-US" altLang="ko-KR" dirty="0">
                <a:solidFill>
                  <a:srgbClr val="3A0DFB"/>
                </a:solidFill>
              </a:rPr>
              <a:t>)</a:t>
            </a:r>
            <a:endParaRPr lang="en-US" altLang="ko-KR" dirty="0"/>
          </a:p>
          <a:p>
            <a:pPr indent="179388">
              <a:lnSpc>
                <a:spcPts val="2500"/>
              </a:lnSpc>
            </a:pPr>
            <a:r>
              <a:rPr lang="ko-KR" altLang="en-US" dirty="0" err="1"/>
              <a:t>conda</a:t>
            </a:r>
            <a:r>
              <a:rPr lang="ko-KR" altLang="en-US" dirty="0"/>
              <a:t> </a:t>
            </a:r>
            <a:r>
              <a:rPr lang="ko-KR" altLang="en-US" dirty="0" err="1"/>
              <a:t>tos</a:t>
            </a:r>
            <a:r>
              <a:rPr lang="ko-KR" altLang="en-US" dirty="0"/>
              <a:t> </a:t>
            </a:r>
            <a:r>
              <a:rPr lang="ko-KR" altLang="en-US" dirty="0" err="1"/>
              <a:t>accept</a:t>
            </a:r>
            <a:r>
              <a:rPr lang="ko-KR" altLang="en-US" dirty="0"/>
              <a:t> --</a:t>
            </a:r>
            <a:r>
              <a:rPr lang="ko-KR" altLang="en-US" dirty="0" err="1"/>
              <a:t>override-channels</a:t>
            </a:r>
            <a:r>
              <a:rPr lang="ko-KR" altLang="en-US" dirty="0"/>
              <a:t> --</a:t>
            </a:r>
            <a:r>
              <a:rPr lang="ko-KR" altLang="en-US" dirty="0" err="1"/>
              <a:t>channel</a:t>
            </a:r>
            <a:r>
              <a:rPr lang="ko-KR" altLang="en-US" dirty="0"/>
              <a:t> https://repo.anaconda.com/pkgs/main</a:t>
            </a:r>
          </a:p>
          <a:p>
            <a:pPr indent="179388">
              <a:lnSpc>
                <a:spcPts val="2500"/>
              </a:lnSpc>
            </a:pPr>
            <a:r>
              <a:rPr lang="ko-KR" altLang="en-US" dirty="0" err="1"/>
              <a:t>conda</a:t>
            </a:r>
            <a:r>
              <a:rPr lang="ko-KR" altLang="en-US" dirty="0"/>
              <a:t> </a:t>
            </a:r>
            <a:r>
              <a:rPr lang="ko-KR" altLang="en-US" dirty="0" err="1"/>
              <a:t>tos</a:t>
            </a:r>
            <a:r>
              <a:rPr lang="ko-KR" altLang="en-US" dirty="0"/>
              <a:t> </a:t>
            </a:r>
            <a:r>
              <a:rPr lang="ko-KR" altLang="en-US" dirty="0" err="1"/>
              <a:t>accept</a:t>
            </a:r>
            <a:r>
              <a:rPr lang="ko-KR" altLang="en-US" dirty="0"/>
              <a:t> --</a:t>
            </a:r>
            <a:r>
              <a:rPr lang="ko-KR" altLang="en-US" dirty="0" err="1"/>
              <a:t>override-channels</a:t>
            </a:r>
            <a:r>
              <a:rPr lang="ko-KR" altLang="en-US" dirty="0"/>
              <a:t> --</a:t>
            </a:r>
            <a:r>
              <a:rPr lang="ko-KR" altLang="en-US" dirty="0" err="1"/>
              <a:t>channel</a:t>
            </a:r>
            <a:r>
              <a:rPr lang="ko-KR" altLang="en-US" dirty="0"/>
              <a:t> https://repo.anaconda.com/pkgs/r</a:t>
            </a:r>
          </a:p>
          <a:p>
            <a:pPr indent="179388">
              <a:lnSpc>
                <a:spcPts val="2500"/>
              </a:lnSpc>
            </a:pPr>
            <a:r>
              <a:rPr lang="ko-KR" altLang="en-US" dirty="0" err="1"/>
              <a:t>conda</a:t>
            </a:r>
            <a:r>
              <a:rPr lang="ko-KR" altLang="en-US" dirty="0"/>
              <a:t> </a:t>
            </a:r>
            <a:r>
              <a:rPr lang="ko-KR" altLang="en-US" dirty="0" err="1"/>
              <a:t>tos</a:t>
            </a:r>
            <a:r>
              <a:rPr lang="ko-KR" altLang="en-US" dirty="0"/>
              <a:t> </a:t>
            </a:r>
            <a:r>
              <a:rPr lang="ko-KR" altLang="en-US" dirty="0" err="1"/>
              <a:t>accept</a:t>
            </a:r>
            <a:r>
              <a:rPr lang="ko-KR" altLang="en-US" dirty="0"/>
              <a:t> --</a:t>
            </a:r>
            <a:r>
              <a:rPr lang="ko-KR" altLang="en-US" dirty="0" err="1"/>
              <a:t>override-channels</a:t>
            </a:r>
            <a:r>
              <a:rPr lang="ko-KR" altLang="en-US" dirty="0"/>
              <a:t> --</a:t>
            </a:r>
            <a:r>
              <a:rPr lang="ko-KR" altLang="en-US" dirty="0" err="1"/>
              <a:t>channel</a:t>
            </a:r>
            <a:r>
              <a:rPr lang="ko-KR" altLang="en-US" dirty="0"/>
              <a:t> </a:t>
            </a:r>
            <a:r>
              <a:rPr lang="ko-KR" altLang="en-US" dirty="0">
                <a:hlinkClick r:id="rId2"/>
              </a:rPr>
              <a:t>https://repo.anaconda.com/pkgs/msys2</a:t>
            </a: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r>
              <a:rPr lang="en-US" altLang="ko-KR" dirty="0" err="1"/>
              <a:t>conda</a:t>
            </a:r>
            <a:r>
              <a:rPr lang="en-US" altLang="ko-KR" dirty="0"/>
              <a:t> create –n pi39 python=3.9 –y</a:t>
            </a:r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r>
              <a:rPr lang="en-US" altLang="ko-KR" dirty="0" err="1"/>
              <a:t>conda</a:t>
            </a:r>
            <a:r>
              <a:rPr lang="en-US" altLang="ko-KR" dirty="0"/>
              <a:t> env list</a:t>
            </a:r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endParaRPr lang="en-US" altLang="ko-KR" dirty="0"/>
          </a:p>
          <a:p>
            <a:pPr indent="179388">
              <a:lnSpc>
                <a:spcPts val="2500"/>
              </a:lnSpc>
            </a:pPr>
            <a:r>
              <a:rPr lang="en-US" altLang="ko-KR" dirty="0" err="1"/>
              <a:t>conda</a:t>
            </a:r>
            <a:r>
              <a:rPr lang="en-US" altLang="ko-KR" dirty="0"/>
              <a:t> activate pi39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B8F2E5-9118-497E-9B64-540344DF1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41" y="3584397"/>
            <a:ext cx="6209955" cy="13869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E2547F-7F74-42C5-B3FB-4009CDBAF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41" y="5476286"/>
            <a:ext cx="4141040" cy="76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D2F-AA13-9BDA-3FDB-A97EEF6A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F985D8-A7E6-E06C-597A-5AE530C64613}"/>
              </a:ext>
            </a:extLst>
          </p:cNvPr>
          <p:cNvSpPr/>
          <p:nvPr/>
        </p:nvSpPr>
        <p:spPr>
          <a:xfrm>
            <a:off x="0" y="0"/>
            <a:ext cx="4594034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Conda</a:t>
            </a:r>
            <a:r>
              <a:rPr lang="ko-KR" altLang="en-US" sz="2000" b="1" dirty="0"/>
              <a:t>   환경에서 </a:t>
            </a:r>
            <a:r>
              <a:rPr lang="en-US" altLang="ko-KR" sz="2000" b="1" dirty="0"/>
              <a:t>VS Code </a:t>
            </a:r>
            <a:r>
              <a:rPr lang="ko-KR" altLang="en-US" sz="2000" b="1" dirty="0"/>
              <a:t>실행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1EF76-F762-47B0-B6B5-78783B57D144}"/>
              </a:ext>
            </a:extLst>
          </p:cNvPr>
          <p:cNvSpPr txBox="1"/>
          <p:nvPr/>
        </p:nvSpPr>
        <p:spPr>
          <a:xfrm>
            <a:off x="311285" y="836579"/>
            <a:ext cx="55187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conda</a:t>
            </a:r>
            <a:r>
              <a:rPr lang="ko-KR" altLang="en-US" dirty="0"/>
              <a:t> 환경에 </a:t>
            </a:r>
            <a:r>
              <a:rPr lang="en-US" altLang="ko-KR" dirty="0" err="1"/>
              <a:t>ipykernel</a:t>
            </a:r>
            <a:r>
              <a:rPr lang="en-US" altLang="ko-KR" dirty="0"/>
              <a:t> </a:t>
            </a:r>
            <a:r>
              <a:rPr lang="ko-KR" altLang="en-US" dirty="0"/>
              <a:t>설치 </a:t>
            </a:r>
            <a:r>
              <a:rPr lang="en-US" altLang="ko-KR" dirty="0"/>
              <a:t>( VS CODE </a:t>
            </a:r>
            <a:r>
              <a:rPr lang="ko-KR" altLang="en-US" dirty="0"/>
              <a:t>연동형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 err="1"/>
              <a:t>conda</a:t>
            </a:r>
            <a:r>
              <a:rPr lang="ko-KR" altLang="en-US" dirty="0"/>
              <a:t> </a:t>
            </a:r>
            <a:r>
              <a:rPr lang="en-US" altLang="ko-KR" dirty="0"/>
              <a:t>install</a:t>
            </a:r>
            <a:r>
              <a:rPr lang="ko-KR" altLang="en-US" dirty="0"/>
              <a:t> </a:t>
            </a:r>
            <a:r>
              <a:rPr lang="en-US" altLang="ko-KR" dirty="0" err="1"/>
              <a:t>ipykernel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conda</a:t>
            </a:r>
            <a:r>
              <a:rPr lang="en-US" altLang="ko-KR" dirty="0"/>
              <a:t> </a:t>
            </a:r>
            <a:r>
              <a:rPr lang="ko-KR" altLang="en-US" dirty="0"/>
              <a:t> 활성화된 상태에서 </a:t>
            </a:r>
            <a:r>
              <a:rPr lang="en-US" altLang="ko-KR" dirty="0"/>
              <a:t>VS CODE </a:t>
            </a:r>
            <a:r>
              <a:rPr lang="ko-KR" altLang="en-US" dirty="0"/>
              <a:t>실행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code 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905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97A31-D527-73FD-04E0-D93BACB5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4A8830-6750-D893-B306-5C5A9D1E26BF}"/>
              </a:ext>
            </a:extLst>
          </p:cNvPr>
          <p:cNvSpPr/>
          <p:nvPr/>
        </p:nvSpPr>
        <p:spPr>
          <a:xfrm>
            <a:off x="0" y="1659"/>
            <a:ext cx="12192000" cy="22324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en-US" altLang="ko-KR" sz="4800" b="1" dirty="0">
                <a:solidFill>
                  <a:schemeClr val="tx1"/>
                </a:solidFill>
                <a:latin typeface="+mn-ea"/>
              </a:rPr>
              <a:t>3 color LED Control</a:t>
            </a:r>
          </a:p>
          <a:p>
            <a:pPr marL="179387" algn="ctr"/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with Micro Controller</a:t>
            </a:r>
          </a:p>
          <a:p>
            <a:pPr marL="179387" algn="ctr"/>
            <a:r>
              <a:rPr lang="en-US" altLang="ko-KR" sz="2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Arduino, ESP32, Cortex</a:t>
            </a:r>
            <a:endParaRPr lang="ko-KR" altLang="en-US" sz="2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ACFA5-FCC4-4F00-A891-C751648991B3}"/>
              </a:ext>
            </a:extLst>
          </p:cNvPr>
          <p:cNvSpPr txBox="1"/>
          <p:nvPr/>
        </p:nvSpPr>
        <p:spPr>
          <a:xfrm>
            <a:off x="932688" y="3063240"/>
            <a:ext cx="2308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GUI : PyQt designer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code : VS 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780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3</a:t>
            </a:r>
            <a:r>
              <a:rPr lang="ko-KR" altLang="en-US" sz="2000" b="1" dirty="0">
                <a:solidFill>
                  <a:schemeClr val="tx1"/>
                </a:solidFill>
              </a:rPr>
              <a:t>색 </a:t>
            </a:r>
            <a:r>
              <a:rPr lang="en-US" altLang="ko-KR" sz="2000" b="1" dirty="0">
                <a:solidFill>
                  <a:schemeClr val="tx1"/>
                </a:solidFill>
              </a:rPr>
              <a:t>LED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하드웨어 연결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911504-36CD-109B-CBE9-B22180570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4" y="1569995"/>
            <a:ext cx="4542066" cy="214172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2FAAD17-2179-CB85-B433-652B4D477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85233" y="1247585"/>
            <a:ext cx="1571844" cy="2505425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35459E5-C51B-B2F3-3469-3113B1476BBE}"/>
              </a:ext>
            </a:extLst>
          </p:cNvPr>
          <p:cNvCxnSpPr>
            <a:cxnSpLocks/>
          </p:cNvCxnSpPr>
          <p:nvPr/>
        </p:nvCxnSpPr>
        <p:spPr>
          <a:xfrm flipV="1">
            <a:off x="5021965" y="2926080"/>
            <a:ext cx="3217260" cy="659911"/>
          </a:xfrm>
          <a:prstGeom prst="line">
            <a:avLst/>
          </a:prstGeom>
          <a:ln w="539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E4E9D0-824E-41F7-E060-CDBBD4113FAA}"/>
              </a:ext>
            </a:extLst>
          </p:cNvPr>
          <p:cNvCxnSpPr>
            <a:cxnSpLocks/>
          </p:cNvCxnSpPr>
          <p:nvPr/>
        </p:nvCxnSpPr>
        <p:spPr>
          <a:xfrm flipV="1">
            <a:off x="5284270" y="2640855"/>
            <a:ext cx="2834172" cy="645365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CF4A486-CC2A-0A98-7FCD-3B24FB9AF1CB}"/>
              </a:ext>
            </a:extLst>
          </p:cNvPr>
          <p:cNvCxnSpPr>
            <a:cxnSpLocks/>
          </p:cNvCxnSpPr>
          <p:nvPr/>
        </p:nvCxnSpPr>
        <p:spPr>
          <a:xfrm>
            <a:off x="5284270" y="2375666"/>
            <a:ext cx="2954955" cy="0"/>
          </a:xfrm>
          <a:prstGeom prst="line">
            <a:avLst/>
          </a:prstGeom>
          <a:ln w="508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7B16204-EE1C-244A-64FE-2A4BCDF99871}"/>
              </a:ext>
            </a:extLst>
          </p:cNvPr>
          <p:cNvCxnSpPr>
            <a:cxnSpLocks/>
          </p:cNvCxnSpPr>
          <p:nvPr/>
        </p:nvCxnSpPr>
        <p:spPr>
          <a:xfrm>
            <a:off x="5284270" y="2075895"/>
            <a:ext cx="2834172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684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4935-00A3-ECCA-C91E-615A6509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DE1D5F9-DC7D-2E53-008E-238CDA4B5AD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통신 프로토콜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1A76A-60C5-4B84-1933-4D0CD930CC62}"/>
              </a:ext>
            </a:extLst>
          </p:cNvPr>
          <p:cNvSpPr txBox="1"/>
          <p:nvPr/>
        </p:nvSpPr>
        <p:spPr>
          <a:xfrm>
            <a:off x="360751" y="1073668"/>
            <a:ext cx="962350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400" b="1" dirty="0"/>
              <a:t>| SOF(0xAA) | LEN | </a:t>
            </a:r>
            <a:r>
              <a:rPr lang="en-US" altLang="ko-KR" sz="2400" b="1" dirty="0"/>
              <a:t>LED No.</a:t>
            </a:r>
            <a:r>
              <a:rPr lang="ko-KR" altLang="en-US" sz="2400" b="1" dirty="0"/>
              <a:t> | </a:t>
            </a:r>
            <a:r>
              <a:rPr lang="en-US" altLang="ko-KR" sz="2400" b="1" dirty="0"/>
              <a:t>Value</a:t>
            </a:r>
            <a:r>
              <a:rPr lang="ko-KR" altLang="en-US" sz="2400" b="1" dirty="0"/>
              <a:t> | CRC16(LSB) | CRC16(MSB) |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A1A24A-AEAC-493F-9965-5844EC14F564}"/>
              </a:ext>
            </a:extLst>
          </p:cNvPr>
          <p:cNvSpPr txBox="1"/>
          <p:nvPr/>
        </p:nvSpPr>
        <p:spPr>
          <a:xfrm>
            <a:off x="471962" y="1809395"/>
            <a:ext cx="8439665" cy="34512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SOF=0xAA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LEN= CMD+PAYLOAD </a:t>
            </a:r>
            <a:r>
              <a:rPr lang="ko-KR" altLang="en-US" dirty="0">
                <a:latin typeface="+mn-ea"/>
              </a:rPr>
              <a:t>길이 </a:t>
            </a:r>
            <a:r>
              <a:rPr lang="en-US" altLang="ko-KR" dirty="0">
                <a:latin typeface="+mn-ea"/>
              </a:rPr>
              <a:t>(CRC </a:t>
            </a:r>
            <a:r>
              <a:rPr lang="ko-KR" altLang="en-US" dirty="0">
                <a:latin typeface="+mn-ea"/>
              </a:rPr>
              <a:t>미포함</a:t>
            </a:r>
            <a:r>
              <a:rPr lang="en-US" altLang="ko-KR" dirty="0">
                <a:latin typeface="+mn-ea"/>
              </a:rPr>
              <a:t>)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LED No.:</a:t>
            </a:r>
          </a:p>
          <a:p>
            <a:pPr marL="0" lvl="1">
              <a:lnSpc>
                <a:spcPts val="2400"/>
              </a:lnSpc>
            </a:pPr>
            <a:r>
              <a:rPr lang="en-US" altLang="ko-KR" dirty="0">
                <a:latin typeface="+mn-ea"/>
              </a:rPr>
              <a:t>  - 0x01: Red,  0x02 : Green, 0x03 : Blue, 0x0F: All</a:t>
            </a:r>
          </a:p>
          <a:p>
            <a:pPr marL="2857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Value : 0~0x64 (0=off)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CRC16-IBM</a:t>
            </a:r>
            <a:r>
              <a:rPr lang="en-US" altLang="ko-KR" dirty="0">
                <a:latin typeface="+mn-ea"/>
              </a:rPr>
              <a:t>(poly 0xA001, </a:t>
            </a:r>
            <a:r>
              <a:rPr lang="en-US" altLang="ko-KR" dirty="0" err="1">
                <a:latin typeface="+mn-ea"/>
              </a:rPr>
              <a:t>init</a:t>
            </a:r>
            <a:r>
              <a:rPr lang="en-US" altLang="ko-KR" dirty="0">
                <a:latin typeface="+mn-ea"/>
              </a:rPr>
              <a:t> 0xFFFF, little-endian)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indent="185738">
              <a:lnSpc>
                <a:spcPts val="2400"/>
              </a:lnSpc>
              <a:buNone/>
            </a:pPr>
            <a:r>
              <a:rPr lang="ko-KR" altLang="en-US" b="1" dirty="0">
                <a:latin typeface="+mn-ea"/>
              </a:rPr>
              <a:t>예시</a:t>
            </a:r>
            <a:endParaRPr lang="ko-KR" altLang="en-US" dirty="0">
              <a:latin typeface="+mn-ea"/>
            </a:endParaRP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R=ON(100%):</a:t>
            </a:r>
          </a:p>
          <a:p>
            <a:pPr marL="0" lvl="1">
              <a:lnSpc>
                <a:spcPts val="2400"/>
              </a:lnSpc>
            </a:pPr>
            <a:r>
              <a:rPr lang="en-US" altLang="ko-KR" dirty="0">
                <a:latin typeface="+mn-ea"/>
              </a:rPr>
              <a:t>  - TX: AA 02  01 64 &lt;CRC&gt; → </a:t>
            </a:r>
            <a:r>
              <a:rPr lang="ko-KR" altLang="en-US" dirty="0">
                <a:latin typeface="+mn-ea"/>
              </a:rPr>
              <a:t>전체 바이트 기준 </a:t>
            </a:r>
            <a:r>
              <a:rPr lang="en-US" altLang="ko-KR" dirty="0">
                <a:latin typeface="+mn-ea"/>
              </a:rPr>
              <a:t>CRC16 </a:t>
            </a:r>
            <a:r>
              <a:rPr lang="ko-KR" altLang="en-US" dirty="0">
                <a:latin typeface="+mn-ea"/>
              </a:rPr>
              <a:t>계산</a:t>
            </a:r>
          </a:p>
          <a:p>
            <a:pPr marL="0" lvl="1">
              <a:lnSpc>
                <a:spcPts val="2400"/>
              </a:lnSpc>
            </a:pPr>
            <a:r>
              <a:rPr lang="en-US" altLang="ko-KR" dirty="0">
                <a:latin typeface="+mn-ea"/>
              </a:rPr>
              <a:t>  - RX: AA 03  64 00 00 &lt;CRC&gt; (</a:t>
            </a:r>
            <a:r>
              <a:rPr lang="ko-KR" altLang="en-US" dirty="0">
                <a:latin typeface="+mn-ea"/>
              </a:rPr>
              <a:t>응답</a:t>
            </a:r>
            <a:r>
              <a:rPr lang="en-US" altLang="ko-KR" dirty="0">
                <a:latin typeface="+mn-ea"/>
              </a:rPr>
              <a:t>: OK, </a:t>
            </a:r>
            <a:r>
              <a:rPr lang="ko-KR" altLang="en-US" dirty="0">
                <a:latin typeface="+mn-ea"/>
              </a:rPr>
              <a:t>현재 </a:t>
            </a:r>
            <a:r>
              <a:rPr lang="en-US" altLang="ko-KR" dirty="0">
                <a:latin typeface="+mn-ea"/>
              </a:rPr>
              <a:t>RGB=100%, 0, 0 </a:t>
            </a:r>
            <a:r>
              <a:rPr lang="ko-KR" altLang="en-US" dirty="0">
                <a:latin typeface="+mn-ea"/>
              </a:rPr>
              <a:t>예시</a:t>
            </a:r>
            <a:r>
              <a:rPr lang="en-US" altLang="ko-KR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3715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4935-00A3-ECCA-C91E-615A6509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DE1D5F9-DC7D-2E53-008E-238CDA4B5AD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ESP32 Code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678967-871F-49CE-A25F-F266EEE3F63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Arduino  (1/5)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5C329-981A-4D14-A09A-D688FECC77DE}"/>
              </a:ext>
            </a:extLst>
          </p:cNvPr>
          <p:cNvSpPr txBox="1"/>
          <p:nvPr/>
        </p:nvSpPr>
        <p:spPr>
          <a:xfrm>
            <a:off x="0" y="631596"/>
            <a:ext cx="12061371" cy="60016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ESP32 RGB LED Binary Protocol Controller (Arduino core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x)</a:t>
            </a:r>
          </a:p>
          <a:p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Frame (TX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ESP32):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SOF(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LEN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LED No.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Value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CRC16(LSB)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CRC16(MSB)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Frame (ESP32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RX):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CRC16(LSB)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CRC16(MSB)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CRC16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IBM (poly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A001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computed over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SOF..payload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(CRC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제외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Arduino.h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#include &lt;esp32-hal-ledc.h&gt;   // core 3.x: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ledcAttach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pin,freq,res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ledcWrite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pin,duty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======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핀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설정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======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const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PIN_R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const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PIN_G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const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PIN_B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const uint32_t 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LEDC_FREQ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kHz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const uint8_t  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LEDC_RES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 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bit 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공통 </a:t>
            </a:r>
            <a:r>
              <a:rPr lang="ko-KR" alt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애노드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면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로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듀티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반전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const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COMMON_ANODE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false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내부 상태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uint8_t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======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CRC16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IBM (Modbus)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======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uint16_t crc16_ibm(const uint8_t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data,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uint16_t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 data[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j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j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j)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A001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859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4935-00A3-ECCA-C91E-615A6509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DE1D5F9-DC7D-2E53-008E-238CDA4B5AD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ESP32 Code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678967-871F-49CE-A25F-F266EEE3F63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Arduino  (2/5)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5C329-981A-4D14-A09A-D688FECC77DE}"/>
              </a:ext>
            </a:extLst>
          </p:cNvPr>
          <p:cNvSpPr txBox="1"/>
          <p:nvPr/>
        </p:nvSpPr>
        <p:spPr>
          <a:xfrm>
            <a:off x="0" y="631596"/>
            <a:ext cx="10527030" cy="544764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듀티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반올림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공통애노드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반전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inline uint8_t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percentToDuty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(uint8_t p)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(p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p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uint16_t duty = (uint16_t)p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rounding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duty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(COMMON_ANODE) duty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duty;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(uint8_t)duty;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applyChannels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PIN_R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percentToDuty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PIN_G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percentToDuty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PIN_B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percentToDuty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상태 응답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AA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CRC(LSB)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CRC(MSB)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sendStatus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uint8_t frame[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SOF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LEN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payload(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frame[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frame[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frame[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frame[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frame[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uint16_t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crc16_ibm(frame,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((uint8_t)(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     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LSB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((uint8_t)((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MSB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9283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4935-00A3-ECCA-C91E-615A6509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DE1D5F9-DC7D-2E53-008E-238CDA4B5AD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ESP32 Code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678967-871F-49CE-A25F-F266EEE3F63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Arduino  (3/5)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5C329-981A-4D14-A09A-D688FECC77DE}"/>
              </a:ext>
            </a:extLst>
          </p:cNvPr>
          <p:cNvSpPr txBox="1"/>
          <p:nvPr/>
        </p:nvSpPr>
        <p:spPr>
          <a:xfrm>
            <a:off x="0" y="631596"/>
            <a:ext cx="10527030" cy="61863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======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수신 파서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======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WAIT_SOF, WAIT_LEN, WAIT_PAYLOAD, WAIT_CRC_L, WAIT_CRC_H };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WAIT_SOF;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uint8_t  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uint8_t  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uint8_t  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uint16_t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resetRx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WAIT_SOF;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handleFrame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(const uint8_t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payload, uint8_t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        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payload = [LED No.][Value]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sendStatus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uint8_t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payload[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uint8_t value = payload[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(value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value =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clamp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switch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case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value;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case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value;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case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value;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case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value;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default: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알 수 없는 채널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무시 </a:t>
            </a:r>
            <a:r>
              <a:rPr lang="ko-KR" alt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applyChannels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sendStatus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949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4935-00A3-ECCA-C91E-615A6509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DE1D5F9-DC7D-2E53-008E-238CDA4B5AD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ESP32 Code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678967-871F-49CE-A25F-F266EEE3F63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Arduino  (4/5)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5C329-981A-4D14-A09A-D688FECC77DE}"/>
              </a:ext>
            </a:extLst>
          </p:cNvPr>
          <p:cNvSpPr txBox="1"/>
          <p:nvPr/>
        </p:nvSpPr>
        <p:spPr>
          <a:xfrm>
            <a:off x="0" y="631596"/>
            <a:ext cx="10527030" cy="61863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static void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processSerial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Serial.available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uint8_t b = (uint8_t)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Serial.read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switch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case WAIT_SOF: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(b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= b;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= WAIT_LEN;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case WAIT_LEN: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= b;  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payload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길이</a:t>
            </a: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= b;  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LEN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저장</a:t>
            </a: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=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payload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채우기 시작</a:t>
            </a: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resetRx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    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과도한 길이 → 폐기</a:t>
            </a: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WAIT_PAYLOAD;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case WAIT_PAYLOAD: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= b;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WAIT_CRC_L;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case WAIT_CRC_L: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b;              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LSB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WAIT_CRC_H;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 </a:t>
            </a:r>
          </a:p>
        </p:txBody>
      </p:sp>
    </p:spTree>
    <p:extLst>
      <p:ext uri="{BB962C8B-B14F-4D97-AF65-F5344CB8AC3E}">
        <p14:creationId xmlns:p14="http://schemas.microsoft.com/office/powerpoint/2010/main" val="292767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4935-00A3-ECCA-C91E-615A6509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DE1D5F9-DC7D-2E53-008E-238CDA4B5AD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ESP32 Code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678967-871F-49CE-A25F-F266EEE3F63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Arduino  (5/5)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5C329-981A-4D14-A09A-D688FECC77DE}"/>
              </a:ext>
            </a:extLst>
          </p:cNvPr>
          <p:cNvSpPr txBox="1"/>
          <p:nvPr/>
        </p:nvSpPr>
        <p:spPr>
          <a:xfrm>
            <a:off x="0" y="631596"/>
            <a:ext cx="10527030" cy="61863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case WAIT_CRC_H: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 (uint16_t)b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MSB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CRC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검증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SOF..payload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uint16_t calc = crc16_ibm(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(calc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handleFrame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resetRx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void setup()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Serial.begin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core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x: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핀 단위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초기화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채널 개념 없이 자동 할당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ledcAttach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(PIN_R, LEDC_FREQ, LEDC_RES);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ledcAttach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(PIN_G, LEDC_FREQ, LEDC_RES);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ledcAttach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(PIN_B, LEDC_FREQ, LEDC_RES);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공통 </a:t>
            </a:r>
            <a:r>
              <a:rPr lang="ko-KR" alt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애노드면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역상</a:t>
            </a: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(COMMON_ANODE)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ledcOutputInvert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(PIN_R, true);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ledcOutputInvert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(PIN_G, true);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ledcOutputInvert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(PIN_B, true);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applyChannels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sendStatus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부팅 알림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옵션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void loop()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processSerial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9605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D4935-00A3-ECCA-C91E-615A6509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DE1D5F9-DC7D-2E53-008E-238CDA4B5AD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ESP32 Code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678967-871F-49CE-A25F-F266EEE3F635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Firmware Test (</a:t>
            </a:r>
            <a:r>
              <a:rPr lang="en-US" altLang="ko-KR" sz="2000" b="1" dirty="0" err="1">
                <a:solidFill>
                  <a:schemeClr val="tx1"/>
                </a:solidFill>
              </a:rPr>
              <a:t>serialportmon</a:t>
            </a:r>
            <a:r>
              <a:rPr lang="en-US" altLang="ko-KR" sz="2000" b="1" dirty="0">
                <a:solidFill>
                  <a:schemeClr val="tx1"/>
                </a:solidFill>
              </a:rPr>
              <a:t>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36185A-CFB4-45AD-BFC8-60EA3AF43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12" y="830732"/>
            <a:ext cx="4029637" cy="4201111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FEA0282-060C-4ACC-A1B4-14C7A7EC2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011" y="830732"/>
            <a:ext cx="6401693" cy="20195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054A01-8C41-4E8E-8B1E-29C5F9CA9860}"/>
              </a:ext>
            </a:extLst>
          </p:cNvPr>
          <p:cNvSpPr txBox="1"/>
          <p:nvPr/>
        </p:nvSpPr>
        <p:spPr>
          <a:xfrm>
            <a:off x="6061276" y="1346566"/>
            <a:ext cx="1885853" cy="1540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1400" dirty="0">
                <a:solidFill>
                  <a:srgbClr val="0000FF"/>
                </a:solidFill>
              </a:rPr>
              <a:t>AA 02 01 64 80 47</a:t>
            </a:r>
            <a:endParaRPr lang="en-US" altLang="ko-KR" sz="1400" dirty="0">
              <a:solidFill>
                <a:srgbClr val="0000FF"/>
              </a:solidFill>
            </a:endParaRPr>
          </a:p>
          <a:p>
            <a:pPr>
              <a:lnSpc>
                <a:spcPts val="2300"/>
              </a:lnSpc>
            </a:pPr>
            <a:r>
              <a:rPr lang="fi-FI" altLang="ko-KR" sz="1400" dirty="0">
                <a:solidFill>
                  <a:srgbClr val="0000FF"/>
                </a:solidFill>
              </a:rPr>
              <a:t>AA 02 01 00 81 AC</a:t>
            </a:r>
          </a:p>
          <a:p>
            <a:pPr>
              <a:lnSpc>
                <a:spcPts val="2300"/>
              </a:lnSpc>
            </a:pPr>
            <a:r>
              <a:rPr lang="fi-FI" altLang="ko-KR" sz="1400" dirty="0">
                <a:solidFill>
                  <a:srgbClr val="0000FF"/>
                </a:solidFill>
              </a:rPr>
              <a:t>AA 02 02 64 80 B7</a:t>
            </a:r>
          </a:p>
          <a:p>
            <a:pPr>
              <a:lnSpc>
                <a:spcPts val="2300"/>
              </a:lnSpc>
            </a:pPr>
            <a:r>
              <a:rPr lang="fi-FI" altLang="ko-KR" sz="1400" dirty="0">
                <a:solidFill>
                  <a:srgbClr val="0000FF"/>
                </a:solidFill>
              </a:rPr>
              <a:t>AA 02 03 64 81 27</a:t>
            </a:r>
          </a:p>
          <a:p>
            <a:pPr>
              <a:lnSpc>
                <a:spcPts val="2300"/>
              </a:lnSpc>
            </a:pPr>
            <a:r>
              <a:rPr lang="fi-FI" altLang="ko-KR" sz="1400" dirty="0">
                <a:solidFill>
                  <a:srgbClr val="0000FF"/>
                </a:solidFill>
              </a:rPr>
              <a:t>AA 02 0F 00 85 CC</a:t>
            </a:r>
            <a:endParaRPr lang="ko-KR" altLang="en-US" sz="1400" dirty="0">
              <a:solidFill>
                <a:srgbClr val="0000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1E9F3-5A0B-4557-8244-C1F5428BB69F}"/>
              </a:ext>
            </a:extLst>
          </p:cNvPr>
          <p:cNvSpPr txBox="1"/>
          <p:nvPr/>
        </p:nvSpPr>
        <p:spPr>
          <a:xfrm>
            <a:off x="7623857" y="1349836"/>
            <a:ext cx="793807" cy="1540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ko-KR" sz="1400" b="1" dirty="0">
                <a:solidFill>
                  <a:srgbClr val="C00000"/>
                </a:solidFill>
              </a:rPr>
              <a:t>R=100%</a:t>
            </a:r>
          </a:p>
          <a:p>
            <a:pPr>
              <a:lnSpc>
                <a:spcPts val="2300"/>
              </a:lnSpc>
            </a:pPr>
            <a:r>
              <a:rPr lang="en-US" altLang="ko-KR" sz="1400" b="1" dirty="0">
                <a:solidFill>
                  <a:srgbClr val="C00000"/>
                </a:solidFill>
              </a:rPr>
              <a:t>R=0%</a:t>
            </a:r>
          </a:p>
          <a:p>
            <a:pPr>
              <a:lnSpc>
                <a:spcPts val="2300"/>
              </a:lnSpc>
            </a:pPr>
            <a:r>
              <a:rPr lang="en-US" altLang="ko-KR" sz="1400" b="1" dirty="0">
                <a:solidFill>
                  <a:srgbClr val="C00000"/>
                </a:solidFill>
              </a:rPr>
              <a:t>G=100%</a:t>
            </a:r>
          </a:p>
          <a:p>
            <a:pPr>
              <a:lnSpc>
                <a:spcPts val="2300"/>
              </a:lnSpc>
            </a:pPr>
            <a:r>
              <a:rPr lang="en-US" altLang="ko-KR" sz="1400" b="1" dirty="0">
                <a:solidFill>
                  <a:srgbClr val="C00000"/>
                </a:solidFill>
              </a:rPr>
              <a:t>B=100%</a:t>
            </a:r>
            <a:br>
              <a:rPr lang="en-US" altLang="ko-KR" sz="1400" b="1" dirty="0">
                <a:solidFill>
                  <a:srgbClr val="C00000"/>
                </a:solidFill>
              </a:rPr>
            </a:br>
            <a:r>
              <a:rPr lang="en-US" altLang="ko-KR" sz="1400" b="1" dirty="0">
                <a:solidFill>
                  <a:srgbClr val="C00000"/>
                </a:solidFill>
              </a:rPr>
              <a:t>All = 0%</a:t>
            </a:r>
            <a:endParaRPr lang="ko-KR" altLang="en-US" sz="1400" b="1" dirty="0">
              <a:solidFill>
                <a:srgbClr val="C00000"/>
              </a:solidFill>
            </a:endParaRP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DF9D9F4E-EAE6-4D9C-85E8-B90DA6904C4D}"/>
              </a:ext>
            </a:extLst>
          </p:cNvPr>
          <p:cNvSpPr/>
          <p:nvPr/>
        </p:nvSpPr>
        <p:spPr>
          <a:xfrm>
            <a:off x="10486663" y="1169043"/>
            <a:ext cx="219919" cy="2662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CFF2CD-9D45-4AFA-A8BF-A01476C17F33}"/>
              </a:ext>
            </a:extLst>
          </p:cNvPr>
          <p:cNvSpPr txBox="1"/>
          <p:nvPr/>
        </p:nvSpPr>
        <p:spPr>
          <a:xfrm>
            <a:off x="4305782" y="3212259"/>
            <a:ext cx="711637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GUI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프로그램을 개발하기 전 </a:t>
            </a:r>
            <a:r>
              <a:rPr lang="en-US" altLang="ko-KR" sz="1400" dirty="0">
                <a:latin typeface="+mn-ea"/>
              </a:rPr>
              <a:t>Firmware </a:t>
            </a:r>
            <a:r>
              <a:rPr lang="ko-KR" altLang="en-US" sz="1400" dirty="0">
                <a:latin typeface="+mn-ea"/>
              </a:rPr>
              <a:t>통신 프로토콜이 정상적으로 적용되었는지</a:t>
            </a:r>
            <a:r>
              <a:rPr lang="en-US" altLang="ko-KR" sz="1400" dirty="0">
                <a:latin typeface="+mn-ea"/>
              </a:rPr>
              <a:t>, </a:t>
            </a:r>
            <a:br>
              <a:rPr lang="en-US" altLang="ko-KR" sz="1400" dirty="0">
                <a:latin typeface="+mn-ea"/>
              </a:rPr>
            </a:br>
            <a:r>
              <a:rPr lang="ko-KR" altLang="en-US" sz="1400" dirty="0">
                <a:latin typeface="+mn-ea"/>
              </a:rPr>
              <a:t>확인해볼 필요가 있다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전체 시스템이 정상 동작하지 않을 때</a:t>
            </a:r>
            <a:r>
              <a:rPr lang="en-US" altLang="ko-KR" sz="1400" dirty="0"/>
              <a:t>, </a:t>
            </a:r>
            <a:r>
              <a:rPr lang="ko-KR" altLang="en-US" sz="1400" dirty="0"/>
              <a:t>하드웨어 문제인지 소프트웨어 문제인지 </a:t>
            </a:r>
            <a:br>
              <a:rPr lang="en-US" altLang="ko-KR" sz="1400" dirty="0"/>
            </a:br>
            <a:r>
              <a:rPr lang="ko-KR" altLang="en-US" sz="1400" dirty="0"/>
              <a:t>판단할 수 있다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83025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38BB-AEB0-CE43-C8CF-63FA284F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43723D-F71A-C875-4537-13D7802357E8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Qt Designer </a:t>
            </a:r>
            <a:r>
              <a:rPr lang="ko-KR" altLang="en-US" sz="2000" b="1" dirty="0">
                <a:solidFill>
                  <a:schemeClr val="tx1"/>
                </a:solidFill>
              </a:rPr>
              <a:t>실행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1B0910-7FD8-DBF0-F013-5EAA13B87892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GUI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6CCD8A-5C98-43F2-AF99-D7F8CCC33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59" y="849451"/>
            <a:ext cx="8556054" cy="549644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1692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designer  led3cGUI.ui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GUI </a:t>
            </a:r>
            <a:endParaRPr lang="ko-KR" alt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40F51-1CB0-28CC-8C02-94F7B4D22B75}"/>
              </a:ext>
            </a:extLst>
          </p:cNvPr>
          <p:cNvSpPr txBox="1"/>
          <p:nvPr/>
        </p:nvSpPr>
        <p:spPr>
          <a:xfrm>
            <a:off x="5058700" y="968705"/>
            <a:ext cx="1744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chemeClr val="accent2">
                    <a:lumMod val="75000"/>
                  </a:schemeClr>
                </a:solidFill>
              </a:rPr>
              <a:t>objectName</a:t>
            </a:r>
            <a:endParaRPr lang="ko-KR" alt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78971-E3CB-68B5-04B7-C8DDC5378E78}"/>
              </a:ext>
            </a:extLst>
          </p:cNvPr>
          <p:cNvSpPr txBox="1"/>
          <p:nvPr/>
        </p:nvSpPr>
        <p:spPr>
          <a:xfrm>
            <a:off x="1131392" y="4165421"/>
            <a:ext cx="5020926" cy="144937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led3cGUI.ui   </a:t>
            </a:r>
            <a:r>
              <a:rPr lang="ko-KR" altLang="en-US" b="1" dirty="0">
                <a:latin typeface="+mn-ea"/>
              </a:rPr>
              <a:t>로 저장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.</a:t>
            </a:r>
            <a:r>
              <a:rPr lang="en-US" altLang="ko-KR" b="1" dirty="0" err="1">
                <a:latin typeface="+mn-ea"/>
              </a:rPr>
              <a:t>ui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 .</a:t>
            </a:r>
            <a:r>
              <a:rPr lang="en-US" altLang="ko-KR" b="1" dirty="0" err="1">
                <a:latin typeface="+mn-ea"/>
                <a:sym typeface="Wingdings" panose="05000000000000000000" pitchFamily="2" charset="2"/>
              </a:rPr>
              <a:t>py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b="1" dirty="0">
                <a:latin typeface="+mn-ea"/>
                <a:sym typeface="Wingdings" panose="05000000000000000000" pitchFamily="2" charset="2"/>
              </a:rPr>
              <a:t>변환</a:t>
            </a:r>
            <a:endParaRPr lang="en-US" altLang="ko-KR" b="1" dirty="0">
              <a:latin typeface="+mn-ea"/>
            </a:endParaRPr>
          </a:p>
          <a:p>
            <a:pPr>
              <a:lnSpc>
                <a:spcPts val="3700"/>
              </a:lnSpc>
            </a:pPr>
            <a:r>
              <a:rPr lang="en-US" altLang="ko-KR" b="1" dirty="0">
                <a:latin typeface="+mn-ea"/>
              </a:rPr>
              <a:t>   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  </a:t>
            </a:r>
            <a:r>
              <a:rPr lang="en-US" altLang="ko-KR" b="1" dirty="0">
                <a:latin typeface="+mn-ea"/>
              </a:rPr>
              <a:t>pyuic5 –x led3cGUI.ui –o led3cGUI.py</a:t>
            </a:r>
            <a:endParaRPr lang="ko-KR" altLang="en-US" b="1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3C6470-43A2-4B0F-883B-3AE43390E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92" y="968705"/>
            <a:ext cx="3077004" cy="30293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64B20C-60B2-4966-8A04-FF8AEB84DD90}"/>
              </a:ext>
            </a:extLst>
          </p:cNvPr>
          <p:cNvSpPr txBox="1"/>
          <p:nvPr/>
        </p:nvSpPr>
        <p:spPr>
          <a:xfrm>
            <a:off x="4488224" y="1523626"/>
            <a:ext cx="2314864" cy="2360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2000" dirty="0">
                <a:solidFill>
                  <a:srgbClr val="0000FF"/>
                </a:solidFill>
                <a:latin typeface="+mn-ea"/>
              </a:rPr>
              <a:t>btnRed</a:t>
            </a:r>
          </a:p>
          <a:p>
            <a:pPr>
              <a:lnSpc>
                <a:spcPts val="4600"/>
              </a:lnSpc>
            </a:pPr>
            <a:r>
              <a:rPr lang="en-US" altLang="ko-KR" sz="2000" dirty="0" err="1">
                <a:solidFill>
                  <a:srgbClr val="0000FF"/>
                </a:solidFill>
                <a:latin typeface="+mn-ea"/>
              </a:rPr>
              <a:t>btnGreen</a:t>
            </a:r>
            <a:endParaRPr lang="en-US" altLang="ko-KR" sz="200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4600"/>
              </a:lnSpc>
            </a:pPr>
            <a:r>
              <a:rPr lang="en-US" altLang="ko-KR" sz="2000" dirty="0" err="1">
                <a:solidFill>
                  <a:srgbClr val="0000FF"/>
                </a:solidFill>
                <a:latin typeface="+mn-ea"/>
              </a:rPr>
              <a:t>btnBlue</a:t>
            </a:r>
            <a:endParaRPr lang="en-US" altLang="ko-KR" sz="200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4600"/>
              </a:lnSpc>
            </a:pPr>
            <a:r>
              <a:rPr lang="en-US" altLang="ko-KR" sz="2000" dirty="0" err="1">
                <a:solidFill>
                  <a:srgbClr val="0000FF"/>
                </a:solidFill>
                <a:latin typeface="+mn-ea"/>
              </a:rPr>
              <a:t>btnAllon</a:t>
            </a:r>
            <a:r>
              <a:rPr lang="en-US" altLang="ko-KR" sz="2000" dirty="0">
                <a:solidFill>
                  <a:srgbClr val="0000FF"/>
                </a:solidFill>
                <a:latin typeface="+mn-ea"/>
              </a:rPr>
              <a:t>, </a:t>
            </a:r>
            <a:r>
              <a:rPr lang="en-US" altLang="ko-KR" sz="2000" dirty="0" err="1">
                <a:solidFill>
                  <a:srgbClr val="0000FF"/>
                </a:solidFill>
                <a:latin typeface="+mn-ea"/>
              </a:rPr>
              <a:t>btnAlloff</a:t>
            </a:r>
            <a:endParaRPr lang="ko-KR" altLang="en-US" sz="20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331CB0-026D-46C0-9126-4E4DDDD05D11}"/>
              </a:ext>
            </a:extLst>
          </p:cNvPr>
          <p:cNvSpPr txBox="1"/>
          <p:nvPr/>
        </p:nvSpPr>
        <p:spPr>
          <a:xfrm>
            <a:off x="1131392" y="5914663"/>
            <a:ext cx="465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code</a:t>
            </a:r>
            <a:r>
              <a:rPr lang="ko-KR" altLang="en-US" dirty="0"/>
              <a:t>에서 버튼 누르면 색이 변하도록 적용</a:t>
            </a:r>
          </a:p>
        </p:txBody>
      </p:sp>
    </p:spTree>
    <p:extLst>
      <p:ext uri="{BB962C8B-B14F-4D97-AF65-F5344CB8AC3E}">
        <p14:creationId xmlns:p14="http://schemas.microsoft.com/office/powerpoint/2010/main" val="2969818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VS Code  led3cRun.py  (1/5)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실행 </a:t>
            </a:r>
            <a:r>
              <a:rPr lang="en-US" altLang="ko-KR" sz="2000" b="1" dirty="0"/>
              <a:t>code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E29FF-B35A-4CE7-9A05-5222EBA20A2E}"/>
              </a:ext>
            </a:extLst>
          </p:cNvPr>
          <p:cNvSpPr txBox="1"/>
          <p:nvPr/>
        </p:nvSpPr>
        <p:spPr>
          <a:xfrm>
            <a:off x="0" y="631596"/>
            <a:ext cx="8871995" cy="58169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led3cRun.py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ESP32 RGB LED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컨트롤용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PyQt GUI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실행 스크립트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- led3cGUI.py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Ui_Dialog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사용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버튼 클릭 시 버튼 배경색을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RED/GREEN/BLUE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로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토글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- ON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상태일 때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ESP32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로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Value = 0x64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전송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- OFF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상태일 때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Value = 0x00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전송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PyQt5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led3cGUI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Ui_Dialog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AA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LED No + Value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02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03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"""CRC16-IBM (poly 0xA001, 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0xFFFF)"""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A001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265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VS Code  led3cRun.py  (2/5)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실행 </a:t>
            </a:r>
            <a:r>
              <a:rPr lang="en-US" altLang="ko-KR" sz="2000" b="1" dirty="0"/>
              <a:t>code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E29FF-B35A-4CE7-9A05-5222EBA20A2E}"/>
              </a:ext>
            </a:extLst>
          </p:cNvPr>
          <p:cNvSpPr txBox="1"/>
          <p:nvPr/>
        </p:nvSpPr>
        <p:spPr>
          <a:xfrm>
            <a:off x="0" y="631596"/>
            <a:ext cx="8871995" cy="52629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LedDialog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QtWidgets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"COM3"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baudrate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UI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세팅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Ui_Dialog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버튼 상태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(True=ON, False=OFF)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green_on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blue_on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시리얼 포트 열기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baudrate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timeout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SerialException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QtWidgets.QMessageBox.critical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"Serial Error"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포트를 열 수 없습니다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시그널 연결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btnRed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toggle_red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RED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btnGreen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toggle_green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GREEN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btnBlue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toggle_blue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BLUE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btnAllon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all_on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All ON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btnAlloff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all_off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All OFF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682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VS Code  led3cRun.py  (3/5)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실행 </a:t>
            </a:r>
            <a:r>
              <a:rPr lang="en-US" altLang="ko-KR" sz="2000" b="1" dirty="0"/>
              <a:t>code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E29FF-B35A-4CE7-9A05-5222EBA20A2E}"/>
              </a:ext>
            </a:extLst>
          </p:cNvPr>
          <p:cNvSpPr txBox="1"/>
          <p:nvPr/>
        </p:nvSpPr>
        <p:spPr>
          <a:xfrm>
            <a:off x="0" y="631596"/>
            <a:ext cx="8871995" cy="618630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시리얼 송신 관련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----------</a:t>
            </a:r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led_no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프로토콜에 맞게 한 프레임 전송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is_open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header_and_payload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led_no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header_and_payload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header_and_payload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버튼 색상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상태 업데이트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----------</a:t>
            </a:r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color_name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버튼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ON/OFF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에 따라 배경색 변경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클릭 시 버튼 배경을 해당 색으로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.setStyleSheet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"background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-color: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color_name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; color: white; font-weight: bold;"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원래 스타일로 복원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.setStyleSheet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개별 버튼 클릭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핸들러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toggle_red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red_on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btnRed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1978164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VS Code  led3cRun.py  (4/5)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실행 </a:t>
            </a:r>
            <a:r>
              <a:rPr lang="en-US" altLang="ko-KR" sz="2000" b="1" dirty="0"/>
              <a:t>code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E29FF-B35A-4CE7-9A05-5222EBA20A2E}"/>
              </a:ext>
            </a:extLst>
          </p:cNvPr>
          <p:cNvSpPr txBox="1"/>
          <p:nvPr/>
        </p:nvSpPr>
        <p:spPr>
          <a:xfrm>
            <a:off x="0" y="631596"/>
            <a:ext cx="8871995" cy="63709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toggle_green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green_on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green_on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green_on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"green"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green_on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toggle_blue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blue_on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blue_on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blue_on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blue_on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 ALL ON / ALL OFF ----------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all_on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green_on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blue_on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"green"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btnBlue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all_off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green_on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blue_on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btnRed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"green"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set_button_style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btnBlue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3197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VS Code  led3cRun.py  (5/5)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실행 </a:t>
            </a:r>
            <a:r>
              <a:rPr lang="en-US" altLang="ko-KR" sz="2000" b="1" dirty="0"/>
              <a:t>code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E29FF-B35A-4CE7-9A05-5222EBA20A2E}"/>
              </a:ext>
            </a:extLst>
          </p:cNvPr>
          <p:cNvSpPr txBox="1"/>
          <p:nvPr/>
        </p:nvSpPr>
        <p:spPr>
          <a:xfrm>
            <a:off x="0" y="631596"/>
            <a:ext cx="8871995" cy="37856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창 닫힐 때 시리얼 정리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is_open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closeEvent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"COM3"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QtWidgets.QApplication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LedDialog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dlg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.exec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_())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697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동 작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실행 </a:t>
            </a:r>
            <a:r>
              <a:rPr lang="en-US" altLang="ko-KR" sz="2000" b="1" dirty="0"/>
              <a:t>code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20690D-8C54-4DFF-9491-9C329E6C3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868" y="1323584"/>
            <a:ext cx="5201376" cy="388674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59323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Designer  led3cPWMGUI.ui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PWM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Dimming </a:t>
            </a:r>
            <a:r>
              <a:rPr lang="ko-KR" altLang="en-US" sz="2000" b="1" dirty="0"/>
              <a:t>제어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8922499-7B10-4638-8E9A-83EC2C9B8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41" y="1198731"/>
            <a:ext cx="5144218" cy="30484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CC4FE6-02DB-450B-ADE9-97B9C2D83D1A}"/>
              </a:ext>
            </a:extLst>
          </p:cNvPr>
          <p:cNvSpPr txBox="1"/>
          <p:nvPr/>
        </p:nvSpPr>
        <p:spPr>
          <a:xfrm>
            <a:off x="6096000" y="1852833"/>
            <a:ext cx="2240100" cy="2173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200"/>
              </a:lnSpc>
            </a:pPr>
            <a:r>
              <a:rPr lang="en-US" altLang="ko-KR" dirty="0"/>
              <a:t>sliderRed,  </a:t>
            </a:r>
            <a:r>
              <a:rPr lang="en-US" altLang="ko-KR" dirty="0" err="1"/>
              <a:t>lblRed</a:t>
            </a:r>
            <a:endParaRPr lang="en-US" altLang="ko-KR" dirty="0"/>
          </a:p>
          <a:p>
            <a:pPr>
              <a:lnSpc>
                <a:spcPts val="4200"/>
              </a:lnSpc>
            </a:pPr>
            <a:r>
              <a:rPr lang="en-US" altLang="ko-KR" dirty="0" err="1"/>
              <a:t>sliderGreen</a:t>
            </a:r>
            <a:r>
              <a:rPr lang="en-US" altLang="ko-KR" dirty="0"/>
              <a:t>,  </a:t>
            </a:r>
            <a:r>
              <a:rPr lang="en-US" altLang="ko-KR" dirty="0" err="1"/>
              <a:t>lblGreen</a:t>
            </a:r>
            <a:endParaRPr lang="ko-KR" altLang="en-US" dirty="0"/>
          </a:p>
          <a:p>
            <a:pPr>
              <a:lnSpc>
                <a:spcPts val="4200"/>
              </a:lnSpc>
            </a:pPr>
            <a:r>
              <a:rPr lang="en-US" altLang="ko-KR" dirty="0" err="1"/>
              <a:t>sliderBlue</a:t>
            </a:r>
            <a:r>
              <a:rPr lang="en-US" altLang="ko-KR" dirty="0"/>
              <a:t>,  </a:t>
            </a:r>
            <a:r>
              <a:rPr lang="en-US" altLang="ko-KR" dirty="0" err="1"/>
              <a:t>lblBlue</a:t>
            </a:r>
            <a:endParaRPr lang="ko-KR" altLang="en-US" dirty="0"/>
          </a:p>
          <a:p>
            <a:pPr>
              <a:lnSpc>
                <a:spcPts val="4200"/>
              </a:lnSpc>
            </a:pPr>
            <a:r>
              <a:rPr lang="en-US" altLang="ko-KR" dirty="0" err="1"/>
              <a:t>btnSend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F06E0B-0F22-4E24-ACBB-8A57448D6CA8}"/>
              </a:ext>
            </a:extLst>
          </p:cNvPr>
          <p:cNvSpPr txBox="1"/>
          <p:nvPr/>
        </p:nvSpPr>
        <p:spPr>
          <a:xfrm>
            <a:off x="6250329" y="1539433"/>
            <a:ext cx="1390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Frame+Label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112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Designer  led3cPWMGUI.ui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PWM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Dimming </a:t>
            </a:r>
            <a:r>
              <a:rPr lang="ko-KR" altLang="en-US" sz="2000" b="1" dirty="0"/>
              <a:t>제어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B4AAC0-C6DE-4DBB-B2ED-A18BA389E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873425"/>
            <a:ext cx="11564964" cy="57824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3DA2A3B-40B6-4992-A98E-04968A28E2E6}"/>
              </a:ext>
            </a:extLst>
          </p:cNvPr>
          <p:cNvSpPr/>
          <p:nvPr/>
        </p:nvSpPr>
        <p:spPr>
          <a:xfrm>
            <a:off x="2349661" y="1192192"/>
            <a:ext cx="405114" cy="4398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675EE60C-9EF7-41E5-81CD-A9CFFD12AE49}"/>
              </a:ext>
            </a:extLst>
          </p:cNvPr>
          <p:cNvSpPr/>
          <p:nvPr/>
        </p:nvSpPr>
        <p:spPr>
          <a:xfrm>
            <a:off x="2442258" y="873425"/>
            <a:ext cx="312517" cy="3187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EC583CC4-7315-4A7B-B4ED-5EEB1F8F905E}"/>
              </a:ext>
            </a:extLst>
          </p:cNvPr>
          <p:cNvSpPr/>
          <p:nvPr/>
        </p:nvSpPr>
        <p:spPr>
          <a:xfrm>
            <a:off x="7421301" y="2345339"/>
            <a:ext cx="312517" cy="3187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7971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VS Code  led3cPWMRun.py  (1/3)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PWM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Dimming </a:t>
            </a:r>
            <a:r>
              <a:rPr lang="ko-KR" altLang="en-US" sz="2000" b="1" dirty="0"/>
              <a:t>제어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42A63-F6ED-45B9-A3BA-DC39526707A8}"/>
              </a:ext>
            </a:extLst>
          </p:cNvPr>
          <p:cNvSpPr txBox="1"/>
          <p:nvPr/>
        </p:nvSpPr>
        <p:spPr>
          <a:xfrm>
            <a:off x="0" y="631596"/>
            <a:ext cx="11111696" cy="58169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led3cPWMRun.py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- led3cPWMGUI.py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Ui_Dialog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사용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- R/G/B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슬라이더 값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(0~100)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을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SEND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버튼 클릭 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  ESP32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로 각각 한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프레임씩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전송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PyQt5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led3cPWMGUI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Ui_Dialog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AA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LED No + Value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두 바이트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ESP32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펌웨어에서 사용하는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번호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(led3cPWM.ino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기준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02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03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"""CRC16-IBM (poly 0xA001, 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0xFFFF)"""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A001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841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VS Code  led3cPWMRun.py  (2/3)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PWM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Dimming </a:t>
            </a:r>
            <a:r>
              <a:rPr lang="ko-KR" altLang="en-US" sz="2000" b="1" dirty="0"/>
              <a:t>제어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42A63-F6ED-45B9-A3BA-DC39526707A8}"/>
              </a:ext>
            </a:extLst>
          </p:cNvPr>
          <p:cNvSpPr txBox="1"/>
          <p:nvPr/>
        </p:nvSpPr>
        <p:spPr>
          <a:xfrm>
            <a:off x="0" y="631596"/>
            <a:ext cx="11111696" cy="60016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LedPwmDialog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QtWidgets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"COM3"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baudrate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UI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세팅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Ui_Dialog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시리얼 포트 열기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baudrate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timeout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SerialException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QtWidgets.QMessageBox.critical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"Serial Error"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시리얼 포트를 열 수 없습니다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SEND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버튼 시그널 연결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btnAllon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on_send_clicked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시리얼 프레임 전송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----------</a:t>
            </a:r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led_no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프로토콜에 맞게 한 프레임 전송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is_open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led_no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header_and_payload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led_no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header_and_payload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header_and_payload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디버깅용으로 보고 싶으면 아래 주석 해제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print("TX:",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frame.hex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(" "))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51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VS Code  led3cPWMRun.py  (3/3)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PWM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Dimming </a:t>
            </a:r>
            <a:r>
              <a:rPr lang="ko-KR" altLang="en-US" sz="2000" b="1" dirty="0"/>
              <a:t>제어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42A63-F6ED-45B9-A3BA-DC39526707A8}"/>
              </a:ext>
            </a:extLst>
          </p:cNvPr>
          <p:cNvSpPr txBox="1"/>
          <p:nvPr/>
        </p:nvSpPr>
        <p:spPr>
          <a:xfrm>
            <a:off x="0" y="631596"/>
            <a:ext cx="11111696" cy="63709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 SEND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버튼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핸들러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on_send_clicked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슬라이더 값 읽기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(0~100)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r_val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sliderRed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g_val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sliderGreen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b_val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sliderBlue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각각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RED / GREEN / BLUE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로 전송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r_val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g_val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b_val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창 닫힐 때 시리얼 닫기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is_open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closeEvent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사용법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python led3cPWMRun.py COM5  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처럼 포트명을 첫 인자로 줄 수 있음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"COM3"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QtWidgets.QApplication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LedPwmDialog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dlg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.exec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_())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13364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실행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PWM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Dimming </a:t>
            </a:r>
            <a:r>
              <a:rPr lang="ko-KR" altLang="en-US" sz="2000" b="1" dirty="0"/>
              <a:t>제어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E30025-42FC-4FB2-9F74-544C179C0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89" y="1304628"/>
            <a:ext cx="7135221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41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97A31-D527-73FD-04E0-D93BACB5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4A8830-6750-D893-B306-5C5A9D1E26BF}"/>
              </a:ext>
            </a:extLst>
          </p:cNvPr>
          <p:cNvSpPr/>
          <p:nvPr/>
        </p:nvSpPr>
        <p:spPr>
          <a:xfrm>
            <a:off x="0" y="1659"/>
            <a:ext cx="12192000" cy="223249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en-US" altLang="ko-KR" sz="4800" b="1" dirty="0">
                <a:solidFill>
                  <a:schemeClr val="tx1"/>
                </a:solidFill>
                <a:latin typeface="+mn-ea"/>
              </a:rPr>
              <a:t>DHT11 Temp/</a:t>
            </a:r>
            <a:r>
              <a:rPr lang="en-US" altLang="ko-KR" sz="4800" b="1" dirty="0" err="1">
                <a:solidFill>
                  <a:schemeClr val="tx1"/>
                </a:solidFill>
                <a:latin typeface="+mn-ea"/>
              </a:rPr>
              <a:t>Humi</a:t>
            </a:r>
            <a:r>
              <a:rPr lang="en-US" altLang="ko-KR" sz="4800" b="1" dirty="0">
                <a:solidFill>
                  <a:schemeClr val="tx1"/>
                </a:solidFill>
                <a:latin typeface="+mn-ea"/>
              </a:rPr>
              <a:t> Sensor I/F</a:t>
            </a:r>
          </a:p>
          <a:p>
            <a:pPr marL="179387" algn="ctr"/>
            <a:r>
              <a:rPr lang="en-US" altLang="ko-KR" sz="2800" b="1" dirty="0">
                <a:solidFill>
                  <a:schemeClr val="tx1"/>
                </a:solidFill>
                <a:latin typeface="+mn-ea"/>
              </a:rPr>
              <a:t>with Micro Controller</a:t>
            </a:r>
          </a:p>
          <a:p>
            <a:pPr marL="179387" algn="ctr"/>
            <a:r>
              <a:rPr lang="en-US" altLang="ko-KR" sz="28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Arduino, ESP32, Cortex</a:t>
            </a:r>
            <a:endParaRPr lang="ko-KR" altLang="en-US" sz="24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ACFA5-FCC4-4F00-A891-C751648991B3}"/>
              </a:ext>
            </a:extLst>
          </p:cNvPr>
          <p:cNvSpPr txBox="1"/>
          <p:nvPr/>
        </p:nvSpPr>
        <p:spPr>
          <a:xfrm>
            <a:off x="932688" y="3063240"/>
            <a:ext cx="2308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GUI : PyQt designer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code : VS 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8415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배선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370598-90B2-4A2B-A0F3-B4F3D820A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64" y="913431"/>
            <a:ext cx="5001323" cy="52394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F83FB2-B2A5-4806-9D4A-6672A94B6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013496" y="576255"/>
            <a:ext cx="1571844" cy="2505425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63FAE6-83D1-4287-BCE1-999E63C23C26}"/>
              </a:ext>
            </a:extLst>
          </p:cNvPr>
          <p:cNvCxnSpPr>
            <a:cxnSpLocks/>
          </p:cNvCxnSpPr>
          <p:nvPr/>
        </p:nvCxnSpPr>
        <p:spPr>
          <a:xfrm>
            <a:off x="5574815" y="1139376"/>
            <a:ext cx="3092673" cy="1115376"/>
          </a:xfrm>
          <a:prstGeom prst="line">
            <a:avLst/>
          </a:prstGeom>
          <a:ln w="539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E654EB0-9B3F-42BD-B225-CD49392E9647}"/>
              </a:ext>
            </a:extLst>
          </p:cNvPr>
          <p:cNvCxnSpPr>
            <a:cxnSpLocks/>
          </p:cNvCxnSpPr>
          <p:nvPr/>
        </p:nvCxnSpPr>
        <p:spPr>
          <a:xfrm flipV="1">
            <a:off x="5795587" y="1969526"/>
            <a:ext cx="2751118" cy="530606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6C2C3AC-A2B6-4BA6-BC55-B091EEBA73C2}"/>
              </a:ext>
            </a:extLst>
          </p:cNvPr>
          <p:cNvCxnSpPr>
            <a:cxnSpLocks/>
          </p:cNvCxnSpPr>
          <p:nvPr/>
        </p:nvCxnSpPr>
        <p:spPr>
          <a:xfrm>
            <a:off x="5712533" y="1704336"/>
            <a:ext cx="2954955" cy="0"/>
          </a:xfrm>
          <a:prstGeom prst="line">
            <a:avLst/>
          </a:prstGeom>
          <a:ln w="508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1EBDD00-79D0-493F-8ACE-113FFDB83852}"/>
              </a:ext>
            </a:extLst>
          </p:cNvPr>
          <p:cNvCxnSpPr>
            <a:cxnSpLocks/>
          </p:cNvCxnSpPr>
          <p:nvPr/>
        </p:nvCxnSpPr>
        <p:spPr>
          <a:xfrm>
            <a:off x="5712533" y="1404565"/>
            <a:ext cx="2834172" cy="0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F10A0F1E-ACAC-445B-B99B-C6847B03E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342299">
            <a:off x="8616886" y="3187434"/>
            <a:ext cx="2044294" cy="2026671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47AFF75-2F04-4790-AEF5-B520BAA912EB}"/>
              </a:ext>
            </a:extLst>
          </p:cNvPr>
          <p:cNvCxnSpPr>
            <a:cxnSpLocks/>
          </p:cNvCxnSpPr>
          <p:nvPr/>
        </p:nvCxnSpPr>
        <p:spPr>
          <a:xfrm flipV="1">
            <a:off x="5754060" y="3841452"/>
            <a:ext cx="2913428" cy="530606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2E7B69A-342B-4F7F-AD27-C84BEB2B3A24}"/>
              </a:ext>
            </a:extLst>
          </p:cNvPr>
          <p:cNvCxnSpPr>
            <a:cxnSpLocks/>
          </p:cNvCxnSpPr>
          <p:nvPr/>
        </p:nvCxnSpPr>
        <p:spPr>
          <a:xfrm>
            <a:off x="1362382" y="1140277"/>
            <a:ext cx="7305106" cy="2864564"/>
          </a:xfrm>
          <a:prstGeom prst="line">
            <a:avLst/>
          </a:prstGeom>
          <a:ln w="508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323EFFA-9F8A-4D5B-8292-181CF725869B}"/>
              </a:ext>
            </a:extLst>
          </p:cNvPr>
          <p:cNvCxnSpPr>
            <a:cxnSpLocks/>
          </p:cNvCxnSpPr>
          <p:nvPr/>
        </p:nvCxnSpPr>
        <p:spPr>
          <a:xfrm>
            <a:off x="5574815" y="2760432"/>
            <a:ext cx="3151135" cy="1440338"/>
          </a:xfrm>
          <a:prstGeom prst="line">
            <a:avLst/>
          </a:prstGeom>
          <a:ln w="539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6ED1C07-E15B-4D8D-A2D1-70D719BCCBEB}"/>
              </a:ext>
            </a:extLst>
          </p:cNvPr>
          <p:cNvSpPr txBox="1"/>
          <p:nvPr/>
        </p:nvSpPr>
        <p:spPr>
          <a:xfrm>
            <a:off x="8827818" y="4930814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SIG = GPIO4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96777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통신 프로토콜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09E27-F4EF-4538-AFF5-A09C5290ADAD}"/>
              </a:ext>
            </a:extLst>
          </p:cNvPr>
          <p:cNvSpPr txBox="1"/>
          <p:nvPr/>
        </p:nvSpPr>
        <p:spPr>
          <a:xfrm>
            <a:off x="248855" y="979382"/>
            <a:ext cx="9416005" cy="128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ko-KR" altLang="en-US" sz="2400" b="1" dirty="0"/>
              <a:t>ESP32 → RX (DHT11 온습도, 3초마다 자동 전송)</a:t>
            </a:r>
            <a:endParaRPr lang="en-US" altLang="ko-KR" sz="2400" b="1" dirty="0"/>
          </a:p>
          <a:p>
            <a:pPr>
              <a:lnSpc>
                <a:spcPts val="3200"/>
              </a:lnSpc>
            </a:pPr>
            <a:endParaRPr lang="ko-KR" altLang="en-US" sz="2400" b="1" dirty="0"/>
          </a:p>
          <a:p>
            <a:pPr>
              <a:lnSpc>
                <a:spcPts val="3200"/>
              </a:lnSpc>
            </a:pPr>
            <a:r>
              <a:rPr lang="ko-KR" altLang="en-US" b="1" dirty="0"/>
              <a:t>| SOF(0xAA) | LEN(0x02) | TEMP | HUMI | CRC16(LSB) | CRC16(MSB) |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583FA-B157-49AD-ABDD-5ED0124CB49C}"/>
              </a:ext>
            </a:extLst>
          </p:cNvPr>
          <p:cNvSpPr txBox="1"/>
          <p:nvPr/>
        </p:nvSpPr>
        <p:spPr>
          <a:xfrm>
            <a:off x="376177" y="2915132"/>
            <a:ext cx="6099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AA 02 16 26 0F 86</a:t>
            </a:r>
          </a:p>
          <a:p>
            <a:r>
              <a:rPr lang="ko-KR" altLang="en-US" dirty="0"/>
              <a:t>AA 02 16 26 0F 86</a:t>
            </a:r>
          </a:p>
          <a:p>
            <a:r>
              <a:rPr lang="ko-KR" altLang="en-US" dirty="0"/>
              <a:t>AA 02 16 25 4F 87</a:t>
            </a:r>
          </a:p>
        </p:txBody>
      </p:sp>
    </p:spTree>
    <p:extLst>
      <p:ext uri="{BB962C8B-B14F-4D97-AF65-F5344CB8AC3E}">
        <p14:creationId xmlns:p14="http://schemas.microsoft.com/office/powerpoint/2010/main" val="4263204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Adafruit library </a:t>
            </a:r>
            <a:r>
              <a:rPr lang="ko-KR" altLang="en-US" sz="2000" b="1" dirty="0">
                <a:solidFill>
                  <a:schemeClr val="tx1"/>
                </a:solidFill>
              </a:rPr>
              <a:t>설치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BF6521-C489-483C-A7A4-77F191B0F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68" y="999796"/>
            <a:ext cx="7440063" cy="47060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4CC19E-3D10-4A9E-8A7A-8BEFAA4C75E5}"/>
              </a:ext>
            </a:extLst>
          </p:cNvPr>
          <p:cNvSpPr/>
          <p:nvPr/>
        </p:nvSpPr>
        <p:spPr>
          <a:xfrm>
            <a:off x="3467100" y="5362575"/>
            <a:ext cx="847725" cy="40005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D09473B-0716-4314-8BDD-CEA3C2522211}"/>
              </a:ext>
            </a:extLst>
          </p:cNvPr>
          <p:cNvSpPr/>
          <p:nvPr/>
        </p:nvSpPr>
        <p:spPr>
          <a:xfrm>
            <a:off x="3114675" y="1200150"/>
            <a:ext cx="447675" cy="32385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F25C01-BA58-4FB8-A3B7-DFF8775D64C6}"/>
              </a:ext>
            </a:extLst>
          </p:cNvPr>
          <p:cNvSpPr/>
          <p:nvPr/>
        </p:nvSpPr>
        <p:spPr>
          <a:xfrm>
            <a:off x="442393" y="2819400"/>
            <a:ext cx="1253057" cy="3810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8200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ESP32 Code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led3cPWM_DHT11   (1/6)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BEF5E-499C-49F4-B484-9F7237876164}"/>
              </a:ext>
            </a:extLst>
          </p:cNvPr>
          <p:cNvSpPr txBox="1"/>
          <p:nvPr/>
        </p:nvSpPr>
        <p:spPr>
          <a:xfrm>
            <a:off x="0" y="666321"/>
            <a:ext cx="10521387" cy="60016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ESP32 RGB LED Binary Protocol Controller (Arduino core 3.x)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Frame (TX-&gt;ESP32): | SOF(0xAA) | LEN | LED No. | Value | CRC16(LSB) | CRC16(MSB) |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Frame (ESP32-&gt;RX, LED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상태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): | 0xAA | 0x03 | R | G | B | CRC16(LSB) | CRC16(MSB) |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Frame (ESP32-&gt;RX, DHT11):    | 0xAA | 0x02 | TEMP | HUMI | CRC16(LSB) | CRC16(MSB) |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CRC16-IBM (poly 0xA001,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0xFFFF), computed over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SOF..payload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(CRC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제외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Arduino.h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&lt;esp32-hal-ledc.h&gt;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core 3.x: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ledcAttach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pin,freq,res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ledcWrite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pin,duty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DHT.h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           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DHT11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라이브러리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 ======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핀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/LEDC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설정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======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PIN_R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PIN_G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PIN_B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LEDC_FREQ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5 kHz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LEDC_RES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// 8-bit (0~255)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공통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애노드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LED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면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로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듀티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반전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COMMON_ANODE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내부 상태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(0~100 %)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 ====== DHT11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설정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======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DHTPIN  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// DHT11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데이터 핀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원하는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GPIO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로 변경 가능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DHTTYPE DHT11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DHT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(DHTPIN, DHTTYPE);</a:t>
            </a: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DHT_INTERVAL_MS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3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초마다 전송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lastDhtMs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65418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ESP32 Code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led3cPWM_DHT11   (2/6)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BEF5E-499C-49F4-B484-9F7237876164}"/>
              </a:ext>
            </a:extLst>
          </p:cNvPr>
          <p:cNvSpPr txBox="1"/>
          <p:nvPr/>
        </p:nvSpPr>
        <p:spPr>
          <a:xfrm>
            <a:off x="0" y="666321"/>
            <a:ext cx="10521387" cy="65556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j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j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j)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0x0001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0xA001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percentToDuty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(p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p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duty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)p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rounding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duty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(COMMON_ANODE) duty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duty;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)duty;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applyChannels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ledcWrite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(PIN_R,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percentToDuty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ledcWrite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(PIN_G,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percentToDuty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ledcWrite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(PIN_B,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percentToDuty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sendStatus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SOF + LEN + payload(3)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0xAA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(frame, 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(frame, 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// LSB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MSB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4301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ESP32 Code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led3cPWM_DHT11   (3/6)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BEF5E-499C-49F4-B484-9F7237876164}"/>
              </a:ext>
            </a:extLst>
          </p:cNvPr>
          <p:cNvSpPr txBox="1"/>
          <p:nvPr/>
        </p:nvSpPr>
        <p:spPr>
          <a:xfrm>
            <a:off x="0" y="666321"/>
            <a:ext cx="10521387" cy="58169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DHT11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응답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| AA | 02 | TEMP | HUMI | CRC(LSB) | CRC(MSB) |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sendDhtFrame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SOF + LEN + payload(2)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0xAA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humiByte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(frame, 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(frame, 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(frame));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// LSB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MSB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/// ======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수신 파서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======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WAIT_SOF, WAIT_LEN, WAIT_PAYLOAD, WAIT_CRC_L, WAIT_CRC_H };</a:t>
            </a: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WAIT_SOF;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resetRx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WAIT_SOF;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997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ESP32 Code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led3cPWM_DHT11   (4/6)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BEF5E-499C-49F4-B484-9F7237876164}"/>
              </a:ext>
            </a:extLst>
          </p:cNvPr>
          <p:cNvSpPr txBox="1"/>
          <p:nvPr/>
        </p:nvSpPr>
        <p:spPr>
          <a:xfrm>
            <a:off x="0" y="666321"/>
            <a:ext cx="10521387" cy="61863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// payload = [LED No.][Value]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sendStatus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value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(value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value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0x64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100% clamp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value;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value;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value;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value;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알 수 없는 채널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무시 *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applyChannels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sendStatus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processSerial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WAIT_SOF: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(b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0xAA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WAIT_LEN;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</a:p>
        </p:txBody>
      </p:sp>
    </p:spTree>
    <p:extLst>
      <p:ext uri="{BB962C8B-B14F-4D97-AF65-F5344CB8AC3E}">
        <p14:creationId xmlns:p14="http://schemas.microsoft.com/office/powerpoint/2010/main" val="13115869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ESP32 Code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led3cPWM_DHT11   (5/6)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BEF5E-499C-49F4-B484-9F7237876164}"/>
              </a:ext>
            </a:extLst>
          </p:cNvPr>
          <p:cNvSpPr txBox="1"/>
          <p:nvPr/>
        </p:nvSpPr>
        <p:spPr>
          <a:xfrm>
            <a:off x="0" y="666321"/>
            <a:ext cx="10521387" cy="729430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WAIT_LEN: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// payload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길이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// LEN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저장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// payload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채우기 시작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resetRx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과도한 길이 → 폐기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WAIT_PAYLOAD;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WAIT_PAYLOAD: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WAIT_CRC_L;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WAIT_CRC_L: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         // LSB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WAIT_CRC_H;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WAIT_CRC_H: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)b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MSB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CRC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검증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SOF..payload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uint16_t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calc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(calc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rxLen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resetRx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9380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ESP32 Code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led3cPWM_DHT11   (6/6)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2BEF5E-499C-49F4-B484-9F7237876164}"/>
              </a:ext>
            </a:extLst>
          </p:cNvPr>
          <p:cNvSpPr txBox="1"/>
          <p:nvPr/>
        </p:nvSpPr>
        <p:spPr>
          <a:xfrm>
            <a:off x="0" y="797510"/>
            <a:ext cx="5694744" cy="41549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core 3.x: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핀 단위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LEDC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초기화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채널 개념 없이 자동 할당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ledcAttach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(PIN_R, LEDC_FREQ, LEDC_RES);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ledcAttach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(PIN_G, LEDC_FREQ, LEDC_RES);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ledcAttach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(PIN_B, LEDC_FREQ, LEDC_RES);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공통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애노드면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역상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(COMMON_ANODE)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ledcOutputInvert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(PIN_R,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ledcOutputInvert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(PIN_G,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ledcOutputInvert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(PIN_B,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 // DHT11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초기화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applyChannels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sendStatus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    //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부팅 알림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옵션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85F34-7C2A-45A3-83EB-5090270CE474}"/>
              </a:ext>
            </a:extLst>
          </p:cNvPr>
          <p:cNvSpPr txBox="1"/>
          <p:nvPr/>
        </p:nvSpPr>
        <p:spPr>
          <a:xfrm>
            <a:off x="5830747" y="797510"/>
            <a:ext cx="6105644" cy="526297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processSerial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초마다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DHT11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온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습도 읽어서 전송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now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millis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(now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lastDhtMs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DHT_INTERVAL_MS)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lastDhtMs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now;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readHumidity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readTemperature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섭씨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(h)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(t))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읽기 실패 시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0xFF, 0xFF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전송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(t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t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(t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t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(h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h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(h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h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)(t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반올림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)(h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반올림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sendDhtFrame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038262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designer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CD8C62-4D4D-4254-98EC-3421BDD64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81" y="1222223"/>
            <a:ext cx="5372850" cy="4182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8F521D-D732-4169-82BC-BA3E519962C9}"/>
              </a:ext>
            </a:extLst>
          </p:cNvPr>
          <p:cNvSpPr txBox="1"/>
          <p:nvPr/>
        </p:nvSpPr>
        <p:spPr>
          <a:xfrm>
            <a:off x="5934567" y="4942390"/>
            <a:ext cx="205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lineTemp</a:t>
            </a:r>
            <a:r>
              <a:rPr lang="en-US" altLang="ko-KR" dirty="0"/>
              <a:t>,  </a:t>
            </a:r>
            <a:r>
              <a:rPr lang="en-US" altLang="ko-KR" dirty="0" err="1"/>
              <a:t>lineHumi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7091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VS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Code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ledDht11Run.py   (1/7)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4BAC3-2117-4388-A41E-60DC0F57B56F}"/>
              </a:ext>
            </a:extLst>
          </p:cNvPr>
          <p:cNvSpPr txBox="1"/>
          <p:nvPr/>
        </p:nvSpPr>
        <p:spPr>
          <a:xfrm>
            <a:off x="0" y="682904"/>
            <a:ext cx="8987742" cy="58169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ledDht11Run.py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- ledDht11.py (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Ui_Dialog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사용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- R/G/B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슬라이더 값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SEND → ESP32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전송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 - ESP32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에서 오는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상태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 DHT11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값을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파싱해서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GUI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 표시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PyQt5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ledDht11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Ui_Dialog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AA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PC → ESP32 LED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제어는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LEN = 0x02 (LED No, Value)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02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03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"""CRC16-IBM (poly 0xA001, 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0xFFFF)."""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0001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A001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418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VS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Code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ledDht11Run.py   (2/7)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4BAC3-2117-4388-A41E-60DC0F57B56F}"/>
              </a:ext>
            </a:extLst>
          </p:cNvPr>
          <p:cNvSpPr txBox="1"/>
          <p:nvPr/>
        </p:nvSpPr>
        <p:spPr>
          <a:xfrm>
            <a:off x="0" y="682904"/>
            <a:ext cx="8987742" cy="61863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LedDhtDialog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QtWidgets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QDialog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"COM3"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baudrate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UI -----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Ui_Dialog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setupUi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온도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습도는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모니터링용이므로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편집 못 하게 막음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원하면 해제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lineTemp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.setReadOnly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lineHumi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.setReadOnly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Serial -----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baudrate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timeout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SerialException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QtWidgets.QMessageBox.critical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"Serial Error"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시리얼 포트를 열 수 없습니다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SEND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버튼 연결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btnAllon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.clicked.connect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on_send_clicked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수신 파서 상태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"WAIT_SOF"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bytearray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주기적으로 시리얼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폴링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-----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QtCore.QTimer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.timeout.connect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poll_serial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.start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30ms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마다 체크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3561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VS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Code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ledDht11Run.py   (3/7)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4BAC3-2117-4388-A41E-60DC0F57B56F}"/>
              </a:ext>
            </a:extLst>
          </p:cNvPr>
          <p:cNvSpPr txBox="1"/>
          <p:nvPr/>
        </p:nvSpPr>
        <p:spPr>
          <a:xfrm>
            <a:off x="0" y="682904"/>
            <a:ext cx="8987742" cy="58169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송신 쪽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==================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led_no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"""LED No, Value 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를 기존 프로토콜에 맞게 전송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."""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is_open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frame_no_crc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led_no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frame_no_crc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frame_no_crc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디버그용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print("TX:",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frame.hex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(" "))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on_send_clicked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"""SEND 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버튼 눌렀을 때 슬라이더 값 전송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."""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sliderRed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sliderGreen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sliderBlue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LED_RED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LED_GREEN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send_led_value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LED_BLUE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5102336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VS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Code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ledDht11Run.py   (4/7)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4BAC3-2117-4388-A41E-60DC0F57B56F}"/>
              </a:ext>
            </a:extLst>
          </p:cNvPr>
          <p:cNvSpPr txBox="1"/>
          <p:nvPr/>
        </p:nvSpPr>
        <p:spPr>
          <a:xfrm>
            <a:off x="0" y="682904"/>
            <a:ext cx="8987742" cy="61863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수신 쪽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==================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poll_serial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주기적으로 시리얼을 읽어서 바이트 단위로 파싱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."""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is_open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in_waiting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process_byte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process_byte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"""ESP32 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쪽과 같은 상태 </a:t>
            </a:r>
            <a:r>
              <a:rPr lang="ko-KR" alt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머신으로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프레임 파싱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."""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"WAIT_SOF"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SOF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bytearray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SOF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저장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"WAIT_LEN"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"WAIT_LEN"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rx_buf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LEN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저장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payload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길이 간단 체크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너무 길면 버리기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reset_rx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"WAIT_PAYLOAD"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38325354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VS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Code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ledDht11Run.py   (5/7)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4BAC3-2117-4388-A41E-60DC0F57B56F}"/>
              </a:ext>
            </a:extLst>
          </p:cNvPr>
          <p:cNvSpPr txBox="1"/>
          <p:nvPr/>
        </p:nvSpPr>
        <p:spPr>
          <a:xfrm>
            <a:off x="0" y="682904"/>
            <a:ext cx="8987742" cy="544764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"WAIT_PAYLOAD"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rx_buf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"WAIT_CRC_L"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"WAIT_CRC_L"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 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LSB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"WAIT_CRC_H"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"WAIT_CRC_H"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MSB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CRC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체크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SOF..payload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crc16_ibm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payload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는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SOF,LEN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뒤의 부분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:]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handle_frame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다음 프레임 준비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reset_rx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reset_rx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rx_state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"WAIT_SOF"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rx_crc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rx_buf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bytearray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3656394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VS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Code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ledDht11Run.py   (6/7)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4BAC3-2117-4388-A41E-60DC0F57B56F}"/>
              </a:ext>
            </a:extLst>
          </p:cNvPr>
          <p:cNvSpPr txBox="1"/>
          <p:nvPr/>
        </p:nvSpPr>
        <p:spPr>
          <a:xfrm>
            <a:off x="0" y="682904"/>
            <a:ext cx="8987742" cy="618630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handle_frame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LEN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에 따라 프레임 종류 구분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 LEN = 3 (payload 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길이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3) → LED 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상태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(R,G,B)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- LEN = 2 (payload </a:t>
            </a:r>
            <a:r>
              <a:rPr lang="ko-KR" alt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길이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2) → DHT11 (TEMP,HUMI)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   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LED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상태 프레임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[R,G,B] (0~100)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슬라이더 값 동기화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값이 들어온 범위만큼 </a:t>
            </a:r>
            <a:r>
              <a:rPr lang="ko-KR" altLang="en-US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클램프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sliderRed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sliderGreen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sliderBlue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.setValue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sliderRed/Green/Blue → </a:t>
            </a:r>
            <a:r>
              <a:rPr lang="en-US" altLang="ko-KR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lblRed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/Green/Blue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는 이미 디자이너에서 연결됨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DHT11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프레임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[TEMP, HUMI]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센서 읽기 실패 표시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lineTemp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lineHumi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lineTemp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lineHumi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.setText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그 외 길이는 무시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1594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VS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Code</a:t>
            </a:r>
            <a:r>
              <a:rPr lang="ko-KR" altLang="en-US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ledDht11Run.py   (7/7)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4BAC3-2117-4388-A41E-60DC0F57B56F}"/>
              </a:ext>
            </a:extLst>
          </p:cNvPr>
          <p:cNvSpPr txBox="1"/>
          <p:nvPr/>
        </p:nvSpPr>
        <p:spPr>
          <a:xfrm>
            <a:off x="0" y="682904"/>
            <a:ext cx="8987742" cy="489364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그 외 길이는 무시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기타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==================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is_open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ser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closeEvent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사용법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python ledDht11Run.py COM5  </a:t>
            </a:r>
            <a:r>
              <a:rPr lang="ko-KR" alt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처럼 포트명을 인자로 줄 수 있음</a:t>
            </a:r>
            <a:endParaRPr lang="ko-KR" alt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"COM3"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QtWidgets.QApplication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LedDhtDialog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dlg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.show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.exec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_())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E92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"__main__"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1826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685F-BB9E-0657-7B31-1EB92D5B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FBDA9B-8896-67A0-706F-848423180D1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실 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58F1D0-C730-8F03-C0AA-0C6BF329F59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D19862-A90A-40ED-9205-1A25BAAD6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04" y="777348"/>
            <a:ext cx="8364117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873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2755-50EF-E3CF-D3F4-194873869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3FBE96-BD5F-ACF0-0319-7EAC90F528B3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designer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ledDht11Graph.ui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F41176-6EAA-03B0-28D9-6F50F79EDFE0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 + Graph</a:t>
            </a:r>
            <a:endParaRPr lang="ko-KR" alt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C5A936-7A97-F40A-3006-01A4CF2B5E5E}"/>
              </a:ext>
            </a:extLst>
          </p:cNvPr>
          <p:cNvSpPr txBox="1"/>
          <p:nvPr/>
        </p:nvSpPr>
        <p:spPr>
          <a:xfrm>
            <a:off x="459720" y="1062681"/>
            <a:ext cx="663835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800" b="1" dirty="0"/>
              <a:t>온도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습도 데이터를 그래프로 그려보자</a:t>
            </a:r>
            <a:endParaRPr lang="en-US" altLang="ko-KR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b="1" dirty="0"/>
              <a:t>Serial port </a:t>
            </a:r>
            <a:r>
              <a:rPr lang="ko-KR" altLang="en-US" sz="2800" b="1" dirty="0"/>
              <a:t>자동 검색 및 설정</a:t>
            </a:r>
          </a:p>
        </p:txBody>
      </p:sp>
    </p:spTree>
    <p:extLst>
      <p:ext uri="{BB962C8B-B14F-4D97-AF65-F5344CB8AC3E}">
        <p14:creationId xmlns:p14="http://schemas.microsoft.com/office/powerpoint/2010/main" val="21299435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D3D2A-B3B0-A2F5-6D2A-64DBA2D9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044B4AD-4F4F-A64B-DA74-0E7A82CD8B21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designer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ledDht11Graph.ui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619E0D-EE7B-721A-BE67-507A13FAD8F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 + Graph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F620BC-6EB1-0C0B-E63C-A7BAA1EBB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35" y="846730"/>
            <a:ext cx="9276466" cy="58020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7BFA31-ECFF-C8DC-1133-DE726B66348A}"/>
              </a:ext>
            </a:extLst>
          </p:cNvPr>
          <p:cNvSpPr txBox="1"/>
          <p:nvPr/>
        </p:nvSpPr>
        <p:spPr>
          <a:xfrm>
            <a:off x="9931800" y="1993546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graphicsView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BE0651F-A249-12B8-E248-C64B2DA10A60}"/>
              </a:ext>
            </a:extLst>
          </p:cNvPr>
          <p:cNvCxnSpPr>
            <a:cxnSpLocks/>
          </p:cNvCxnSpPr>
          <p:nvPr/>
        </p:nvCxnSpPr>
        <p:spPr>
          <a:xfrm flipH="1">
            <a:off x="9333402" y="2226337"/>
            <a:ext cx="598398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90E1036-E3CF-EF33-DB0A-456F3D3376E9}"/>
              </a:ext>
            </a:extLst>
          </p:cNvPr>
          <p:cNvCxnSpPr>
            <a:cxnSpLocks/>
          </p:cNvCxnSpPr>
          <p:nvPr/>
        </p:nvCxnSpPr>
        <p:spPr>
          <a:xfrm flipH="1">
            <a:off x="8455899" y="4602173"/>
            <a:ext cx="1785381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4986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8F39-C690-8224-D23E-D55C24ED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A9DABAE-AD4B-11C0-3B64-2E0B365E71E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designer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ledDht11Graph.ui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474817-D97A-D0A7-AAAD-7410FC02AA5B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 + Graph</a:t>
            </a:r>
            <a:endParaRPr lang="ko-KR" altLang="en-US" sz="20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B69CB4-7005-4E68-31CB-9012F990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26" y="922473"/>
            <a:ext cx="9669224" cy="5725324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EA4BCCD-BB60-B786-1FC1-6954866D9DF0}"/>
              </a:ext>
            </a:extLst>
          </p:cNvPr>
          <p:cNvSpPr/>
          <p:nvPr/>
        </p:nvSpPr>
        <p:spPr>
          <a:xfrm>
            <a:off x="6163375" y="5313145"/>
            <a:ext cx="1267326" cy="62993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8EFB0ED4-CCC1-8E0B-77CF-A46BBDDF8648}"/>
              </a:ext>
            </a:extLst>
          </p:cNvPr>
          <p:cNvSpPr/>
          <p:nvPr/>
        </p:nvSpPr>
        <p:spPr>
          <a:xfrm rot="5400000">
            <a:off x="7382605" y="5375514"/>
            <a:ext cx="439806" cy="3150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8A413BCC-556D-211B-510F-C21D9E4622A3}"/>
              </a:ext>
            </a:extLst>
          </p:cNvPr>
          <p:cNvSpPr/>
          <p:nvPr/>
        </p:nvSpPr>
        <p:spPr>
          <a:xfrm>
            <a:off x="8647113" y="4712368"/>
            <a:ext cx="439806" cy="3150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E3F068E3-187B-F436-5B34-493A46A7188D}"/>
              </a:ext>
            </a:extLst>
          </p:cNvPr>
          <p:cNvSpPr/>
          <p:nvPr/>
        </p:nvSpPr>
        <p:spPr>
          <a:xfrm>
            <a:off x="7985449" y="5891894"/>
            <a:ext cx="439806" cy="3150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6374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78FE-E12C-1719-813D-98500507C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6C25843-501A-95AF-8F95-0EB0CCFE07D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VS Code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ledDht11GraphRun.py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505232-5E3A-5892-1848-6FA99E1EEC74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 + Graph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930A84-7649-DB04-BB9D-0BC7DBFB4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1596"/>
            <a:ext cx="12192000" cy="622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901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97A31-D527-73FD-04E0-D93BACB5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D4A8830-6750-D893-B306-5C5A9D1E26BF}"/>
              </a:ext>
            </a:extLst>
          </p:cNvPr>
          <p:cNvSpPr/>
          <p:nvPr/>
        </p:nvSpPr>
        <p:spPr>
          <a:xfrm>
            <a:off x="0" y="1659"/>
            <a:ext cx="12192000" cy="22324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7" algn="ctr"/>
            <a:r>
              <a:rPr lang="en-US" altLang="ko-KR" sz="4800" b="1" dirty="0">
                <a:solidFill>
                  <a:schemeClr val="tx1"/>
                </a:solidFill>
                <a:latin typeface="+mn-ea"/>
              </a:rPr>
              <a:t>PyQt </a:t>
            </a:r>
            <a:r>
              <a:rPr lang="ko-KR" altLang="en-US" sz="4800" b="1" dirty="0">
                <a:solidFill>
                  <a:schemeClr val="tx1"/>
                </a:solidFill>
                <a:latin typeface="+mn-ea"/>
              </a:rPr>
              <a:t>설치 및 실행</a:t>
            </a:r>
            <a:endParaRPr lang="en-US" altLang="ko-KR" sz="4800" b="1" dirty="0">
              <a:solidFill>
                <a:schemeClr val="tx1"/>
              </a:solidFill>
              <a:latin typeface="+mn-ea"/>
            </a:endParaRPr>
          </a:p>
          <a:p>
            <a:pPr marL="179387" algn="ctr"/>
            <a:r>
              <a:rPr lang="en-US" altLang="ko-KR" sz="6600" b="1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Raspberry pi</a:t>
            </a:r>
            <a:endParaRPr lang="ko-KR" altLang="en-US" sz="6600" b="1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85451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1C51-159E-20B2-2021-F956E4E3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0E266E-DCF4-B5C8-D9C7-DF2577E758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R/G/B LED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PWM Pin, DHT11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0EF66CF-73BA-9698-C6A9-396E0200217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하드웨어 연결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93DEA7-8531-408C-AF15-DD487A518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350" y="1946314"/>
            <a:ext cx="3982006" cy="43440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8BB28F8-3C34-474A-887D-EE44CB7B6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319435" y="3248713"/>
            <a:ext cx="1571844" cy="25054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0BE304-5A43-43EF-A2D7-BBF6A8EB6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077943">
            <a:off x="1850530" y="1250594"/>
            <a:ext cx="2044294" cy="2026671"/>
          </a:xfrm>
          <a:prstGeom prst="rect">
            <a:avLst/>
          </a:prstGeom>
        </p:spPr>
      </p:pic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7508BB0C-3701-4F3F-8418-C6E1847D1E30}"/>
              </a:ext>
            </a:extLst>
          </p:cNvPr>
          <p:cNvSpPr/>
          <p:nvPr/>
        </p:nvSpPr>
        <p:spPr>
          <a:xfrm>
            <a:off x="4290646" y="4951828"/>
            <a:ext cx="1477108" cy="647114"/>
          </a:xfrm>
          <a:custGeom>
            <a:avLst/>
            <a:gdLst>
              <a:gd name="connsiteX0" fmla="*/ 0 w 1477108"/>
              <a:gd name="connsiteY0" fmla="*/ 0 h 647114"/>
              <a:gd name="connsiteX1" fmla="*/ 225083 w 1477108"/>
              <a:gd name="connsiteY1" fmla="*/ 42203 h 647114"/>
              <a:gd name="connsiteX2" fmla="*/ 295421 w 1477108"/>
              <a:gd name="connsiteY2" fmla="*/ 70338 h 647114"/>
              <a:gd name="connsiteX3" fmla="*/ 365760 w 1477108"/>
              <a:gd name="connsiteY3" fmla="*/ 84406 h 647114"/>
              <a:gd name="connsiteX4" fmla="*/ 492369 w 1477108"/>
              <a:gd name="connsiteY4" fmla="*/ 168812 h 647114"/>
              <a:gd name="connsiteX5" fmla="*/ 576775 w 1477108"/>
              <a:gd name="connsiteY5" fmla="*/ 225083 h 647114"/>
              <a:gd name="connsiteX6" fmla="*/ 647114 w 1477108"/>
              <a:gd name="connsiteY6" fmla="*/ 267286 h 647114"/>
              <a:gd name="connsiteX7" fmla="*/ 731520 w 1477108"/>
              <a:gd name="connsiteY7" fmla="*/ 379827 h 647114"/>
              <a:gd name="connsiteX8" fmla="*/ 787791 w 1477108"/>
              <a:gd name="connsiteY8" fmla="*/ 422031 h 647114"/>
              <a:gd name="connsiteX9" fmla="*/ 858129 w 1477108"/>
              <a:gd name="connsiteY9" fmla="*/ 492369 h 647114"/>
              <a:gd name="connsiteX10" fmla="*/ 928468 w 1477108"/>
              <a:gd name="connsiteY10" fmla="*/ 548640 h 647114"/>
              <a:gd name="connsiteX11" fmla="*/ 1041009 w 1477108"/>
              <a:gd name="connsiteY11" fmla="*/ 633046 h 647114"/>
              <a:gd name="connsiteX12" fmla="*/ 1125415 w 1477108"/>
              <a:gd name="connsiteY12" fmla="*/ 647114 h 647114"/>
              <a:gd name="connsiteX13" fmla="*/ 1378634 w 1477108"/>
              <a:gd name="connsiteY13" fmla="*/ 618978 h 647114"/>
              <a:gd name="connsiteX14" fmla="*/ 1434904 w 1477108"/>
              <a:gd name="connsiteY14" fmla="*/ 604911 h 647114"/>
              <a:gd name="connsiteX15" fmla="*/ 1477108 w 1477108"/>
              <a:gd name="connsiteY15" fmla="*/ 576775 h 64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77108" h="647114">
                <a:moveTo>
                  <a:pt x="0" y="0"/>
                </a:moveTo>
                <a:cubicBezTo>
                  <a:pt x="158294" y="63317"/>
                  <a:pt x="-36579" y="-6859"/>
                  <a:pt x="225083" y="42203"/>
                </a:cubicBezTo>
                <a:cubicBezTo>
                  <a:pt x="249903" y="46857"/>
                  <a:pt x="271234" y="63082"/>
                  <a:pt x="295421" y="70338"/>
                </a:cubicBezTo>
                <a:cubicBezTo>
                  <a:pt x="318323" y="77209"/>
                  <a:pt x="342314" y="79717"/>
                  <a:pt x="365760" y="84406"/>
                </a:cubicBezTo>
                <a:lnTo>
                  <a:pt x="492369" y="168812"/>
                </a:lnTo>
                <a:cubicBezTo>
                  <a:pt x="520504" y="187569"/>
                  <a:pt x="552864" y="201173"/>
                  <a:pt x="576775" y="225083"/>
                </a:cubicBezTo>
                <a:cubicBezTo>
                  <a:pt x="615397" y="263703"/>
                  <a:pt x="592328" y="249024"/>
                  <a:pt x="647114" y="267286"/>
                </a:cubicBezTo>
                <a:cubicBezTo>
                  <a:pt x="673089" y="306249"/>
                  <a:pt x="698101" y="346408"/>
                  <a:pt x="731520" y="379827"/>
                </a:cubicBezTo>
                <a:cubicBezTo>
                  <a:pt x="748099" y="396406"/>
                  <a:pt x="770267" y="406454"/>
                  <a:pt x="787791" y="422031"/>
                </a:cubicBezTo>
                <a:cubicBezTo>
                  <a:pt x="812573" y="444060"/>
                  <a:pt x="833483" y="470188"/>
                  <a:pt x="858129" y="492369"/>
                </a:cubicBezTo>
                <a:cubicBezTo>
                  <a:pt x="880447" y="512455"/>
                  <a:pt x="905871" y="528868"/>
                  <a:pt x="928468" y="548640"/>
                </a:cubicBezTo>
                <a:cubicBezTo>
                  <a:pt x="975654" y="589928"/>
                  <a:pt x="973335" y="608437"/>
                  <a:pt x="1041009" y="633046"/>
                </a:cubicBezTo>
                <a:cubicBezTo>
                  <a:pt x="1067815" y="642794"/>
                  <a:pt x="1097280" y="642425"/>
                  <a:pt x="1125415" y="647114"/>
                </a:cubicBezTo>
                <a:cubicBezTo>
                  <a:pt x="1209821" y="637735"/>
                  <a:pt x="1294487" y="630453"/>
                  <a:pt x="1378634" y="618978"/>
                </a:cubicBezTo>
                <a:cubicBezTo>
                  <a:pt x="1397791" y="616366"/>
                  <a:pt x="1417133" y="612527"/>
                  <a:pt x="1434904" y="604911"/>
                </a:cubicBezTo>
                <a:cubicBezTo>
                  <a:pt x="1450445" y="598251"/>
                  <a:pt x="1463040" y="586154"/>
                  <a:pt x="1477108" y="576775"/>
                </a:cubicBezTo>
              </a:path>
            </a:pathLst>
          </a:custGeom>
          <a:noFill/>
          <a:ln w="412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BCBD1FD3-C283-4AC8-A7BA-DBE6BE0443F9}"/>
              </a:ext>
            </a:extLst>
          </p:cNvPr>
          <p:cNvSpPr/>
          <p:nvPr/>
        </p:nvSpPr>
        <p:spPr>
          <a:xfrm>
            <a:off x="4304714" y="4614203"/>
            <a:ext cx="4965895" cy="704664"/>
          </a:xfrm>
          <a:custGeom>
            <a:avLst/>
            <a:gdLst>
              <a:gd name="connsiteX0" fmla="*/ 0 w 4965895"/>
              <a:gd name="connsiteY0" fmla="*/ 42203 h 704664"/>
              <a:gd name="connsiteX1" fmla="*/ 70338 w 4965895"/>
              <a:gd name="connsiteY1" fmla="*/ 28136 h 704664"/>
              <a:gd name="connsiteX2" fmla="*/ 196947 w 4965895"/>
              <a:gd name="connsiteY2" fmla="*/ 14068 h 704664"/>
              <a:gd name="connsiteX3" fmla="*/ 309489 w 4965895"/>
              <a:gd name="connsiteY3" fmla="*/ 0 h 704664"/>
              <a:gd name="connsiteX4" fmla="*/ 492369 w 4965895"/>
              <a:gd name="connsiteY4" fmla="*/ 14068 h 704664"/>
              <a:gd name="connsiteX5" fmla="*/ 590843 w 4965895"/>
              <a:gd name="connsiteY5" fmla="*/ 42203 h 704664"/>
              <a:gd name="connsiteX6" fmla="*/ 759655 w 4965895"/>
              <a:gd name="connsiteY6" fmla="*/ 56271 h 704664"/>
              <a:gd name="connsiteX7" fmla="*/ 984738 w 4965895"/>
              <a:gd name="connsiteY7" fmla="*/ 98474 h 704664"/>
              <a:gd name="connsiteX8" fmla="*/ 1153550 w 4965895"/>
              <a:gd name="connsiteY8" fmla="*/ 112542 h 704664"/>
              <a:gd name="connsiteX9" fmla="*/ 1378633 w 4965895"/>
              <a:gd name="connsiteY9" fmla="*/ 140677 h 704664"/>
              <a:gd name="connsiteX10" fmla="*/ 1645920 w 4965895"/>
              <a:gd name="connsiteY10" fmla="*/ 168812 h 704664"/>
              <a:gd name="connsiteX11" fmla="*/ 1969476 w 4965895"/>
              <a:gd name="connsiteY11" fmla="*/ 225083 h 704664"/>
              <a:gd name="connsiteX12" fmla="*/ 3080824 w 4965895"/>
              <a:gd name="connsiteY12" fmla="*/ 267286 h 704664"/>
              <a:gd name="connsiteX13" fmla="*/ 3334043 w 4965895"/>
              <a:gd name="connsiteY13" fmla="*/ 309489 h 704664"/>
              <a:gd name="connsiteX14" fmla="*/ 4009292 w 4965895"/>
              <a:gd name="connsiteY14" fmla="*/ 337625 h 704664"/>
              <a:gd name="connsiteX15" fmla="*/ 4346916 w 4965895"/>
              <a:gd name="connsiteY15" fmla="*/ 365760 h 704664"/>
              <a:gd name="connsiteX16" fmla="*/ 4965895 w 4965895"/>
              <a:gd name="connsiteY16" fmla="*/ 407963 h 704664"/>
              <a:gd name="connsiteX17" fmla="*/ 4937760 w 4965895"/>
              <a:gd name="connsiteY17" fmla="*/ 590843 h 704664"/>
              <a:gd name="connsiteX18" fmla="*/ 4895556 w 4965895"/>
              <a:gd name="connsiteY18" fmla="*/ 633046 h 704664"/>
              <a:gd name="connsiteX19" fmla="*/ 4614203 w 4965895"/>
              <a:gd name="connsiteY19" fmla="*/ 675249 h 704664"/>
              <a:gd name="connsiteX20" fmla="*/ 4515729 w 4965895"/>
              <a:gd name="connsiteY20" fmla="*/ 703385 h 70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965895" h="704664">
                <a:moveTo>
                  <a:pt x="0" y="42203"/>
                </a:moveTo>
                <a:cubicBezTo>
                  <a:pt x="23446" y="37514"/>
                  <a:pt x="46668" y="31517"/>
                  <a:pt x="70338" y="28136"/>
                </a:cubicBezTo>
                <a:cubicBezTo>
                  <a:pt x="112374" y="22131"/>
                  <a:pt x="154775" y="19030"/>
                  <a:pt x="196947" y="14068"/>
                </a:cubicBezTo>
                <a:lnTo>
                  <a:pt x="309489" y="0"/>
                </a:lnTo>
                <a:cubicBezTo>
                  <a:pt x="370449" y="4689"/>
                  <a:pt x="431905" y="4998"/>
                  <a:pt x="492369" y="14068"/>
                </a:cubicBezTo>
                <a:cubicBezTo>
                  <a:pt x="526129" y="19132"/>
                  <a:pt x="557123" y="36879"/>
                  <a:pt x="590843" y="42203"/>
                </a:cubicBezTo>
                <a:cubicBezTo>
                  <a:pt x="646618" y="51010"/>
                  <a:pt x="703384" y="51582"/>
                  <a:pt x="759655" y="56271"/>
                </a:cubicBezTo>
                <a:cubicBezTo>
                  <a:pt x="834683" y="70339"/>
                  <a:pt x="909170" y="87679"/>
                  <a:pt x="984738" y="98474"/>
                </a:cubicBezTo>
                <a:cubicBezTo>
                  <a:pt x="1040636" y="106459"/>
                  <a:pt x="1097406" y="106527"/>
                  <a:pt x="1153550" y="112542"/>
                </a:cubicBezTo>
                <a:cubicBezTo>
                  <a:pt x="1228731" y="120597"/>
                  <a:pt x="1303510" y="132092"/>
                  <a:pt x="1378633" y="140677"/>
                </a:cubicBezTo>
                <a:cubicBezTo>
                  <a:pt x="1467642" y="150849"/>
                  <a:pt x="1557233" y="156142"/>
                  <a:pt x="1645920" y="168812"/>
                </a:cubicBezTo>
                <a:cubicBezTo>
                  <a:pt x="1754291" y="184293"/>
                  <a:pt x="1860383" y="215992"/>
                  <a:pt x="1969476" y="225083"/>
                </a:cubicBezTo>
                <a:cubicBezTo>
                  <a:pt x="2564160" y="274641"/>
                  <a:pt x="2194188" y="251166"/>
                  <a:pt x="3080824" y="267286"/>
                </a:cubicBezTo>
                <a:cubicBezTo>
                  <a:pt x="3165230" y="281354"/>
                  <a:pt x="3248943" y="300531"/>
                  <a:pt x="3334043" y="309489"/>
                </a:cubicBezTo>
                <a:cubicBezTo>
                  <a:pt x="3418791" y="318410"/>
                  <a:pt x="3980229" y="336587"/>
                  <a:pt x="4009292" y="337625"/>
                </a:cubicBezTo>
                <a:cubicBezTo>
                  <a:pt x="4121833" y="347003"/>
                  <a:pt x="4234117" y="360302"/>
                  <a:pt x="4346916" y="365760"/>
                </a:cubicBezTo>
                <a:cubicBezTo>
                  <a:pt x="4954839" y="395176"/>
                  <a:pt x="4705112" y="321036"/>
                  <a:pt x="4965895" y="407963"/>
                </a:cubicBezTo>
                <a:cubicBezTo>
                  <a:pt x="4956517" y="468923"/>
                  <a:pt x="4956157" y="531973"/>
                  <a:pt x="4937760" y="590843"/>
                </a:cubicBezTo>
                <a:cubicBezTo>
                  <a:pt x="4931826" y="609832"/>
                  <a:pt x="4912427" y="622502"/>
                  <a:pt x="4895556" y="633046"/>
                </a:cubicBezTo>
                <a:cubicBezTo>
                  <a:pt x="4814484" y="683716"/>
                  <a:pt x="4697661" y="669685"/>
                  <a:pt x="4614203" y="675249"/>
                </a:cubicBezTo>
                <a:cubicBezTo>
                  <a:pt x="4556393" y="713790"/>
                  <a:pt x="4588907" y="703385"/>
                  <a:pt x="4515729" y="703385"/>
                </a:cubicBezTo>
              </a:path>
            </a:pathLst>
          </a:custGeom>
          <a:noFill/>
          <a:ln w="412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D9A51C8C-C95A-436D-8ED4-378493F9ED55}"/>
              </a:ext>
            </a:extLst>
          </p:cNvPr>
          <p:cNvSpPr/>
          <p:nvPr/>
        </p:nvSpPr>
        <p:spPr>
          <a:xfrm>
            <a:off x="4290646" y="3180843"/>
            <a:ext cx="5458264" cy="1194209"/>
          </a:xfrm>
          <a:custGeom>
            <a:avLst/>
            <a:gdLst>
              <a:gd name="connsiteX0" fmla="*/ 0 w 5458264"/>
              <a:gd name="connsiteY0" fmla="*/ 1194209 h 1194209"/>
              <a:gd name="connsiteX1" fmla="*/ 4487594 w 5458264"/>
              <a:gd name="connsiteY1" fmla="*/ 1180142 h 1194209"/>
              <a:gd name="connsiteX2" fmla="*/ 4656406 w 5458264"/>
              <a:gd name="connsiteY2" fmla="*/ 1109803 h 1194209"/>
              <a:gd name="connsiteX3" fmla="*/ 4965895 w 5458264"/>
              <a:gd name="connsiteY3" fmla="*/ 940991 h 1194209"/>
              <a:gd name="connsiteX4" fmla="*/ 5162843 w 5458264"/>
              <a:gd name="connsiteY4" fmla="*/ 842517 h 1194209"/>
              <a:gd name="connsiteX5" fmla="*/ 5205046 w 5458264"/>
              <a:gd name="connsiteY5" fmla="*/ 800314 h 1194209"/>
              <a:gd name="connsiteX6" fmla="*/ 5261317 w 5458264"/>
              <a:gd name="connsiteY6" fmla="*/ 673705 h 1194209"/>
              <a:gd name="connsiteX7" fmla="*/ 5331655 w 5458264"/>
              <a:gd name="connsiteY7" fmla="*/ 547096 h 1194209"/>
              <a:gd name="connsiteX8" fmla="*/ 5387926 w 5458264"/>
              <a:gd name="connsiteY8" fmla="*/ 434554 h 1194209"/>
              <a:gd name="connsiteX9" fmla="*/ 5416061 w 5458264"/>
              <a:gd name="connsiteY9" fmla="*/ 322012 h 1194209"/>
              <a:gd name="connsiteX10" fmla="*/ 5444197 w 5458264"/>
              <a:gd name="connsiteY10" fmla="*/ 237606 h 1194209"/>
              <a:gd name="connsiteX11" fmla="*/ 5458264 w 5458264"/>
              <a:gd name="connsiteY11" fmla="*/ 125065 h 1194209"/>
              <a:gd name="connsiteX12" fmla="*/ 5106572 w 5458264"/>
              <a:gd name="connsiteY12" fmla="*/ 26591 h 119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8264" h="1194209">
                <a:moveTo>
                  <a:pt x="0" y="1194209"/>
                </a:moveTo>
                <a:lnTo>
                  <a:pt x="4487594" y="1180142"/>
                </a:lnTo>
                <a:cubicBezTo>
                  <a:pt x="4548544" y="1179037"/>
                  <a:pt x="4601882" y="1137065"/>
                  <a:pt x="4656406" y="1109803"/>
                </a:cubicBezTo>
                <a:cubicBezTo>
                  <a:pt x="4761512" y="1057250"/>
                  <a:pt x="4862311" y="996482"/>
                  <a:pt x="4965895" y="940991"/>
                </a:cubicBezTo>
                <a:cubicBezTo>
                  <a:pt x="4983570" y="931522"/>
                  <a:pt x="5161160" y="844200"/>
                  <a:pt x="5162843" y="842517"/>
                </a:cubicBezTo>
                <a:lnTo>
                  <a:pt x="5205046" y="800314"/>
                </a:lnTo>
                <a:cubicBezTo>
                  <a:pt x="5223803" y="758111"/>
                  <a:pt x="5240663" y="715013"/>
                  <a:pt x="5261317" y="673705"/>
                </a:cubicBezTo>
                <a:cubicBezTo>
                  <a:pt x="5282908" y="630523"/>
                  <a:pt x="5309066" y="589764"/>
                  <a:pt x="5331655" y="547096"/>
                </a:cubicBezTo>
                <a:cubicBezTo>
                  <a:pt x="5351279" y="510028"/>
                  <a:pt x="5369169" y="472068"/>
                  <a:pt x="5387926" y="434554"/>
                </a:cubicBezTo>
                <a:cubicBezTo>
                  <a:pt x="5397304" y="397040"/>
                  <a:pt x="5405438" y="359193"/>
                  <a:pt x="5416061" y="322012"/>
                </a:cubicBezTo>
                <a:cubicBezTo>
                  <a:pt x="5424209" y="293496"/>
                  <a:pt x="5437983" y="266605"/>
                  <a:pt x="5444197" y="237606"/>
                </a:cubicBezTo>
                <a:cubicBezTo>
                  <a:pt x="5452118" y="200640"/>
                  <a:pt x="5453575" y="162579"/>
                  <a:pt x="5458264" y="125065"/>
                </a:cubicBezTo>
                <a:cubicBezTo>
                  <a:pt x="5400500" y="-77112"/>
                  <a:pt x="5464267" y="26591"/>
                  <a:pt x="5106572" y="26591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6E5DD6AD-557C-4370-BD36-501FFA22672C}"/>
              </a:ext>
            </a:extLst>
          </p:cNvPr>
          <p:cNvSpPr/>
          <p:nvPr/>
        </p:nvSpPr>
        <p:spPr>
          <a:xfrm>
            <a:off x="3840480" y="2644726"/>
            <a:ext cx="2518117" cy="211016"/>
          </a:xfrm>
          <a:custGeom>
            <a:avLst/>
            <a:gdLst>
              <a:gd name="connsiteX0" fmla="*/ 0 w 2518117"/>
              <a:gd name="connsiteY0" fmla="*/ 0 h 211016"/>
              <a:gd name="connsiteX1" fmla="*/ 211015 w 2518117"/>
              <a:gd name="connsiteY1" fmla="*/ 14068 h 211016"/>
              <a:gd name="connsiteX2" fmla="*/ 295422 w 2518117"/>
              <a:gd name="connsiteY2" fmla="*/ 28136 h 211016"/>
              <a:gd name="connsiteX3" fmla="*/ 393895 w 2518117"/>
              <a:gd name="connsiteY3" fmla="*/ 42203 h 211016"/>
              <a:gd name="connsiteX4" fmla="*/ 464234 w 2518117"/>
              <a:gd name="connsiteY4" fmla="*/ 56271 h 211016"/>
              <a:gd name="connsiteX5" fmla="*/ 576775 w 2518117"/>
              <a:gd name="connsiteY5" fmla="*/ 70339 h 211016"/>
              <a:gd name="connsiteX6" fmla="*/ 703385 w 2518117"/>
              <a:gd name="connsiteY6" fmla="*/ 112542 h 211016"/>
              <a:gd name="connsiteX7" fmla="*/ 759655 w 2518117"/>
              <a:gd name="connsiteY7" fmla="*/ 126609 h 211016"/>
              <a:gd name="connsiteX8" fmla="*/ 829994 w 2518117"/>
              <a:gd name="connsiteY8" fmla="*/ 140677 h 211016"/>
              <a:gd name="connsiteX9" fmla="*/ 998806 w 2518117"/>
              <a:gd name="connsiteY9" fmla="*/ 182880 h 211016"/>
              <a:gd name="connsiteX10" fmla="*/ 1871003 w 2518117"/>
              <a:gd name="connsiteY10" fmla="*/ 196948 h 211016"/>
              <a:gd name="connsiteX11" fmla="*/ 1927274 w 2518117"/>
              <a:gd name="connsiteY11" fmla="*/ 211016 h 211016"/>
              <a:gd name="connsiteX12" fmla="*/ 2447778 w 2518117"/>
              <a:gd name="connsiteY12" fmla="*/ 196948 h 211016"/>
              <a:gd name="connsiteX13" fmla="*/ 2518117 w 2518117"/>
              <a:gd name="connsiteY13" fmla="*/ 196948 h 21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18117" h="211016">
                <a:moveTo>
                  <a:pt x="0" y="0"/>
                </a:moveTo>
                <a:cubicBezTo>
                  <a:pt x="70338" y="4689"/>
                  <a:pt x="140838" y="7384"/>
                  <a:pt x="211015" y="14068"/>
                </a:cubicBezTo>
                <a:cubicBezTo>
                  <a:pt x="239410" y="16772"/>
                  <a:pt x="267230" y="23799"/>
                  <a:pt x="295422" y="28136"/>
                </a:cubicBezTo>
                <a:cubicBezTo>
                  <a:pt x="328194" y="33178"/>
                  <a:pt x="361189" y="36752"/>
                  <a:pt x="393895" y="42203"/>
                </a:cubicBezTo>
                <a:cubicBezTo>
                  <a:pt x="417480" y="46134"/>
                  <a:pt x="440601" y="52635"/>
                  <a:pt x="464234" y="56271"/>
                </a:cubicBezTo>
                <a:cubicBezTo>
                  <a:pt x="501600" y="62020"/>
                  <a:pt x="539261" y="65650"/>
                  <a:pt x="576775" y="70339"/>
                </a:cubicBezTo>
                <a:cubicBezTo>
                  <a:pt x="618978" y="84407"/>
                  <a:pt x="660227" y="101753"/>
                  <a:pt x="703385" y="112542"/>
                </a:cubicBezTo>
                <a:cubicBezTo>
                  <a:pt x="722142" y="117231"/>
                  <a:pt x="740781" y="122415"/>
                  <a:pt x="759655" y="126609"/>
                </a:cubicBezTo>
                <a:cubicBezTo>
                  <a:pt x="782996" y="131796"/>
                  <a:pt x="807092" y="133806"/>
                  <a:pt x="829994" y="140677"/>
                </a:cubicBezTo>
                <a:cubicBezTo>
                  <a:pt x="928921" y="170355"/>
                  <a:pt x="878220" y="179385"/>
                  <a:pt x="998806" y="182880"/>
                </a:cubicBezTo>
                <a:cubicBezTo>
                  <a:pt x="1289454" y="191305"/>
                  <a:pt x="1580271" y="192259"/>
                  <a:pt x="1871003" y="196948"/>
                </a:cubicBezTo>
                <a:cubicBezTo>
                  <a:pt x="1889760" y="201637"/>
                  <a:pt x="1907940" y="211016"/>
                  <a:pt x="1927274" y="211016"/>
                </a:cubicBezTo>
                <a:cubicBezTo>
                  <a:pt x="2100839" y="211016"/>
                  <a:pt x="2274262" y="201079"/>
                  <a:pt x="2447778" y="196948"/>
                </a:cubicBezTo>
                <a:cubicBezTo>
                  <a:pt x="2471218" y="196390"/>
                  <a:pt x="2494671" y="196948"/>
                  <a:pt x="2518117" y="196948"/>
                </a:cubicBezTo>
              </a:path>
            </a:pathLst>
          </a:custGeom>
          <a:noFill/>
          <a:ln w="539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37A10BF-4FDC-434B-BC20-7C4708C5751D}"/>
              </a:ext>
            </a:extLst>
          </p:cNvPr>
          <p:cNvSpPr/>
          <p:nvPr/>
        </p:nvSpPr>
        <p:spPr>
          <a:xfrm>
            <a:off x="3840480" y="2180492"/>
            <a:ext cx="2518117" cy="341999"/>
          </a:xfrm>
          <a:custGeom>
            <a:avLst/>
            <a:gdLst>
              <a:gd name="connsiteX0" fmla="*/ 0 w 2518117"/>
              <a:gd name="connsiteY0" fmla="*/ 281354 h 341999"/>
              <a:gd name="connsiteX1" fmla="*/ 84406 w 2518117"/>
              <a:gd name="connsiteY1" fmla="*/ 295422 h 341999"/>
              <a:gd name="connsiteX2" fmla="*/ 196948 w 2518117"/>
              <a:gd name="connsiteY2" fmla="*/ 323557 h 341999"/>
              <a:gd name="connsiteX3" fmla="*/ 661182 w 2518117"/>
              <a:gd name="connsiteY3" fmla="*/ 337625 h 341999"/>
              <a:gd name="connsiteX4" fmla="*/ 1448972 w 2518117"/>
              <a:gd name="connsiteY4" fmla="*/ 281354 h 341999"/>
              <a:gd name="connsiteX5" fmla="*/ 1631852 w 2518117"/>
              <a:gd name="connsiteY5" fmla="*/ 196948 h 341999"/>
              <a:gd name="connsiteX6" fmla="*/ 1744394 w 2518117"/>
              <a:gd name="connsiteY6" fmla="*/ 126610 h 341999"/>
              <a:gd name="connsiteX7" fmla="*/ 1885071 w 2518117"/>
              <a:gd name="connsiteY7" fmla="*/ 56271 h 341999"/>
              <a:gd name="connsiteX8" fmla="*/ 2011680 w 2518117"/>
              <a:gd name="connsiteY8" fmla="*/ 28136 h 341999"/>
              <a:gd name="connsiteX9" fmla="*/ 2067951 w 2518117"/>
              <a:gd name="connsiteY9" fmla="*/ 14068 h 341999"/>
              <a:gd name="connsiteX10" fmla="*/ 2194560 w 2518117"/>
              <a:gd name="connsiteY10" fmla="*/ 0 h 341999"/>
              <a:gd name="connsiteX11" fmla="*/ 2419643 w 2518117"/>
              <a:gd name="connsiteY11" fmla="*/ 28136 h 341999"/>
              <a:gd name="connsiteX12" fmla="*/ 2518117 w 2518117"/>
              <a:gd name="connsiteY12" fmla="*/ 42203 h 341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18117" h="341999">
                <a:moveTo>
                  <a:pt x="0" y="281354"/>
                </a:moveTo>
                <a:cubicBezTo>
                  <a:pt x="28135" y="286043"/>
                  <a:pt x="56516" y="289446"/>
                  <a:pt x="84406" y="295422"/>
                </a:cubicBezTo>
                <a:cubicBezTo>
                  <a:pt x="122216" y="303524"/>
                  <a:pt x="158383" y="320735"/>
                  <a:pt x="196948" y="323557"/>
                </a:cubicBezTo>
                <a:cubicBezTo>
                  <a:pt x="351351" y="334855"/>
                  <a:pt x="506437" y="332936"/>
                  <a:pt x="661182" y="337625"/>
                </a:cubicBezTo>
                <a:cubicBezTo>
                  <a:pt x="816110" y="334104"/>
                  <a:pt x="1226660" y="370277"/>
                  <a:pt x="1448972" y="281354"/>
                </a:cubicBezTo>
                <a:cubicBezTo>
                  <a:pt x="1490456" y="264761"/>
                  <a:pt x="1609328" y="219472"/>
                  <a:pt x="1631852" y="196948"/>
                </a:cubicBezTo>
                <a:cubicBezTo>
                  <a:pt x="1700658" y="128142"/>
                  <a:pt x="1644481" y="173236"/>
                  <a:pt x="1744394" y="126610"/>
                </a:cubicBezTo>
                <a:cubicBezTo>
                  <a:pt x="1791903" y="104439"/>
                  <a:pt x="1834209" y="68987"/>
                  <a:pt x="1885071" y="56271"/>
                </a:cubicBezTo>
                <a:cubicBezTo>
                  <a:pt x="2022305" y="21962"/>
                  <a:pt x="1850945" y="63854"/>
                  <a:pt x="2011680" y="28136"/>
                </a:cubicBezTo>
                <a:cubicBezTo>
                  <a:pt x="2030554" y="23942"/>
                  <a:pt x="2048842" y="17008"/>
                  <a:pt x="2067951" y="14068"/>
                </a:cubicBezTo>
                <a:cubicBezTo>
                  <a:pt x="2109920" y="7611"/>
                  <a:pt x="2152357" y="4689"/>
                  <a:pt x="2194560" y="0"/>
                </a:cubicBezTo>
                <a:cubicBezTo>
                  <a:pt x="2269588" y="9379"/>
                  <a:pt x="2344868" y="16920"/>
                  <a:pt x="2419643" y="28136"/>
                </a:cubicBezTo>
                <a:cubicBezTo>
                  <a:pt x="2536168" y="45615"/>
                  <a:pt x="2422669" y="42203"/>
                  <a:pt x="2518117" y="42203"/>
                </a:cubicBezTo>
              </a:path>
            </a:pathLst>
          </a:cu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00FCF8C-BAB0-4367-9246-EEF1D749CB7D}"/>
              </a:ext>
            </a:extLst>
          </p:cNvPr>
          <p:cNvSpPr/>
          <p:nvPr/>
        </p:nvSpPr>
        <p:spPr>
          <a:xfrm>
            <a:off x="3840480" y="1795166"/>
            <a:ext cx="4867422" cy="864195"/>
          </a:xfrm>
          <a:custGeom>
            <a:avLst/>
            <a:gdLst>
              <a:gd name="connsiteX0" fmla="*/ 0 w 4867422"/>
              <a:gd name="connsiteY0" fmla="*/ 455665 h 864195"/>
              <a:gd name="connsiteX1" fmla="*/ 393895 w 4867422"/>
              <a:gd name="connsiteY1" fmla="*/ 343123 h 864195"/>
              <a:gd name="connsiteX2" fmla="*/ 956603 w 4867422"/>
              <a:gd name="connsiteY2" fmla="*/ 272785 h 864195"/>
              <a:gd name="connsiteX3" fmla="*/ 1252025 w 4867422"/>
              <a:gd name="connsiteY3" fmla="*/ 230582 h 864195"/>
              <a:gd name="connsiteX4" fmla="*/ 1519311 w 4867422"/>
              <a:gd name="connsiteY4" fmla="*/ 202446 h 864195"/>
              <a:gd name="connsiteX5" fmla="*/ 1885071 w 4867422"/>
              <a:gd name="connsiteY5" fmla="*/ 103972 h 864195"/>
              <a:gd name="connsiteX6" fmla="*/ 2419643 w 4867422"/>
              <a:gd name="connsiteY6" fmla="*/ 61769 h 864195"/>
              <a:gd name="connsiteX7" fmla="*/ 4712677 w 4867422"/>
              <a:gd name="connsiteY7" fmla="*/ 89905 h 864195"/>
              <a:gd name="connsiteX8" fmla="*/ 4811151 w 4867422"/>
              <a:gd name="connsiteY8" fmla="*/ 188379 h 864195"/>
              <a:gd name="connsiteX9" fmla="*/ 4839286 w 4867422"/>
              <a:gd name="connsiteY9" fmla="*/ 272785 h 864195"/>
              <a:gd name="connsiteX10" fmla="*/ 4867422 w 4867422"/>
              <a:gd name="connsiteY10" fmla="*/ 329056 h 864195"/>
              <a:gd name="connsiteX11" fmla="*/ 4811151 w 4867422"/>
              <a:gd name="connsiteY11" fmla="*/ 722951 h 864195"/>
              <a:gd name="connsiteX12" fmla="*/ 4726745 w 4867422"/>
              <a:gd name="connsiteY12" fmla="*/ 821425 h 864195"/>
              <a:gd name="connsiteX13" fmla="*/ 4628271 w 4867422"/>
              <a:gd name="connsiteY13" fmla="*/ 835492 h 864195"/>
              <a:gd name="connsiteX14" fmla="*/ 4529797 w 4867422"/>
              <a:gd name="connsiteY14" fmla="*/ 863628 h 864195"/>
              <a:gd name="connsiteX15" fmla="*/ 4248443 w 4867422"/>
              <a:gd name="connsiteY15" fmla="*/ 849560 h 864195"/>
              <a:gd name="connsiteX16" fmla="*/ 4206240 w 4867422"/>
              <a:gd name="connsiteY16" fmla="*/ 849560 h 86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867422" h="864195">
                <a:moveTo>
                  <a:pt x="0" y="455665"/>
                </a:moveTo>
                <a:cubicBezTo>
                  <a:pt x="159479" y="359977"/>
                  <a:pt x="65829" y="405944"/>
                  <a:pt x="393895" y="343123"/>
                </a:cubicBezTo>
                <a:cubicBezTo>
                  <a:pt x="726430" y="279446"/>
                  <a:pt x="669859" y="290706"/>
                  <a:pt x="956603" y="272785"/>
                </a:cubicBezTo>
                <a:lnTo>
                  <a:pt x="1252025" y="230582"/>
                </a:lnTo>
                <a:cubicBezTo>
                  <a:pt x="1340921" y="219470"/>
                  <a:pt x="1431011" y="217583"/>
                  <a:pt x="1519311" y="202446"/>
                </a:cubicBezTo>
                <a:cubicBezTo>
                  <a:pt x="1935691" y="131067"/>
                  <a:pt x="1579287" y="170447"/>
                  <a:pt x="1885071" y="103972"/>
                </a:cubicBezTo>
                <a:cubicBezTo>
                  <a:pt x="2076855" y="62280"/>
                  <a:pt x="2209969" y="70156"/>
                  <a:pt x="2419643" y="61769"/>
                </a:cubicBezTo>
                <a:cubicBezTo>
                  <a:pt x="3291057" y="-25371"/>
                  <a:pt x="3157899" y="-24112"/>
                  <a:pt x="4712677" y="89905"/>
                </a:cubicBezTo>
                <a:cubicBezTo>
                  <a:pt x="4758974" y="93300"/>
                  <a:pt x="4778326" y="155554"/>
                  <a:pt x="4811151" y="188379"/>
                </a:cubicBezTo>
                <a:cubicBezTo>
                  <a:pt x="4820529" y="216514"/>
                  <a:pt x="4828272" y="245249"/>
                  <a:pt x="4839286" y="272785"/>
                </a:cubicBezTo>
                <a:cubicBezTo>
                  <a:pt x="4847074" y="292256"/>
                  <a:pt x="4867422" y="308085"/>
                  <a:pt x="4867422" y="329056"/>
                </a:cubicBezTo>
                <a:cubicBezTo>
                  <a:pt x="4867422" y="484675"/>
                  <a:pt x="4863219" y="592781"/>
                  <a:pt x="4811151" y="722951"/>
                </a:cubicBezTo>
                <a:cubicBezTo>
                  <a:pt x="4793386" y="767364"/>
                  <a:pt x="4776474" y="803342"/>
                  <a:pt x="4726745" y="821425"/>
                </a:cubicBezTo>
                <a:cubicBezTo>
                  <a:pt x="4695583" y="832756"/>
                  <a:pt x="4661096" y="830803"/>
                  <a:pt x="4628271" y="835492"/>
                </a:cubicBezTo>
                <a:cubicBezTo>
                  <a:pt x="4595446" y="844871"/>
                  <a:pt x="4563912" y="862364"/>
                  <a:pt x="4529797" y="863628"/>
                </a:cubicBezTo>
                <a:cubicBezTo>
                  <a:pt x="4435960" y="867104"/>
                  <a:pt x="4342256" y="853639"/>
                  <a:pt x="4248443" y="849560"/>
                </a:cubicBezTo>
                <a:cubicBezTo>
                  <a:pt x="4234389" y="848949"/>
                  <a:pt x="4220308" y="849560"/>
                  <a:pt x="4206240" y="849560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B3B93769-A264-4F51-8AFB-231CFE9D29A6}"/>
              </a:ext>
            </a:extLst>
          </p:cNvPr>
          <p:cNvSpPr/>
          <p:nvPr/>
        </p:nvSpPr>
        <p:spPr>
          <a:xfrm>
            <a:off x="4332849" y="3024554"/>
            <a:ext cx="2082019" cy="1041009"/>
          </a:xfrm>
          <a:custGeom>
            <a:avLst/>
            <a:gdLst>
              <a:gd name="connsiteX0" fmla="*/ 0 w 2082019"/>
              <a:gd name="connsiteY0" fmla="*/ 1041009 h 1041009"/>
              <a:gd name="connsiteX1" fmla="*/ 112542 w 2082019"/>
              <a:gd name="connsiteY1" fmla="*/ 1026941 h 1041009"/>
              <a:gd name="connsiteX2" fmla="*/ 506437 w 2082019"/>
              <a:gd name="connsiteY2" fmla="*/ 942535 h 1041009"/>
              <a:gd name="connsiteX3" fmla="*/ 717453 w 2082019"/>
              <a:gd name="connsiteY3" fmla="*/ 815926 h 1041009"/>
              <a:gd name="connsiteX4" fmla="*/ 773723 w 2082019"/>
              <a:gd name="connsiteY4" fmla="*/ 773723 h 1041009"/>
              <a:gd name="connsiteX5" fmla="*/ 928468 w 2082019"/>
              <a:gd name="connsiteY5" fmla="*/ 675249 h 1041009"/>
              <a:gd name="connsiteX6" fmla="*/ 1055077 w 2082019"/>
              <a:gd name="connsiteY6" fmla="*/ 618978 h 1041009"/>
              <a:gd name="connsiteX7" fmla="*/ 1252025 w 2082019"/>
              <a:gd name="connsiteY7" fmla="*/ 520504 h 1041009"/>
              <a:gd name="connsiteX8" fmla="*/ 1308296 w 2082019"/>
              <a:gd name="connsiteY8" fmla="*/ 492369 h 1041009"/>
              <a:gd name="connsiteX9" fmla="*/ 1547446 w 2082019"/>
              <a:gd name="connsiteY9" fmla="*/ 309489 h 1041009"/>
              <a:gd name="connsiteX10" fmla="*/ 1645920 w 2082019"/>
              <a:gd name="connsiteY10" fmla="*/ 253218 h 1041009"/>
              <a:gd name="connsiteX11" fmla="*/ 1842868 w 2082019"/>
              <a:gd name="connsiteY11" fmla="*/ 112541 h 1041009"/>
              <a:gd name="connsiteX12" fmla="*/ 1913206 w 2082019"/>
              <a:gd name="connsiteY12" fmla="*/ 28135 h 1041009"/>
              <a:gd name="connsiteX13" fmla="*/ 2039816 w 2082019"/>
              <a:gd name="connsiteY13" fmla="*/ 14068 h 1041009"/>
              <a:gd name="connsiteX14" fmla="*/ 2082019 w 2082019"/>
              <a:gd name="connsiteY14" fmla="*/ 0 h 104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2019" h="1041009">
                <a:moveTo>
                  <a:pt x="0" y="1041009"/>
                </a:moveTo>
                <a:cubicBezTo>
                  <a:pt x="37514" y="1036320"/>
                  <a:pt x="75325" y="1033587"/>
                  <a:pt x="112542" y="1026941"/>
                </a:cubicBezTo>
                <a:cubicBezTo>
                  <a:pt x="336049" y="987029"/>
                  <a:pt x="339828" y="984188"/>
                  <a:pt x="506437" y="942535"/>
                </a:cubicBezTo>
                <a:cubicBezTo>
                  <a:pt x="730009" y="782842"/>
                  <a:pt x="474246" y="957797"/>
                  <a:pt x="717453" y="815926"/>
                </a:cubicBezTo>
                <a:cubicBezTo>
                  <a:pt x="737705" y="804112"/>
                  <a:pt x="754215" y="786728"/>
                  <a:pt x="773723" y="773723"/>
                </a:cubicBezTo>
                <a:cubicBezTo>
                  <a:pt x="824595" y="739808"/>
                  <a:pt x="874896" y="704714"/>
                  <a:pt x="928468" y="675249"/>
                </a:cubicBezTo>
                <a:cubicBezTo>
                  <a:pt x="968935" y="652992"/>
                  <a:pt x="1013413" y="638904"/>
                  <a:pt x="1055077" y="618978"/>
                </a:cubicBezTo>
                <a:cubicBezTo>
                  <a:pt x="1121292" y="587310"/>
                  <a:pt x="1186376" y="553329"/>
                  <a:pt x="1252025" y="520504"/>
                </a:cubicBezTo>
                <a:cubicBezTo>
                  <a:pt x="1270782" y="511126"/>
                  <a:pt x="1291638" y="505108"/>
                  <a:pt x="1308296" y="492369"/>
                </a:cubicBezTo>
                <a:cubicBezTo>
                  <a:pt x="1388013" y="431409"/>
                  <a:pt x="1460315" y="359278"/>
                  <a:pt x="1547446" y="309489"/>
                </a:cubicBezTo>
                <a:cubicBezTo>
                  <a:pt x="1580271" y="290732"/>
                  <a:pt x="1614464" y="274189"/>
                  <a:pt x="1645920" y="253218"/>
                </a:cubicBezTo>
                <a:cubicBezTo>
                  <a:pt x="1713047" y="208467"/>
                  <a:pt x="1842868" y="112541"/>
                  <a:pt x="1842868" y="112541"/>
                </a:cubicBezTo>
                <a:cubicBezTo>
                  <a:pt x="1855739" y="93235"/>
                  <a:pt x="1889995" y="35872"/>
                  <a:pt x="1913206" y="28135"/>
                </a:cubicBezTo>
                <a:cubicBezTo>
                  <a:pt x="1953490" y="14707"/>
                  <a:pt x="1997931" y="21049"/>
                  <a:pt x="2039816" y="14068"/>
                </a:cubicBezTo>
                <a:cubicBezTo>
                  <a:pt x="2054443" y="11630"/>
                  <a:pt x="2067951" y="4689"/>
                  <a:pt x="2082019" y="0"/>
                </a:cubicBezTo>
              </a:path>
            </a:pathLst>
          </a:cu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BF8BB-A443-4F84-B516-D1A1F7204DB0}"/>
              </a:ext>
            </a:extLst>
          </p:cNvPr>
          <p:cNvSpPr txBox="1"/>
          <p:nvPr/>
        </p:nvSpPr>
        <p:spPr>
          <a:xfrm>
            <a:off x="3778898" y="2773162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GPIO4</a:t>
            </a:r>
            <a:endParaRPr lang="ko-KR" altLang="en-US" b="1" dirty="0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573E64-D482-416A-ABC8-774DFA8E1CCD}"/>
              </a:ext>
            </a:extLst>
          </p:cNvPr>
          <p:cNvSpPr txBox="1"/>
          <p:nvPr/>
        </p:nvSpPr>
        <p:spPr>
          <a:xfrm>
            <a:off x="4394581" y="4024397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GPIO18</a:t>
            </a:r>
            <a:endParaRPr lang="ko-KR" altLang="en-US" b="1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2CCF6F-AAE4-4728-B63B-3831BB401ED1}"/>
              </a:ext>
            </a:extLst>
          </p:cNvPr>
          <p:cNvSpPr txBox="1"/>
          <p:nvPr/>
        </p:nvSpPr>
        <p:spPr>
          <a:xfrm>
            <a:off x="4394581" y="433616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GPIO12</a:t>
            </a:r>
            <a:endParaRPr lang="ko-KR" altLang="en-US" b="1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3033D4-2A2F-49BE-A550-85C3E9296F5D}"/>
              </a:ext>
            </a:extLst>
          </p:cNvPr>
          <p:cNvSpPr txBox="1"/>
          <p:nvPr/>
        </p:nvSpPr>
        <p:spPr>
          <a:xfrm>
            <a:off x="4372138" y="4653865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GPIO13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176746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AD8C-B27D-4B6F-8B6B-17E3BB61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34382F2-9438-451E-A989-A3BF998505E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400" b="1" dirty="0">
                <a:solidFill>
                  <a:schemeClr val="tx1"/>
                </a:solidFill>
                <a:sym typeface="Wingdings" panose="05000000000000000000" pitchFamily="2" charset="2"/>
              </a:rPr>
              <a:t>개발 환경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9BE25E-D4DA-41FA-BE67-0C0F106128C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LED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Control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 </a:t>
            </a:r>
            <a:endParaRPr lang="ko-KR" alt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69BEB-A45E-4EED-BAE7-B03D5467FA42}"/>
              </a:ext>
            </a:extLst>
          </p:cNvPr>
          <p:cNvSpPr txBox="1"/>
          <p:nvPr/>
        </p:nvSpPr>
        <p:spPr>
          <a:xfrm>
            <a:off x="464234" y="1209822"/>
            <a:ext cx="7194534" cy="16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Window  </a:t>
            </a:r>
            <a:r>
              <a:rPr lang="ko-KR" altLang="en-US" sz="2000" dirty="0"/>
              <a:t>환경에서 </a:t>
            </a:r>
            <a:r>
              <a:rPr lang="en-US" altLang="ko-KR" sz="2000" dirty="0"/>
              <a:t>Designer </a:t>
            </a:r>
            <a:r>
              <a:rPr lang="ko-KR" altLang="en-US" sz="2000" dirty="0"/>
              <a:t>로 </a:t>
            </a:r>
            <a:r>
              <a:rPr lang="en-US" altLang="ko-KR" sz="2000" dirty="0"/>
              <a:t>GUI  </a:t>
            </a:r>
            <a:r>
              <a:rPr lang="ko-KR" altLang="en-US" sz="2000" dirty="0"/>
              <a:t>디자인</a:t>
            </a:r>
            <a:r>
              <a:rPr lang="en-US" altLang="ko-KR" sz="2000" dirty="0"/>
              <a:t>  </a:t>
            </a:r>
          </a:p>
          <a:p>
            <a:pPr marL="28575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.</a:t>
            </a:r>
            <a:r>
              <a:rPr lang="en-US" altLang="ko-KR" sz="2000" dirty="0" err="1"/>
              <a:t>ui</a:t>
            </a:r>
            <a:r>
              <a:rPr lang="en-US" altLang="ko-KR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 .</a:t>
            </a:r>
            <a:r>
              <a:rPr lang="en-US" altLang="ko-KR" sz="2000" dirty="0" err="1">
                <a:sym typeface="Wingdings" panose="05000000000000000000" pitchFamily="2" charset="2"/>
              </a:rPr>
              <a:t>py</a:t>
            </a:r>
            <a:r>
              <a:rPr lang="en-US" altLang="ko-KR" sz="2000" dirty="0"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ym typeface="Wingdings" panose="05000000000000000000" pitchFamily="2" charset="2"/>
              </a:rPr>
              <a:t>로 변환하여 </a:t>
            </a:r>
            <a:r>
              <a:rPr lang="en-US" altLang="ko-KR" sz="2000" dirty="0">
                <a:sym typeface="Wingdings" panose="05000000000000000000" pitchFamily="2" charset="2"/>
              </a:rPr>
              <a:t>Raspberry pi </a:t>
            </a:r>
            <a:r>
              <a:rPr lang="ko-KR" altLang="en-US" sz="2000" dirty="0">
                <a:sym typeface="Wingdings" panose="05000000000000000000" pitchFamily="2" charset="2"/>
              </a:rPr>
              <a:t>로 전송 </a:t>
            </a:r>
            <a:r>
              <a:rPr lang="en-US" altLang="ko-KR" sz="2000" dirty="0">
                <a:sym typeface="Wingdings" panose="05000000000000000000" pitchFamily="2" charset="2"/>
              </a:rPr>
              <a:t>(vs code </a:t>
            </a:r>
            <a:r>
              <a:rPr lang="ko-KR" altLang="en-US" sz="2000" dirty="0">
                <a:sym typeface="Wingdings" panose="05000000000000000000" pitchFamily="2" charset="2"/>
              </a:rPr>
              <a:t>에서 가능</a:t>
            </a:r>
            <a:r>
              <a:rPr lang="en-US" altLang="ko-KR" sz="2000" dirty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VS code</a:t>
            </a:r>
            <a:r>
              <a:rPr lang="ko-KR" altLang="en-US" sz="2000" dirty="0"/>
              <a:t>에서  </a:t>
            </a:r>
            <a:r>
              <a:rPr lang="en-US" altLang="ko-KR" sz="2000" dirty="0"/>
              <a:t>xxxRun.py </a:t>
            </a:r>
            <a:r>
              <a:rPr lang="ko-KR" altLang="en-US" sz="2000" dirty="0"/>
              <a:t> 코딩하여 </a:t>
            </a:r>
            <a:r>
              <a:rPr lang="en-US" altLang="ko-KR" sz="2000" dirty="0"/>
              <a:t>Rpi </a:t>
            </a:r>
            <a:r>
              <a:rPr lang="ko-KR" altLang="en-US" sz="2000" dirty="0"/>
              <a:t>로 전송</a:t>
            </a:r>
            <a:endParaRPr lang="en-US" altLang="ko-KR" sz="2000" dirty="0"/>
          </a:p>
          <a:p>
            <a:pPr marL="28575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Window VNC </a:t>
            </a:r>
            <a:r>
              <a:rPr lang="ko-KR" altLang="en-US" sz="2000" dirty="0"/>
              <a:t>프로그램 실행하여 </a:t>
            </a:r>
            <a:r>
              <a:rPr lang="en-US" altLang="ko-KR" sz="2000" dirty="0"/>
              <a:t>xxxRun.py</a:t>
            </a:r>
            <a:r>
              <a:rPr lang="ko-KR" altLang="en-US" sz="2000" dirty="0"/>
              <a:t> 실행</a:t>
            </a:r>
          </a:p>
        </p:txBody>
      </p:sp>
    </p:spTree>
    <p:extLst>
      <p:ext uri="{BB962C8B-B14F-4D97-AF65-F5344CB8AC3E}">
        <p14:creationId xmlns:p14="http://schemas.microsoft.com/office/powerpoint/2010/main" val="12344330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AD8C-B27D-4B6F-8B6B-17E3BB61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34382F2-9438-451E-A989-A3BF998505EF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400" b="1" dirty="0">
                <a:solidFill>
                  <a:schemeClr val="tx1"/>
                </a:solidFill>
                <a:sym typeface="Wingdings" panose="05000000000000000000" pitchFamily="2" charset="2"/>
              </a:rPr>
              <a:t>designer  led3cGUI.ui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9BE25E-D4DA-41FA-BE67-0C0F106128C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LED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Control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 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D11AC-CF19-478C-A234-EAAE18DC8A34}"/>
              </a:ext>
            </a:extLst>
          </p:cNvPr>
          <p:cNvSpPr txBox="1"/>
          <p:nvPr/>
        </p:nvSpPr>
        <p:spPr>
          <a:xfrm>
            <a:off x="5058700" y="968705"/>
            <a:ext cx="1744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chemeClr val="accent2">
                    <a:lumMod val="75000"/>
                  </a:schemeClr>
                </a:solidFill>
              </a:rPr>
              <a:t>objectName</a:t>
            </a:r>
            <a:endParaRPr lang="ko-KR" alt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F8256-BD93-440D-AACF-ACBEBCCBE26D}"/>
              </a:ext>
            </a:extLst>
          </p:cNvPr>
          <p:cNvSpPr txBox="1"/>
          <p:nvPr/>
        </p:nvSpPr>
        <p:spPr>
          <a:xfrm>
            <a:off x="1131392" y="4165421"/>
            <a:ext cx="5020926" cy="144937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led2cGUI.ui   </a:t>
            </a:r>
            <a:r>
              <a:rPr lang="ko-KR" altLang="en-US" b="1" dirty="0">
                <a:latin typeface="+mn-ea"/>
              </a:rPr>
              <a:t>로 저장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ts val="37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.</a:t>
            </a:r>
            <a:r>
              <a:rPr lang="en-US" altLang="ko-KR" b="1" dirty="0" err="1">
                <a:latin typeface="+mn-ea"/>
              </a:rPr>
              <a:t>ui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 .</a:t>
            </a:r>
            <a:r>
              <a:rPr lang="en-US" altLang="ko-KR" b="1" dirty="0" err="1">
                <a:latin typeface="+mn-ea"/>
                <a:sym typeface="Wingdings" panose="05000000000000000000" pitchFamily="2" charset="2"/>
              </a:rPr>
              <a:t>py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b="1" dirty="0">
                <a:latin typeface="+mn-ea"/>
                <a:sym typeface="Wingdings" panose="05000000000000000000" pitchFamily="2" charset="2"/>
              </a:rPr>
              <a:t>변환</a:t>
            </a:r>
            <a:endParaRPr lang="en-US" altLang="ko-KR" b="1" dirty="0">
              <a:latin typeface="+mn-ea"/>
            </a:endParaRPr>
          </a:p>
          <a:p>
            <a:pPr>
              <a:lnSpc>
                <a:spcPts val="3700"/>
              </a:lnSpc>
            </a:pPr>
            <a:r>
              <a:rPr lang="en-US" altLang="ko-KR" b="1" dirty="0">
                <a:latin typeface="+mn-ea"/>
              </a:rPr>
              <a:t>   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  </a:t>
            </a:r>
            <a:r>
              <a:rPr lang="en-US" altLang="ko-KR" b="1" dirty="0">
                <a:latin typeface="+mn-ea"/>
              </a:rPr>
              <a:t>pyuic5 –x led3cGUI.ui –o led3cGUI.py</a:t>
            </a:r>
            <a:endParaRPr lang="ko-KR" altLang="en-US" b="1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962F624-F0C4-4121-BF2C-DF0747865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92" y="968705"/>
            <a:ext cx="3077004" cy="30293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DA6496-982F-4321-AAE0-6C7F54811F34}"/>
              </a:ext>
            </a:extLst>
          </p:cNvPr>
          <p:cNvSpPr txBox="1"/>
          <p:nvPr/>
        </p:nvSpPr>
        <p:spPr>
          <a:xfrm>
            <a:off x="4488224" y="1523626"/>
            <a:ext cx="2314864" cy="2360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altLang="ko-KR" sz="2000" dirty="0">
                <a:solidFill>
                  <a:srgbClr val="0000FF"/>
                </a:solidFill>
                <a:latin typeface="+mn-ea"/>
              </a:rPr>
              <a:t>btnRed</a:t>
            </a:r>
          </a:p>
          <a:p>
            <a:pPr>
              <a:lnSpc>
                <a:spcPts val="4600"/>
              </a:lnSpc>
            </a:pPr>
            <a:r>
              <a:rPr lang="en-US" altLang="ko-KR" sz="2000" dirty="0" err="1">
                <a:solidFill>
                  <a:srgbClr val="0000FF"/>
                </a:solidFill>
                <a:latin typeface="+mn-ea"/>
              </a:rPr>
              <a:t>btnGreen</a:t>
            </a:r>
            <a:endParaRPr lang="en-US" altLang="ko-KR" sz="200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4600"/>
              </a:lnSpc>
            </a:pPr>
            <a:r>
              <a:rPr lang="en-US" altLang="ko-KR" sz="2000" dirty="0" err="1">
                <a:solidFill>
                  <a:srgbClr val="0000FF"/>
                </a:solidFill>
                <a:latin typeface="+mn-ea"/>
              </a:rPr>
              <a:t>btnBlue</a:t>
            </a:r>
            <a:endParaRPr lang="en-US" altLang="ko-KR" sz="2000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4600"/>
              </a:lnSpc>
            </a:pPr>
            <a:r>
              <a:rPr lang="en-US" altLang="ko-KR" sz="2000" dirty="0" err="1">
                <a:solidFill>
                  <a:srgbClr val="0000FF"/>
                </a:solidFill>
                <a:latin typeface="+mn-ea"/>
              </a:rPr>
              <a:t>btnAllon</a:t>
            </a:r>
            <a:r>
              <a:rPr lang="en-US" altLang="ko-KR" sz="2000" dirty="0">
                <a:solidFill>
                  <a:srgbClr val="0000FF"/>
                </a:solidFill>
                <a:latin typeface="+mn-ea"/>
              </a:rPr>
              <a:t>, </a:t>
            </a:r>
            <a:r>
              <a:rPr lang="en-US" altLang="ko-KR" sz="2000" dirty="0" err="1">
                <a:solidFill>
                  <a:srgbClr val="0000FF"/>
                </a:solidFill>
                <a:latin typeface="+mn-ea"/>
              </a:rPr>
              <a:t>btnAlloff</a:t>
            </a:r>
            <a:endParaRPr lang="ko-KR" altLang="en-US" sz="20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9DCC3-FEF9-40A5-84C7-DDFAF520D003}"/>
              </a:ext>
            </a:extLst>
          </p:cNvPr>
          <p:cNvSpPr txBox="1"/>
          <p:nvPr/>
        </p:nvSpPr>
        <p:spPr>
          <a:xfrm>
            <a:off x="1131392" y="5914663"/>
            <a:ext cx="465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code</a:t>
            </a:r>
            <a:r>
              <a:rPr lang="ko-KR" altLang="en-US" dirty="0"/>
              <a:t>에서 버튼 누르면 색이 변하도록 적용</a:t>
            </a:r>
          </a:p>
        </p:txBody>
      </p:sp>
    </p:spTree>
    <p:extLst>
      <p:ext uri="{BB962C8B-B14F-4D97-AF65-F5344CB8AC3E}">
        <p14:creationId xmlns:p14="http://schemas.microsoft.com/office/powerpoint/2010/main" val="15188091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AE56-2531-0AB2-CD16-37EBA421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4DDD9D-C37A-87DF-297D-BE1BC55E6C2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통신 프로토콜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A21FBD-E8F5-0F88-43DB-35D4ECDAF4C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400" b="1"/>
              <a:t>LED</a:t>
            </a:r>
            <a:r>
              <a:rPr lang="ko-KR" altLang="en-US" sz="2400" b="1"/>
              <a:t> </a:t>
            </a:r>
            <a:r>
              <a:rPr lang="en-US" altLang="ko-KR" sz="2400" b="1"/>
              <a:t>Control</a:t>
            </a:r>
            <a:r>
              <a:rPr lang="ko-KR" altLang="en-US" sz="2400" b="1"/>
              <a:t> </a:t>
            </a:r>
            <a:r>
              <a:rPr lang="en-US" altLang="ko-KR" sz="2400" b="1"/>
              <a:t> 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A22F8B-9F23-4928-BD92-0590D49A5894}"/>
              </a:ext>
            </a:extLst>
          </p:cNvPr>
          <p:cNvSpPr txBox="1"/>
          <p:nvPr/>
        </p:nvSpPr>
        <p:spPr>
          <a:xfrm>
            <a:off x="360751" y="1073668"/>
            <a:ext cx="9623509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2400" b="1" dirty="0"/>
              <a:t>| SOF(0xAA) | LEN | </a:t>
            </a:r>
            <a:r>
              <a:rPr lang="en-US" altLang="ko-KR" sz="2400" b="1" dirty="0"/>
              <a:t>LED No.</a:t>
            </a:r>
            <a:r>
              <a:rPr lang="ko-KR" altLang="en-US" sz="2400" b="1" dirty="0"/>
              <a:t> | </a:t>
            </a:r>
            <a:r>
              <a:rPr lang="en-US" altLang="ko-KR" sz="2400" b="1" dirty="0"/>
              <a:t>Value</a:t>
            </a:r>
            <a:r>
              <a:rPr lang="ko-KR" altLang="en-US" sz="2400" b="1" dirty="0"/>
              <a:t> | CRC16(LSB) | CRC16(MSB) |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2630AC-CB08-4BDA-9B18-5072070B7067}"/>
              </a:ext>
            </a:extLst>
          </p:cNvPr>
          <p:cNvSpPr txBox="1"/>
          <p:nvPr/>
        </p:nvSpPr>
        <p:spPr>
          <a:xfrm>
            <a:off x="471962" y="1809395"/>
            <a:ext cx="8439665" cy="34512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SOF=0xAA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LEN= CMD+PAYLOAD </a:t>
            </a:r>
            <a:r>
              <a:rPr lang="ko-KR" altLang="en-US" dirty="0">
                <a:latin typeface="+mn-ea"/>
              </a:rPr>
              <a:t>길이 </a:t>
            </a:r>
            <a:r>
              <a:rPr lang="en-US" altLang="ko-KR" dirty="0">
                <a:latin typeface="+mn-ea"/>
              </a:rPr>
              <a:t>(CRC </a:t>
            </a:r>
            <a:r>
              <a:rPr lang="ko-KR" altLang="en-US" dirty="0">
                <a:latin typeface="+mn-ea"/>
              </a:rPr>
              <a:t>미포함</a:t>
            </a:r>
            <a:r>
              <a:rPr lang="en-US" altLang="ko-KR" dirty="0">
                <a:latin typeface="+mn-ea"/>
              </a:rPr>
              <a:t>)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LED No.:</a:t>
            </a:r>
          </a:p>
          <a:p>
            <a:pPr marL="0" lvl="1">
              <a:lnSpc>
                <a:spcPts val="2400"/>
              </a:lnSpc>
            </a:pPr>
            <a:r>
              <a:rPr lang="en-US" altLang="ko-KR" dirty="0">
                <a:latin typeface="+mn-ea"/>
              </a:rPr>
              <a:t>  - 0x01: Red,  0x02 : Green, 0x03 : Blue, 0x0F: All</a:t>
            </a:r>
          </a:p>
          <a:p>
            <a:pPr marL="2857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Value : 0~0x64 (0=off)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CRC16-IBM</a:t>
            </a:r>
            <a:r>
              <a:rPr lang="en-US" altLang="ko-KR" dirty="0">
                <a:latin typeface="+mn-ea"/>
              </a:rPr>
              <a:t>(poly 0xA001, </a:t>
            </a:r>
            <a:r>
              <a:rPr lang="en-US" altLang="ko-KR" dirty="0" err="1">
                <a:latin typeface="+mn-ea"/>
              </a:rPr>
              <a:t>init</a:t>
            </a:r>
            <a:r>
              <a:rPr lang="en-US" altLang="ko-KR" dirty="0">
                <a:latin typeface="+mn-ea"/>
              </a:rPr>
              <a:t> 0xFFFF, little-endian)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+mn-ea"/>
            </a:endParaRPr>
          </a:p>
          <a:p>
            <a:pPr indent="185738">
              <a:lnSpc>
                <a:spcPts val="2400"/>
              </a:lnSpc>
              <a:buNone/>
            </a:pPr>
            <a:r>
              <a:rPr lang="ko-KR" altLang="en-US" b="1" dirty="0">
                <a:latin typeface="+mn-ea"/>
              </a:rPr>
              <a:t>예시</a:t>
            </a:r>
            <a:endParaRPr lang="ko-KR" altLang="en-US" dirty="0">
              <a:latin typeface="+mn-ea"/>
            </a:endParaRP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R=ON(100%):</a:t>
            </a:r>
          </a:p>
          <a:p>
            <a:pPr marL="0" lvl="1">
              <a:lnSpc>
                <a:spcPts val="2400"/>
              </a:lnSpc>
            </a:pPr>
            <a:r>
              <a:rPr lang="en-US" altLang="ko-KR" dirty="0">
                <a:latin typeface="+mn-ea"/>
              </a:rPr>
              <a:t>  - TX: AA 02  01 64 &lt;CRC&gt; → </a:t>
            </a:r>
            <a:r>
              <a:rPr lang="ko-KR" altLang="en-US" dirty="0">
                <a:latin typeface="+mn-ea"/>
              </a:rPr>
              <a:t>전체 바이트 기준 </a:t>
            </a:r>
            <a:r>
              <a:rPr lang="en-US" altLang="ko-KR" dirty="0">
                <a:latin typeface="+mn-ea"/>
              </a:rPr>
              <a:t>CRC16 </a:t>
            </a:r>
            <a:r>
              <a:rPr lang="ko-KR" altLang="en-US" dirty="0">
                <a:latin typeface="+mn-ea"/>
              </a:rPr>
              <a:t>계산</a:t>
            </a:r>
          </a:p>
          <a:p>
            <a:pPr marL="0" lvl="1">
              <a:lnSpc>
                <a:spcPts val="2400"/>
              </a:lnSpc>
            </a:pPr>
            <a:r>
              <a:rPr lang="en-US" altLang="ko-KR" dirty="0">
                <a:latin typeface="+mn-ea"/>
              </a:rPr>
              <a:t>  - RX: AA 03  64 00 00 &lt;CRC&gt; (</a:t>
            </a:r>
            <a:r>
              <a:rPr lang="ko-KR" altLang="en-US" dirty="0">
                <a:latin typeface="+mn-ea"/>
              </a:rPr>
              <a:t>응답</a:t>
            </a:r>
            <a:r>
              <a:rPr lang="en-US" altLang="ko-KR" dirty="0">
                <a:latin typeface="+mn-ea"/>
              </a:rPr>
              <a:t>: OK, </a:t>
            </a:r>
            <a:r>
              <a:rPr lang="ko-KR" altLang="en-US" dirty="0">
                <a:latin typeface="+mn-ea"/>
              </a:rPr>
              <a:t>현재 </a:t>
            </a:r>
            <a:r>
              <a:rPr lang="en-US" altLang="ko-KR" dirty="0">
                <a:latin typeface="+mn-ea"/>
              </a:rPr>
              <a:t>RGB=100%, 0, 0 </a:t>
            </a:r>
            <a:r>
              <a:rPr lang="ko-KR" altLang="en-US" dirty="0">
                <a:latin typeface="+mn-ea"/>
              </a:rPr>
              <a:t>예시</a:t>
            </a:r>
            <a:r>
              <a:rPr lang="en-US" altLang="ko-KR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89824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AE56-2531-0AB2-CD16-37EBA421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4DDD9D-C37A-87DF-297D-BE1BC55E6C2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400" b="1" dirty="0">
                <a:solidFill>
                  <a:schemeClr val="tx1"/>
                </a:solidFill>
              </a:rPr>
              <a:t>led3cRun.py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A21FBD-E8F5-0F88-43DB-35D4ECDAF4C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LED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Control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 </a:t>
            </a:r>
            <a:endParaRPr lang="ko-KR" altLang="en-US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AAE01E-5F1B-420E-A06F-50EAFA38A2C1}"/>
              </a:ext>
            </a:extLst>
          </p:cNvPr>
          <p:cNvSpPr txBox="1"/>
          <p:nvPr/>
        </p:nvSpPr>
        <p:spPr>
          <a:xfrm>
            <a:off x="5824024" y="1083831"/>
            <a:ext cx="49393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RED </a:t>
            </a:r>
            <a:r>
              <a:rPr lang="ko-KR" altLang="en-US" dirty="0"/>
              <a:t>클릭하면</a:t>
            </a:r>
            <a:br>
              <a:rPr lang="en-US" altLang="ko-KR" dirty="0"/>
            </a:br>
            <a:r>
              <a:rPr lang="en-US" altLang="ko-KR" dirty="0"/>
              <a:t>RED</a:t>
            </a:r>
            <a:r>
              <a:rPr lang="ko-KR" altLang="en-US" dirty="0"/>
              <a:t> 버튼 </a:t>
            </a:r>
            <a:r>
              <a:rPr lang="en-US" altLang="ko-KR" dirty="0"/>
              <a:t>‘RED’ </a:t>
            </a:r>
            <a:r>
              <a:rPr lang="ko-KR" altLang="en-US" dirty="0"/>
              <a:t>로 색 변환 </a:t>
            </a:r>
            <a:r>
              <a:rPr lang="en-US" altLang="ko-KR" dirty="0"/>
              <a:t>(GREEN, BLUE </a:t>
            </a:r>
            <a:r>
              <a:rPr lang="ko-KR" altLang="en-US" dirty="0"/>
              <a:t>동일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All ON </a:t>
            </a:r>
            <a:r>
              <a:rPr lang="ko-KR" altLang="en-US" dirty="0"/>
              <a:t>클릭 </a:t>
            </a:r>
            <a:r>
              <a:rPr lang="en-US" altLang="ko-KR" dirty="0">
                <a:sym typeface="Wingdings" panose="05000000000000000000" pitchFamily="2" charset="2"/>
              </a:rPr>
              <a:t> 3</a:t>
            </a:r>
            <a:r>
              <a:rPr lang="ko-KR" altLang="en-US" dirty="0">
                <a:sym typeface="Wingdings" panose="05000000000000000000" pitchFamily="2" charset="2"/>
              </a:rPr>
              <a:t>색 모두 </a:t>
            </a:r>
            <a:r>
              <a:rPr lang="en-US" altLang="ko-KR" dirty="0">
                <a:sym typeface="Wingdings" panose="05000000000000000000" pitchFamily="2" charset="2"/>
              </a:rPr>
              <a:t>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ym typeface="Wingdings" panose="05000000000000000000" pitchFamily="2" charset="2"/>
              </a:rPr>
              <a:t>All OFF </a:t>
            </a:r>
            <a:r>
              <a:rPr lang="ko-KR" altLang="en-US" dirty="0">
                <a:sym typeface="Wingdings" panose="05000000000000000000" pitchFamily="2" charset="2"/>
              </a:rPr>
              <a:t>클릭 </a:t>
            </a:r>
            <a:r>
              <a:rPr lang="en-US" altLang="ko-KR" dirty="0">
                <a:sym typeface="Wingdings" panose="05000000000000000000" pitchFamily="2" charset="2"/>
              </a:rPr>
              <a:t> 3</a:t>
            </a:r>
            <a:r>
              <a:rPr lang="ko-KR" altLang="en-US" dirty="0">
                <a:sym typeface="Wingdings" panose="05000000000000000000" pitchFamily="2" charset="2"/>
              </a:rPr>
              <a:t>색 모두 </a:t>
            </a:r>
            <a:r>
              <a:rPr lang="en-US" altLang="ko-KR" dirty="0">
                <a:sym typeface="Wingdings" panose="05000000000000000000" pitchFamily="2" charset="2"/>
              </a:rPr>
              <a:t>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Coding</a:t>
            </a:r>
            <a:r>
              <a:rPr lang="ko-KR" altLang="en-US" dirty="0"/>
              <a:t>은 </a:t>
            </a:r>
            <a:r>
              <a:rPr lang="en-US" altLang="ko-KR" dirty="0" err="1"/>
              <a:t>chatgpt</a:t>
            </a:r>
            <a:r>
              <a:rPr lang="en-US" altLang="ko-KR" dirty="0"/>
              <a:t> </a:t>
            </a:r>
            <a:r>
              <a:rPr lang="ko-KR" altLang="en-US" dirty="0"/>
              <a:t>로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F92F906-B5E1-4D6E-8A7F-E0DE86B9F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33" y="1075786"/>
            <a:ext cx="4706007" cy="35247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FF084C-38C1-4A65-9B5A-3A4952488317}"/>
              </a:ext>
            </a:extLst>
          </p:cNvPr>
          <p:cNvSpPr txBox="1"/>
          <p:nvPr/>
        </p:nvSpPr>
        <p:spPr>
          <a:xfrm>
            <a:off x="5824024" y="3142681"/>
            <a:ext cx="5748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한글 폰트 설치되어 있지 않으면 한글 깨져서 표시됨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71C952-62F5-4575-B1B1-747C26886AF5}"/>
              </a:ext>
            </a:extLst>
          </p:cNvPr>
          <p:cNvSpPr txBox="1"/>
          <p:nvPr/>
        </p:nvSpPr>
        <p:spPr>
          <a:xfrm>
            <a:off x="6002898" y="351201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Consolas" panose="020B0609020204030204" pitchFamily="49" charset="0"/>
              </a:rPr>
              <a:t>sudo </a:t>
            </a:r>
            <a:r>
              <a:rPr lang="ko-KR" altLang="en-US" dirty="0" err="1">
                <a:latin typeface="Consolas" panose="020B0609020204030204" pitchFamily="49" charset="0"/>
              </a:rPr>
              <a:t>apt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</a:rPr>
              <a:t>update</a:t>
            </a:r>
            <a:endParaRPr lang="en-US" altLang="ko-KR" dirty="0">
              <a:latin typeface="Consolas" panose="020B0609020204030204" pitchFamily="49" charset="0"/>
            </a:endParaRPr>
          </a:p>
          <a:p>
            <a:r>
              <a:rPr lang="en-US" altLang="ko-KR" dirty="0">
                <a:latin typeface="Consolas" panose="020B0609020204030204" pitchFamily="49" charset="0"/>
              </a:rPr>
              <a:t>sudo apt upgrade</a:t>
            </a:r>
            <a:endParaRPr lang="ko-KR" altLang="en-US" dirty="0">
              <a:latin typeface="Consolas" panose="020B0609020204030204" pitchFamily="49" charset="0"/>
            </a:endParaRPr>
          </a:p>
          <a:p>
            <a:r>
              <a:rPr lang="ko-KR" altLang="en-US" dirty="0">
                <a:latin typeface="Consolas" panose="020B0609020204030204" pitchFamily="49" charset="0"/>
              </a:rPr>
              <a:t>sudo </a:t>
            </a:r>
            <a:r>
              <a:rPr lang="ko-KR" altLang="en-US" dirty="0" err="1">
                <a:latin typeface="Consolas" panose="020B0609020204030204" pitchFamily="49" charset="0"/>
              </a:rPr>
              <a:t>apt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</a:rPr>
              <a:t>install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</a:rPr>
              <a:t>fonts-unfonts-core</a:t>
            </a:r>
            <a:r>
              <a:rPr lang="ko-KR" altLang="en-US" dirty="0"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latin typeface="Consolas" panose="020B0609020204030204" pitchFamily="49" charset="0"/>
              </a:rPr>
              <a:t>fonts-nanum</a:t>
            </a:r>
            <a:endParaRPr lang="ko-KR" altLang="en-US" dirty="0">
              <a:latin typeface="Consolas" panose="020B0609020204030204" pitchFamily="49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8423186-B8C0-4DCD-9A18-F30028FCD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70269"/>
            <a:ext cx="4753638" cy="17242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916895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AE56-2531-0AB2-CD16-37EBA421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4DDD9D-C37A-87DF-297D-BE1BC55E6C2E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led3cRun.py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A21FBD-E8F5-0F88-43DB-35D4ECDAF4C6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LED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Control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 </a:t>
            </a:r>
            <a:endParaRPr lang="ko-KR" altLang="en-US" sz="24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A2CCF3-1B50-48D3-A570-AAD510BA4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18" y="1280064"/>
            <a:ext cx="11644128" cy="1463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F35312-2A29-4471-AF56-B8205317C7ED}"/>
              </a:ext>
            </a:extLst>
          </p:cNvPr>
          <p:cNvSpPr txBox="1"/>
          <p:nvPr/>
        </p:nvSpPr>
        <p:spPr>
          <a:xfrm>
            <a:off x="464234" y="2996418"/>
            <a:ext cx="70359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 err="1"/>
              <a:t>gui</a:t>
            </a:r>
            <a:r>
              <a:rPr lang="en-US" altLang="ko-KR" sz="2400" dirty="0"/>
              <a:t> </a:t>
            </a:r>
            <a:r>
              <a:rPr lang="ko-KR" altLang="en-US" sz="2400" dirty="0"/>
              <a:t>가 포함된 실행파일은 </a:t>
            </a:r>
            <a:r>
              <a:rPr lang="en-US" altLang="ko-KR" sz="2400" dirty="0" err="1"/>
              <a:t>ssh</a:t>
            </a:r>
            <a:r>
              <a:rPr lang="en-US" altLang="ko-KR" sz="2400" dirty="0"/>
              <a:t> </a:t>
            </a:r>
            <a:r>
              <a:rPr lang="ko-KR" altLang="en-US" sz="2400" dirty="0"/>
              <a:t>로 실행이 되지 않음</a:t>
            </a:r>
            <a:endParaRPr lang="en-US" altLang="ko-K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 err="1"/>
              <a:t>vnc</a:t>
            </a:r>
            <a:r>
              <a:rPr lang="ko-KR" altLang="en-US" sz="2400" dirty="0"/>
              <a:t>로 실행</a:t>
            </a:r>
          </a:p>
        </p:txBody>
      </p:sp>
    </p:spTree>
    <p:extLst>
      <p:ext uri="{BB962C8B-B14F-4D97-AF65-F5344CB8AC3E}">
        <p14:creationId xmlns:p14="http://schemas.microsoft.com/office/powerpoint/2010/main" val="39170355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0DF12BC-A266-AA1D-2A2F-0F7A45B30437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en-US" altLang="ko-KR" sz="2000" b="1" dirty="0" err="1">
                <a:solidFill>
                  <a:schemeClr val="tx1"/>
                </a:solidFill>
              </a:rPr>
              <a:t>RealVNC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2DACD5-BBFB-FDF8-DC0C-E920026C23B7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VNC </a:t>
            </a:r>
            <a:r>
              <a:rPr lang="ko-KR" altLang="en-US" sz="2000" b="1" dirty="0"/>
              <a:t>설치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757878-5C67-5583-318E-E8414319D54E}"/>
              </a:ext>
            </a:extLst>
          </p:cNvPr>
          <p:cNvSpPr txBox="1"/>
          <p:nvPr/>
        </p:nvSpPr>
        <p:spPr>
          <a:xfrm>
            <a:off x="245011" y="848068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Download VNC Viewer by </a:t>
            </a:r>
            <a:r>
              <a:rPr lang="en-US" altLang="ko-KR" dirty="0" err="1">
                <a:hlinkClick r:id="rId2"/>
              </a:rPr>
              <a:t>RealVNC</a:t>
            </a:r>
            <a:r>
              <a:rPr lang="en-US" altLang="ko-KR" dirty="0">
                <a:hlinkClick r:id="rId2"/>
              </a:rPr>
              <a:t>®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B3AEE-E453-AD78-6B7A-815DE967B820}"/>
              </a:ext>
            </a:extLst>
          </p:cNvPr>
          <p:cNvSpPr txBox="1"/>
          <p:nvPr/>
        </p:nvSpPr>
        <p:spPr>
          <a:xfrm>
            <a:off x="245011" y="1332162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UltraVNC_1640_x64_Setup.exe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377DDD3-F827-E636-A868-A8991FDC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14" y="1979214"/>
            <a:ext cx="5087060" cy="195289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4BA0CB7-4B42-9207-6D4E-83F8ACA2E5F5}"/>
              </a:ext>
            </a:extLst>
          </p:cNvPr>
          <p:cNvSpPr txBox="1"/>
          <p:nvPr/>
        </p:nvSpPr>
        <p:spPr>
          <a:xfrm>
            <a:off x="5806715" y="1979214"/>
            <a:ext cx="452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윈도우 환경에서 </a:t>
            </a:r>
            <a:r>
              <a:rPr lang="en-US" altLang="ko-KR" dirty="0"/>
              <a:t>raspberry pi </a:t>
            </a:r>
            <a:r>
              <a:rPr lang="ko-KR" altLang="en-US" dirty="0"/>
              <a:t>윈도우 표시됨</a:t>
            </a:r>
          </a:p>
        </p:txBody>
      </p:sp>
    </p:spTree>
    <p:extLst>
      <p:ext uri="{BB962C8B-B14F-4D97-AF65-F5344CB8AC3E}">
        <p14:creationId xmlns:p14="http://schemas.microsoft.com/office/powerpoint/2010/main" val="24222407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E2DACD5-BBFB-FDF8-DC0C-E920026C23B7}"/>
              </a:ext>
            </a:extLst>
          </p:cNvPr>
          <p:cNvSpPr/>
          <p:nvPr/>
        </p:nvSpPr>
        <p:spPr>
          <a:xfrm>
            <a:off x="-1" y="0"/>
            <a:ext cx="4431323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Raspberry pi </a:t>
            </a:r>
            <a:r>
              <a:rPr lang="ko-KR" altLang="en-US" sz="2000" b="1" dirty="0"/>
              <a:t>에 </a:t>
            </a:r>
            <a:r>
              <a:rPr lang="en-US" altLang="ko-KR" sz="2000" b="1" dirty="0"/>
              <a:t>designer </a:t>
            </a:r>
            <a:r>
              <a:rPr lang="ko-KR" altLang="en-US" sz="2000" b="1" dirty="0"/>
              <a:t>직접 설치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32D78-5352-4549-B047-7A6BD65317EA}"/>
              </a:ext>
            </a:extLst>
          </p:cNvPr>
          <p:cNvSpPr txBox="1"/>
          <p:nvPr/>
        </p:nvSpPr>
        <p:spPr>
          <a:xfrm>
            <a:off x="263769" y="924002"/>
            <a:ext cx="80080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sudo </a:t>
            </a:r>
            <a:r>
              <a:rPr lang="ko-KR" altLang="en-US" sz="2000" b="1" dirty="0" err="1"/>
              <a:t>apt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update</a:t>
            </a:r>
            <a:endParaRPr lang="ko-KR" altLang="en-US" sz="2000" b="1" dirty="0"/>
          </a:p>
          <a:p>
            <a:r>
              <a:rPr lang="ko-KR" altLang="en-US" sz="2000" b="1" dirty="0"/>
              <a:t>sudo </a:t>
            </a:r>
            <a:r>
              <a:rPr lang="ko-KR" altLang="en-US" sz="2000" b="1" dirty="0" err="1"/>
              <a:t>apt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install</a:t>
            </a:r>
            <a:r>
              <a:rPr lang="ko-KR" altLang="en-US" sz="2000" b="1" dirty="0"/>
              <a:t> python3-pyqt5 pyqt5-dev-tools qttools5-dev-tools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271F3-E1AD-4851-B20D-D890140D738C}"/>
              </a:ext>
            </a:extLst>
          </p:cNvPr>
          <p:cNvSpPr txBox="1"/>
          <p:nvPr/>
        </p:nvSpPr>
        <p:spPr>
          <a:xfrm>
            <a:off x="263769" y="1924294"/>
            <a:ext cx="4080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실행은 </a:t>
            </a:r>
            <a:r>
              <a:rPr lang="en-US" altLang="ko-KR" dirty="0"/>
              <a:t>terminal </a:t>
            </a:r>
            <a:r>
              <a:rPr lang="ko-KR" altLang="en-US" dirty="0"/>
              <a:t>창에서    </a:t>
            </a:r>
            <a:r>
              <a:rPr lang="en-US" altLang="ko-KR" dirty="0">
                <a:sym typeface="Wingdings" panose="05000000000000000000" pitchFamily="2" charset="2"/>
              </a:rPr>
              <a:t>   </a:t>
            </a:r>
            <a:r>
              <a:rPr lang="en-US" altLang="ko-KR" dirty="0"/>
              <a:t>designer &amp;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7CD0A5-2E5C-4441-A10E-DA55B89FE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438" y="2007408"/>
            <a:ext cx="5451173" cy="55350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45E44D7-FE9C-4BB3-A239-B791A77B0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14" y="2669146"/>
            <a:ext cx="9255492" cy="399273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006135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6998B5E-7744-4817-A0E6-D0709B03C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77" y="1156528"/>
            <a:ext cx="5144218" cy="3048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E4A622-35C1-4C99-8EF5-0A2F64645381}"/>
              </a:ext>
            </a:extLst>
          </p:cNvPr>
          <p:cNvSpPr txBox="1"/>
          <p:nvPr/>
        </p:nvSpPr>
        <p:spPr>
          <a:xfrm>
            <a:off x="6124136" y="1810630"/>
            <a:ext cx="2240100" cy="2173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4200"/>
              </a:lnSpc>
            </a:pPr>
            <a:r>
              <a:rPr lang="en-US" altLang="ko-KR" dirty="0"/>
              <a:t>sliderRed,  </a:t>
            </a:r>
            <a:r>
              <a:rPr lang="en-US" altLang="ko-KR" dirty="0" err="1"/>
              <a:t>lblRed</a:t>
            </a:r>
            <a:endParaRPr lang="en-US" altLang="ko-KR" dirty="0"/>
          </a:p>
          <a:p>
            <a:pPr>
              <a:lnSpc>
                <a:spcPts val="4200"/>
              </a:lnSpc>
            </a:pPr>
            <a:r>
              <a:rPr lang="en-US" altLang="ko-KR" dirty="0" err="1"/>
              <a:t>sliderGreen</a:t>
            </a:r>
            <a:r>
              <a:rPr lang="en-US" altLang="ko-KR" dirty="0"/>
              <a:t>,  </a:t>
            </a:r>
            <a:r>
              <a:rPr lang="en-US" altLang="ko-KR" dirty="0" err="1"/>
              <a:t>lblGreen</a:t>
            </a:r>
            <a:endParaRPr lang="ko-KR" altLang="en-US" dirty="0"/>
          </a:p>
          <a:p>
            <a:pPr>
              <a:lnSpc>
                <a:spcPts val="4200"/>
              </a:lnSpc>
            </a:pPr>
            <a:r>
              <a:rPr lang="en-US" altLang="ko-KR" dirty="0" err="1"/>
              <a:t>sliderBlue</a:t>
            </a:r>
            <a:r>
              <a:rPr lang="en-US" altLang="ko-KR" dirty="0"/>
              <a:t>,  </a:t>
            </a:r>
            <a:r>
              <a:rPr lang="en-US" altLang="ko-KR" dirty="0" err="1"/>
              <a:t>lblBlue</a:t>
            </a:r>
            <a:endParaRPr lang="ko-KR" altLang="en-US" dirty="0"/>
          </a:p>
          <a:p>
            <a:pPr>
              <a:lnSpc>
                <a:spcPts val="4200"/>
              </a:lnSpc>
            </a:pPr>
            <a:r>
              <a:rPr lang="en-US" altLang="ko-KR" dirty="0" err="1"/>
              <a:t>btnSend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BEDF2-7897-415A-8137-9EC89C9378B1}"/>
              </a:ext>
            </a:extLst>
          </p:cNvPr>
          <p:cNvSpPr txBox="1"/>
          <p:nvPr/>
        </p:nvSpPr>
        <p:spPr>
          <a:xfrm>
            <a:off x="6278465" y="1497230"/>
            <a:ext cx="1390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Frame+Label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1C1D6F-96BB-4D43-8E46-19F9C7443D1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화면 정의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designer</a:t>
            </a: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:</a:t>
            </a: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led3cPWMGUI.ui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BBA61-0C85-4D0C-B896-D242311D5F1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 PWM Control</a:t>
            </a:r>
            <a:endParaRPr lang="ko-KR" altLang="en-US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F7C3C-95E9-4EAF-A2DE-AC40F142912E}"/>
              </a:ext>
            </a:extLst>
          </p:cNvPr>
          <p:cNvSpPr txBox="1"/>
          <p:nvPr/>
        </p:nvSpPr>
        <p:spPr>
          <a:xfrm>
            <a:off x="785677" y="4595355"/>
            <a:ext cx="6617312" cy="191238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SOF=0xAA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LEN= CMD+PAYLOAD </a:t>
            </a:r>
            <a:r>
              <a:rPr lang="ko-KR" altLang="en-US" dirty="0">
                <a:latin typeface="+mn-ea"/>
              </a:rPr>
              <a:t>길이 </a:t>
            </a:r>
            <a:r>
              <a:rPr lang="en-US" altLang="ko-KR" dirty="0">
                <a:latin typeface="+mn-ea"/>
              </a:rPr>
              <a:t>(CRC </a:t>
            </a:r>
            <a:r>
              <a:rPr lang="ko-KR" altLang="en-US" dirty="0">
                <a:latin typeface="+mn-ea"/>
              </a:rPr>
              <a:t>미포함</a:t>
            </a:r>
            <a:r>
              <a:rPr lang="en-US" altLang="ko-KR" dirty="0">
                <a:latin typeface="+mn-ea"/>
              </a:rPr>
              <a:t>)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LED No.:</a:t>
            </a:r>
          </a:p>
          <a:p>
            <a:pPr marL="0" lvl="1">
              <a:lnSpc>
                <a:spcPts val="2400"/>
              </a:lnSpc>
            </a:pPr>
            <a:r>
              <a:rPr lang="en-US" altLang="ko-KR" dirty="0">
                <a:latin typeface="+mn-ea"/>
              </a:rPr>
              <a:t>  - 0x01: Red,  0x02 : Green, 0x03 : Blue, 0x0F: All</a:t>
            </a:r>
          </a:p>
          <a:p>
            <a:pPr marL="285750" lvl="1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Value : 0~0x64 (0=off)</a:t>
            </a:r>
          </a:p>
          <a:p>
            <a:pPr indent="185738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+mn-ea"/>
              </a:rPr>
              <a:t>CRC16-IBM</a:t>
            </a:r>
            <a:r>
              <a:rPr lang="en-US" altLang="ko-KR" dirty="0">
                <a:latin typeface="+mn-ea"/>
              </a:rPr>
              <a:t>(poly 0xA001, </a:t>
            </a:r>
            <a:r>
              <a:rPr lang="en-US" altLang="ko-KR" dirty="0" err="1">
                <a:latin typeface="+mn-ea"/>
              </a:rPr>
              <a:t>init</a:t>
            </a:r>
            <a:r>
              <a:rPr lang="en-US" altLang="ko-KR" dirty="0">
                <a:latin typeface="+mn-ea"/>
              </a:rPr>
              <a:t> 0xFFFF, little-endian)</a:t>
            </a:r>
          </a:p>
        </p:txBody>
      </p:sp>
    </p:spTree>
    <p:extLst>
      <p:ext uri="{BB962C8B-B14F-4D97-AF65-F5344CB8AC3E}">
        <p14:creationId xmlns:p14="http://schemas.microsoft.com/office/powerpoint/2010/main" val="24348058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1C1D6F-96BB-4D43-8E46-19F9C7443D1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화면 정의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designer</a:t>
            </a: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 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:</a:t>
            </a:r>
            <a:r>
              <a:rPr lang="ko-KR" altLang="en-US" sz="2000" b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led3cPWMGUI.ui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BBA61-0C85-4D0C-B896-D242311D5F1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 PWM Control</a:t>
            </a:r>
            <a:endParaRPr lang="ko-KR" altLang="en-US" sz="20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71C8F4-8953-4879-B1DF-18A75D3F1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873425"/>
            <a:ext cx="11564964" cy="57824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09BB403-A0A2-4C60-959E-617E213C7374}"/>
              </a:ext>
            </a:extLst>
          </p:cNvPr>
          <p:cNvSpPr/>
          <p:nvPr/>
        </p:nvSpPr>
        <p:spPr>
          <a:xfrm>
            <a:off x="2349661" y="1192192"/>
            <a:ext cx="405114" cy="43983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3FEE2FC4-3A0B-4487-8630-32DD4CFC18B2}"/>
              </a:ext>
            </a:extLst>
          </p:cNvPr>
          <p:cNvSpPr/>
          <p:nvPr/>
        </p:nvSpPr>
        <p:spPr>
          <a:xfrm>
            <a:off x="2442258" y="873425"/>
            <a:ext cx="312517" cy="3187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D8505E03-D9F2-4D18-A946-DC2CC1BBDDE8}"/>
              </a:ext>
            </a:extLst>
          </p:cNvPr>
          <p:cNvSpPr/>
          <p:nvPr/>
        </p:nvSpPr>
        <p:spPr>
          <a:xfrm>
            <a:off x="7421301" y="2345339"/>
            <a:ext cx="312517" cy="3187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32902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1C1D6F-96BB-4D43-8E46-19F9C7443D1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실행 </a:t>
            </a:r>
            <a:r>
              <a:rPr lang="en-US" altLang="ko-KR" sz="2000" b="1" dirty="0">
                <a:solidFill>
                  <a:schemeClr val="tx1"/>
                </a:solidFill>
              </a:rPr>
              <a:t>code :  led3cPWMRun.py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BBA61-0C85-4D0C-B896-D242311D5F1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 PWM Control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429322-D0A0-450A-9882-A20813773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51" y="1053086"/>
            <a:ext cx="6573167" cy="400105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56420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1C1D6F-96BB-4D43-8E46-19F9C7443D1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실행 </a:t>
            </a:r>
            <a:r>
              <a:rPr lang="en-US" altLang="ko-KR" sz="2000" b="1" dirty="0">
                <a:solidFill>
                  <a:schemeClr val="tx1"/>
                </a:solidFill>
              </a:rPr>
              <a:t>code :  led3cPWMRun.py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BBA61-0C85-4D0C-B896-D242311D5F1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 PWM Control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CF3F56-C706-46E7-AFC8-F0C88DE35960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designer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27FE1F-F876-4E76-A8CF-F008DF2ECB6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0D595FF-965B-4DD7-9B7B-CEE19259F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81" y="1222223"/>
            <a:ext cx="5372850" cy="41820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9D4842-0ABB-41C0-BE5C-D83B748BCC37}"/>
              </a:ext>
            </a:extLst>
          </p:cNvPr>
          <p:cNvSpPr txBox="1"/>
          <p:nvPr/>
        </p:nvSpPr>
        <p:spPr>
          <a:xfrm>
            <a:off x="5934567" y="4942390"/>
            <a:ext cx="205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lineTemp</a:t>
            </a:r>
            <a:r>
              <a:rPr lang="en-US" altLang="ko-KR" dirty="0"/>
              <a:t>,  </a:t>
            </a:r>
            <a:r>
              <a:rPr lang="en-US" altLang="ko-KR" dirty="0" err="1"/>
              <a:t>lineHumi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4657E2-5EE4-4F98-8092-621101D1A00A}"/>
              </a:ext>
            </a:extLst>
          </p:cNvPr>
          <p:cNvSpPr txBox="1"/>
          <p:nvPr/>
        </p:nvSpPr>
        <p:spPr>
          <a:xfrm>
            <a:off x="6096000" y="1683657"/>
            <a:ext cx="4697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DHT11 </a:t>
            </a:r>
            <a:r>
              <a:rPr lang="ko-KR" altLang="en-US" dirty="0"/>
              <a:t>온</a:t>
            </a:r>
            <a:r>
              <a:rPr lang="en-US" altLang="ko-KR" dirty="0"/>
              <a:t>/</a:t>
            </a:r>
            <a:r>
              <a:rPr lang="ko-KR" altLang="en-US" dirty="0"/>
              <a:t>습도 데이터를 읽어 표시해보자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76989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1C1D6F-96BB-4D43-8E46-19F9C7443D1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실행 </a:t>
            </a:r>
            <a:r>
              <a:rPr lang="en-US" altLang="ko-KR" sz="2000" b="1" dirty="0">
                <a:solidFill>
                  <a:schemeClr val="tx1"/>
                </a:solidFill>
              </a:rPr>
              <a:t>code :  led3cPWMRun.py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BBA61-0C85-4D0C-B896-D242311D5F1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 PWM Control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CF3F56-C706-46E7-AFC8-F0C88DE35960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dht11 module </a:t>
            </a:r>
            <a:r>
              <a:rPr lang="ko-KR" altLang="en-US" sz="2000" b="1" dirty="0">
                <a:solidFill>
                  <a:schemeClr val="tx1"/>
                </a:solidFill>
              </a:rPr>
              <a:t>설치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27FE1F-F876-4E76-A8CF-F008DF2ECB6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3B76D-192D-497D-BB67-59089B0ADB5C}"/>
              </a:ext>
            </a:extLst>
          </p:cNvPr>
          <p:cNvSpPr txBox="1"/>
          <p:nvPr/>
        </p:nvSpPr>
        <p:spPr>
          <a:xfrm>
            <a:off x="673768" y="1479090"/>
            <a:ext cx="9798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sudo pip3 </a:t>
            </a:r>
            <a:r>
              <a:rPr lang="ko-KR" altLang="en-US" dirty="0" err="1"/>
              <a:t>install</a:t>
            </a:r>
            <a:r>
              <a:rPr lang="ko-KR" altLang="en-US" dirty="0"/>
              <a:t> </a:t>
            </a:r>
            <a:r>
              <a:rPr lang="ko-KR" altLang="en-US" dirty="0" err="1"/>
              <a:t>adafruit-circuitpython-dht</a:t>
            </a:r>
            <a:r>
              <a:rPr lang="ko-KR" altLang="en-US" dirty="0"/>
              <a:t> </a:t>
            </a:r>
            <a:r>
              <a:rPr lang="ko-KR" altLang="en-US" dirty="0" err="1"/>
              <a:t>adafruit-blinka</a:t>
            </a:r>
            <a:r>
              <a:rPr lang="ko-KR" altLang="en-US" dirty="0"/>
              <a:t> --</a:t>
            </a:r>
            <a:r>
              <a:rPr lang="ko-KR" altLang="en-US" dirty="0" err="1"/>
              <a:t>break-system-packages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E1DD0-6C9D-48E2-B397-632C5A94A069}"/>
              </a:ext>
            </a:extLst>
          </p:cNvPr>
          <p:cNvSpPr txBox="1"/>
          <p:nvPr/>
        </p:nvSpPr>
        <p:spPr>
          <a:xfrm>
            <a:off x="356135" y="1106905"/>
            <a:ext cx="3171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가상환경이 아닌 경우 설치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C5545-DA70-4699-A995-29F25F090A8B}"/>
              </a:ext>
            </a:extLst>
          </p:cNvPr>
          <p:cNvSpPr txBox="1"/>
          <p:nvPr/>
        </p:nvSpPr>
        <p:spPr>
          <a:xfrm>
            <a:off x="727690" y="2475872"/>
            <a:ext cx="6102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python</a:t>
            </a:r>
            <a:r>
              <a:rPr lang="ko-KR" altLang="en-US" dirty="0"/>
              <a:t> -</a:t>
            </a:r>
            <a:r>
              <a:rPr lang="ko-KR" altLang="en-US" dirty="0" err="1"/>
              <a:t>m</a:t>
            </a:r>
            <a:r>
              <a:rPr lang="ko-KR" altLang="en-US" dirty="0"/>
              <a:t> pip </a:t>
            </a:r>
            <a:r>
              <a:rPr lang="ko-KR" altLang="en-US" dirty="0" err="1"/>
              <a:t>install</a:t>
            </a:r>
            <a:r>
              <a:rPr lang="ko-KR" altLang="en-US" dirty="0"/>
              <a:t> --</a:t>
            </a:r>
            <a:r>
              <a:rPr lang="ko-KR" altLang="en-US" dirty="0" err="1"/>
              <a:t>upgrade</a:t>
            </a:r>
            <a:r>
              <a:rPr lang="ko-KR" altLang="en-US" dirty="0"/>
              <a:t> pip</a:t>
            </a:r>
          </a:p>
          <a:p>
            <a:r>
              <a:rPr lang="ko-KR" altLang="en-US" dirty="0"/>
              <a:t>pip </a:t>
            </a:r>
            <a:r>
              <a:rPr lang="ko-KR" altLang="en-US" dirty="0" err="1"/>
              <a:t>install</a:t>
            </a:r>
            <a:r>
              <a:rPr lang="ko-KR" altLang="en-US" dirty="0"/>
              <a:t> pyqt5 </a:t>
            </a:r>
            <a:r>
              <a:rPr lang="ko-KR" altLang="en-US" dirty="0" err="1"/>
              <a:t>adafruit-circuitpython-dht</a:t>
            </a:r>
            <a:r>
              <a:rPr lang="ko-KR" altLang="en-US" dirty="0"/>
              <a:t> </a:t>
            </a:r>
            <a:r>
              <a:rPr lang="ko-KR" altLang="en-US" dirty="0" err="1"/>
              <a:t>adafruit-blinka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5177BB-11C8-43C2-A1DC-87922AA3A56B}"/>
              </a:ext>
            </a:extLst>
          </p:cNvPr>
          <p:cNvSpPr txBox="1"/>
          <p:nvPr/>
        </p:nvSpPr>
        <p:spPr>
          <a:xfrm>
            <a:off x="356135" y="2139064"/>
            <a:ext cx="5735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가상환경인 경우 가상 환경 </a:t>
            </a:r>
            <a:r>
              <a:rPr lang="en-US" altLang="ko-KR" dirty="0"/>
              <a:t>activate </a:t>
            </a:r>
            <a:r>
              <a:rPr lang="ko-KR" altLang="en-US" dirty="0"/>
              <a:t>한 상태에서 설치</a:t>
            </a:r>
          </a:p>
        </p:txBody>
      </p:sp>
    </p:spTree>
    <p:extLst>
      <p:ext uri="{BB962C8B-B14F-4D97-AF65-F5344CB8AC3E}">
        <p14:creationId xmlns:p14="http://schemas.microsoft.com/office/powerpoint/2010/main" val="23792261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1C1D6F-96BB-4D43-8E46-19F9C7443D1D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</a:rPr>
              <a:t>실행 </a:t>
            </a:r>
            <a:r>
              <a:rPr lang="en-US" altLang="ko-KR" sz="2000" b="1" dirty="0">
                <a:solidFill>
                  <a:schemeClr val="tx1"/>
                </a:solidFill>
              </a:rPr>
              <a:t>code :  led3cPWMRun.py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BBA61-0C85-4D0C-B896-D242311D5F18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LED PWM Control</a:t>
            </a:r>
            <a:endParaRPr lang="ko-KR" altLang="en-US" sz="20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CF3F56-C706-46E7-AFC8-F0C88DE35960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VS Code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27FE1F-F876-4E76-A8CF-F008DF2ECB6D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580F22-404D-46CE-A75E-0C6EF35F6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0" y="746037"/>
            <a:ext cx="11050542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353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47FCACD-0E57-4084-90F2-A6500ABB2B2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designer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ledDht11Graph.ui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F5730F-851F-43F0-B2FC-BC0E504FBDA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 + Graph</a:t>
            </a:r>
            <a:endParaRPr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489312-4F45-40F7-BE65-0EF0174F9890}"/>
              </a:ext>
            </a:extLst>
          </p:cNvPr>
          <p:cNvSpPr txBox="1"/>
          <p:nvPr/>
        </p:nvSpPr>
        <p:spPr>
          <a:xfrm>
            <a:off x="459720" y="1001300"/>
            <a:ext cx="5913798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+mn-ea"/>
              </a:rPr>
              <a:t>온도</a:t>
            </a:r>
            <a:r>
              <a:rPr lang="en-US" altLang="ko-KR" sz="2400" b="1" dirty="0">
                <a:latin typeface="+mn-ea"/>
              </a:rPr>
              <a:t>, </a:t>
            </a:r>
            <a:r>
              <a:rPr lang="ko-KR" altLang="en-US" sz="2400" b="1" dirty="0">
                <a:latin typeface="+mn-ea"/>
              </a:rPr>
              <a:t>습도 데이터를 그래프로 그려보자</a:t>
            </a:r>
            <a:endParaRPr lang="en-US" altLang="ko-KR" sz="2400" b="1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b="1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latin typeface="+mn-ea"/>
              </a:rPr>
              <a:t>pyqtgraph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모듈 설치</a:t>
            </a:r>
            <a:br>
              <a:rPr lang="en-US" altLang="ko-KR" sz="2000" b="1" dirty="0">
                <a:latin typeface="+mn-ea"/>
              </a:rPr>
            </a:br>
            <a:br>
              <a:rPr lang="en-US" altLang="ko-KR" sz="2000" b="1" dirty="0">
                <a:latin typeface="+mn-ea"/>
              </a:rPr>
            </a:br>
            <a:r>
              <a:rPr lang="en-US" altLang="ko-KR" sz="2000" b="1" dirty="0">
                <a:latin typeface="+mn-ea"/>
              </a:rPr>
              <a:t>- </a:t>
            </a:r>
            <a:r>
              <a:rPr lang="ko-KR" altLang="en-US" sz="2000" b="1" dirty="0">
                <a:latin typeface="+mn-ea"/>
              </a:rPr>
              <a:t>가상 환경 사용</a:t>
            </a:r>
            <a:br>
              <a:rPr lang="en-US" altLang="ko-KR" sz="2000" b="1" dirty="0">
                <a:latin typeface="+mn-ea"/>
              </a:rPr>
            </a:br>
            <a:br>
              <a:rPr lang="en-US" altLang="ko-KR" sz="2000" b="1" dirty="0">
                <a:latin typeface="+mn-ea"/>
              </a:rPr>
            </a:br>
            <a:br>
              <a:rPr lang="en-US" altLang="ko-KR" sz="2000" b="1" dirty="0">
                <a:latin typeface="+mn-ea"/>
              </a:rPr>
            </a:br>
            <a:br>
              <a:rPr lang="en-US" altLang="ko-KR" sz="2000" b="1" dirty="0">
                <a:latin typeface="+mn-ea"/>
              </a:rPr>
            </a:br>
            <a:r>
              <a:rPr lang="en-US" altLang="ko-KR" sz="2000" b="1" dirty="0">
                <a:latin typeface="+mn-ea"/>
              </a:rPr>
              <a:t>- </a:t>
            </a:r>
            <a:r>
              <a:rPr lang="ko-KR" altLang="en-US" sz="2000" b="1" dirty="0">
                <a:latin typeface="+mn-ea"/>
              </a:rPr>
              <a:t>가상 환경이 아닌 경우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F6EBC8-B75D-4495-92F0-6958140D5C96}"/>
              </a:ext>
            </a:extLst>
          </p:cNvPr>
          <p:cNvSpPr txBox="1"/>
          <p:nvPr/>
        </p:nvSpPr>
        <p:spPr>
          <a:xfrm>
            <a:off x="1047983" y="2684757"/>
            <a:ext cx="6103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i="1" dirty="0"/>
              <a:t>pip install </a:t>
            </a:r>
            <a:r>
              <a:rPr lang="en-US" altLang="ko-KR" sz="2800" i="1" dirty="0" err="1"/>
              <a:t>pyqtgraph</a:t>
            </a:r>
            <a:endParaRPr lang="ko-KR" altLang="en-US" sz="28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A14D1-933C-45A3-8F26-E6412997ED95}"/>
              </a:ext>
            </a:extLst>
          </p:cNvPr>
          <p:cNvSpPr txBox="1"/>
          <p:nvPr/>
        </p:nvSpPr>
        <p:spPr>
          <a:xfrm>
            <a:off x="1047983" y="3986733"/>
            <a:ext cx="6103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i="1" dirty="0"/>
              <a:t>sudo </a:t>
            </a:r>
            <a:r>
              <a:rPr lang="ko-KR" altLang="en-US" sz="2800" i="1" dirty="0" err="1"/>
              <a:t>apt</a:t>
            </a:r>
            <a:r>
              <a:rPr lang="ko-KR" altLang="en-US" sz="2800" i="1" dirty="0"/>
              <a:t> </a:t>
            </a:r>
            <a:r>
              <a:rPr lang="ko-KR" altLang="en-US" sz="2800" i="1" dirty="0" err="1"/>
              <a:t>install</a:t>
            </a:r>
            <a:r>
              <a:rPr lang="ko-KR" altLang="en-US" sz="2800" i="1" dirty="0"/>
              <a:t> python3-pyqtgraph</a:t>
            </a:r>
          </a:p>
        </p:txBody>
      </p:sp>
    </p:spTree>
    <p:extLst>
      <p:ext uri="{BB962C8B-B14F-4D97-AF65-F5344CB8AC3E}">
        <p14:creationId xmlns:p14="http://schemas.microsoft.com/office/powerpoint/2010/main" val="39858596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47FCACD-0E57-4084-90F2-A6500ABB2B2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designer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ledDht11Graph.ui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F5730F-851F-43F0-B2FC-BC0E504FBDA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 + Graph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4C4427-50B8-4433-A806-EFD5325BD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35" y="846730"/>
            <a:ext cx="9276466" cy="58020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7B78C1-4349-4509-9F84-31CF10AFB81D}"/>
              </a:ext>
            </a:extLst>
          </p:cNvPr>
          <p:cNvSpPr txBox="1"/>
          <p:nvPr/>
        </p:nvSpPr>
        <p:spPr>
          <a:xfrm>
            <a:off x="9931800" y="1993546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graphicsView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09D9602-B8EB-41C0-B8BE-ECFFAF48F915}"/>
              </a:ext>
            </a:extLst>
          </p:cNvPr>
          <p:cNvCxnSpPr>
            <a:cxnSpLocks/>
          </p:cNvCxnSpPr>
          <p:nvPr/>
        </p:nvCxnSpPr>
        <p:spPr>
          <a:xfrm flipH="1">
            <a:off x="9333402" y="2226337"/>
            <a:ext cx="598398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E36F687-8949-4A89-B0AE-C61F47D5A004}"/>
              </a:ext>
            </a:extLst>
          </p:cNvPr>
          <p:cNvCxnSpPr>
            <a:cxnSpLocks/>
          </p:cNvCxnSpPr>
          <p:nvPr/>
        </p:nvCxnSpPr>
        <p:spPr>
          <a:xfrm flipH="1">
            <a:off x="8455899" y="4602173"/>
            <a:ext cx="1785381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86297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47FCACD-0E57-4084-90F2-A6500ABB2B2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designer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ledDht11Graph.ui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F5730F-851F-43F0-B2FC-BC0E504FBDA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 + Graph</a:t>
            </a:r>
            <a:endParaRPr lang="ko-KR" altLang="en-US" sz="20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90AC97-8BB1-4D89-93EA-846C3F65A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26" y="922473"/>
            <a:ext cx="9669224" cy="5725324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F3A563D-1427-4046-94C6-1C419F972E77}"/>
              </a:ext>
            </a:extLst>
          </p:cNvPr>
          <p:cNvSpPr/>
          <p:nvPr/>
        </p:nvSpPr>
        <p:spPr>
          <a:xfrm>
            <a:off x="6163375" y="5313145"/>
            <a:ext cx="1267326" cy="62993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00F1FA3C-F3DE-4D60-BFB4-D32CF0B3484F}"/>
              </a:ext>
            </a:extLst>
          </p:cNvPr>
          <p:cNvSpPr/>
          <p:nvPr/>
        </p:nvSpPr>
        <p:spPr>
          <a:xfrm rot="5400000">
            <a:off x="7382605" y="5375514"/>
            <a:ext cx="439806" cy="3150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8BD0BDE4-0F81-4F0A-88D2-12E3C17783E6}"/>
              </a:ext>
            </a:extLst>
          </p:cNvPr>
          <p:cNvSpPr/>
          <p:nvPr/>
        </p:nvSpPr>
        <p:spPr>
          <a:xfrm>
            <a:off x="8647113" y="4712368"/>
            <a:ext cx="439806" cy="3150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1C9F7573-2206-4201-A2FA-7A843CC524BE}"/>
              </a:ext>
            </a:extLst>
          </p:cNvPr>
          <p:cNvSpPr/>
          <p:nvPr/>
        </p:nvSpPr>
        <p:spPr>
          <a:xfrm>
            <a:off x="7985449" y="5891894"/>
            <a:ext cx="439806" cy="3150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25917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AF2C-4051-DF55-FEDA-A0860E0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47FCACD-0E57-4084-90F2-A6500ABB2B24}"/>
              </a:ext>
            </a:extLst>
          </p:cNvPr>
          <p:cNvSpPr/>
          <p:nvPr/>
        </p:nvSpPr>
        <p:spPr>
          <a:xfrm>
            <a:off x="3778898" y="1659"/>
            <a:ext cx="8413102" cy="6299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137" indent="-28575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designer </a:t>
            </a:r>
            <a:r>
              <a:rPr lang="en-US" altLang="ko-KR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ledDht11GraphRun.py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F5730F-851F-43F0-B2FC-BC0E504FBDAC}"/>
              </a:ext>
            </a:extLst>
          </p:cNvPr>
          <p:cNvSpPr/>
          <p:nvPr/>
        </p:nvSpPr>
        <p:spPr>
          <a:xfrm>
            <a:off x="0" y="0"/>
            <a:ext cx="3778898" cy="631596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2913" indent="-263525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DHT11 </a:t>
            </a:r>
            <a:r>
              <a:rPr lang="ko-KR" altLang="en-US" sz="2000" b="1" dirty="0"/>
              <a:t>온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습도 </a:t>
            </a:r>
            <a:r>
              <a:rPr lang="en-US" altLang="ko-KR" sz="2000" b="1" dirty="0"/>
              <a:t>I/F + Graph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99EA91-D1CC-433E-8CFC-E9EF0343C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51" y="867615"/>
            <a:ext cx="11250595" cy="5420481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70423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E50EF-3C1E-E72E-C0A2-5B9110C2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35D009-3078-58DC-D4C3-600E4FAE84F0}"/>
              </a:ext>
            </a:extLst>
          </p:cNvPr>
          <p:cNvSpPr txBox="1"/>
          <p:nvPr/>
        </p:nvSpPr>
        <p:spPr>
          <a:xfrm>
            <a:off x="10720799" y="5949864"/>
            <a:ext cx="1013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u="sng" dirty="0">
                <a:solidFill>
                  <a:schemeClr val="accent1">
                    <a:lumMod val="50000"/>
                  </a:schemeClr>
                </a:solidFill>
              </a:rPr>
              <a:t>END.</a:t>
            </a:r>
            <a:endParaRPr lang="ko-KR" altLang="en-US" sz="32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161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4539</TotalTime>
  <Words>11981</Words>
  <Application>Microsoft Office PowerPoint</Application>
  <PresentationFormat>와이드스크린</PresentationFormat>
  <Paragraphs>1048</Paragraphs>
  <Slides>73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73</vt:i4>
      </vt:variant>
    </vt:vector>
  </HeadingPairs>
  <TitlesOfParts>
    <vt:vector size="80" baseType="lpstr">
      <vt:lpstr>맑은 고딕</vt:lpstr>
      <vt:lpstr>Arial</vt:lpstr>
      <vt:lpstr>Calibri</vt:lpstr>
      <vt:lpstr>Calibri Light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손 영달</dc:creator>
  <cp:lastModifiedBy>Dev DW</cp:lastModifiedBy>
  <cp:revision>349</cp:revision>
  <dcterms:created xsi:type="dcterms:W3CDTF">2024-07-30T13:51:44Z</dcterms:created>
  <dcterms:modified xsi:type="dcterms:W3CDTF">2025-11-17T08:06:49Z</dcterms:modified>
</cp:coreProperties>
</file>