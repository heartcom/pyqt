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302" r:id="rId2"/>
    <p:sldId id="319" r:id="rId3"/>
    <p:sldId id="323" r:id="rId4"/>
    <p:sldId id="379" r:id="rId5"/>
    <p:sldId id="380" r:id="rId6"/>
    <p:sldId id="381" r:id="rId7"/>
    <p:sldId id="382" r:id="rId8"/>
    <p:sldId id="332" r:id="rId9"/>
    <p:sldId id="350" r:id="rId10"/>
    <p:sldId id="357" r:id="rId11"/>
    <p:sldId id="358" r:id="rId12"/>
    <p:sldId id="359" r:id="rId13"/>
    <p:sldId id="360" r:id="rId14"/>
    <p:sldId id="361" r:id="rId15"/>
    <p:sldId id="362" r:id="rId16"/>
    <p:sldId id="351" r:id="rId17"/>
    <p:sldId id="363" r:id="rId18"/>
    <p:sldId id="364" r:id="rId19"/>
    <p:sldId id="352" r:id="rId20"/>
    <p:sldId id="365" r:id="rId21"/>
    <p:sldId id="366" r:id="rId22"/>
    <p:sldId id="367" r:id="rId23"/>
    <p:sldId id="368" r:id="rId24"/>
    <p:sldId id="369" r:id="rId25"/>
    <p:sldId id="353" r:id="rId26"/>
    <p:sldId id="370" r:id="rId27"/>
    <p:sldId id="371" r:id="rId28"/>
    <p:sldId id="372" r:id="rId29"/>
    <p:sldId id="354" r:id="rId30"/>
    <p:sldId id="373" r:id="rId31"/>
    <p:sldId id="374" r:id="rId32"/>
    <p:sldId id="375" r:id="rId33"/>
    <p:sldId id="376" r:id="rId34"/>
    <p:sldId id="377" r:id="rId35"/>
    <p:sldId id="378" r:id="rId36"/>
    <p:sldId id="355" r:id="rId37"/>
    <p:sldId id="356" r:id="rId38"/>
    <p:sldId id="333" r:id="rId39"/>
    <p:sldId id="334" r:id="rId40"/>
    <p:sldId id="335" r:id="rId41"/>
    <p:sldId id="336" r:id="rId42"/>
    <p:sldId id="337" r:id="rId43"/>
    <p:sldId id="338" r:id="rId44"/>
    <p:sldId id="339" r:id="rId45"/>
    <p:sldId id="324" r:id="rId46"/>
    <p:sldId id="340" r:id="rId47"/>
    <p:sldId id="325" r:id="rId48"/>
    <p:sldId id="341" r:id="rId49"/>
    <p:sldId id="343" r:id="rId50"/>
    <p:sldId id="344" r:id="rId51"/>
    <p:sldId id="345" r:id="rId52"/>
    <p:sldId id="346" r:id="rId53"/>
    <p:sldId id="347" r:id="rId54"/>
    <p:sldId id="348" r:id="rId55"/>
    <p:sldId id="349" r:id="rId56"/>
    <p:sldId id="320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30" autoAdjust="0"/>
    <p:restoredTop sz="94660"/>
  </p:normalViewPr>
  <p:slideViewPr>
    <p:cSldViewPr snapToGrid="0">
      <p:cViewPr varScale="1">
        <p:scale>
          <a:sx n="87" d="100"/>
          <a:sy n="87" d="100"/>
        </p:scale>
        <p:origin x="102" y="5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346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195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404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29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330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83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897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688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021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926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29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DC872-0E0F-4B71-97B1-1CA7CAEBA243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14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artcom/pyqt/tree/main/ExampleWidge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anaconda.com/docs/getting-started/miniconda/instal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repo.anaconda.com/pkgs/msys2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hyperlink" Target="https://www.realvnc.com/en/connect/download/viewer/" TargetMode="Externa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E1301-DF23-EDC5-AA59-0048FD9A1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B2DAE7-B487-80C9-452C-30917B35A51F}"/>
              </a:ext>
            </a:extLst>
          </p:cNvPr>
          <p:cNvSpPr/>
          <p:nvPr/>
        </p:nvSpPr>
        <p:spPr>
          <a:xfrm>
            <a:off x="0" y="0"/>
            <a:ext cx="12192000" cy="320040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altLang="ko-KR" sz="6600" b="1" dirty="0">
                <a:solidFill>
                  <a:schemeClr val="bg1">
                    <a:lumMod val="85000"/>
                  </a:schemeClr>
                </a:solidFill>
              </a:rPr>
              <a:t>PyQt</a:t>
            </a:r>
            <a:endParaRPr lang="ko-KR" altLang="en-US" sz="6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5E51C8-3B31-A7B8-A9C8-B28FF145BC2C}"/>
              </a:ext>
            </a:extLst>
          </p:cNvPr>
          <p:cNvSpPr txBox="1"/>
          <p:nvPr/>
        </p:nvSpPr>
        <p:spPr>
          <a:xfrm>
            <a:off x="1412121" y="5830402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hlinkClick r:id="rId2"/>
              </a:rPr>
              <a:t>pyqt</a:t>
            </a:r>
            <a:r>
              <a:rPr lang="en-US" altLang="ko-KR" dirty="0">
                <a:hlinkClick r:id="rId2"/>
              </a:rPr>
              <a:t>/</a:t>
            </a:r>
            <a:r>
              <a:rPr lang="en-US" altLang="ko-KR" dirty="0" err="1">
                <a:hlinkClick r:id="rId2"/>
              </a:rPr>
              <a:t>ExampleWidget</a:t>
            </a:r>
            <a:r>
              <a:rPr lang="en-US" altLang="ko-KR" dirty="0">
                <a:hlinkClick r:id="rId2"/>
              </a:rPr>
              <a:t> at main · heartcom/</a:t>
            </a:r>
            <a:r>
              <a:rPr lang="en-US" altLang="ko-KR" dirty="0" err="1">
                <a:hlinkClick r:id="rId2"/>
              </a:rPr>
              <a:t>pyqt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5B8D3-AD6F-4292-B295-90EF1542B893}"/>
              </a:ext>
            </a:extLst>
          </p:cNvPr>
          <p:cNvSpPr txBox="1"/>
          <p:nvPr/>
        </p:nvSpPr>
        <p:spPr>
          <a:xfrm>
            <a:off x="657106" y="5831508"/>
            <a:ext cx="75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code :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045113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2315E-B11C-13EC-63C1-D49427036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DB5B5BD-380E-9DBA-7C64-50F8B82ABABA}"/>
              </a:ext>
            </a:extLst>
          </p:cNvPr>
          <p:cNvSpPr/>
          <p:nvPr/>
        </p:nvSpPr>
        <p:spPr>
          <a:xfrm>
            <a:off x="0" y="0"/>
            <a:ext cx="12192000" cy="3163078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 algn="ctr"/>
            <a:r>
              <a:rPr lang="en-US" altLang="ko-KR" sz="4400" b="1" dirty="0"/>
              <a:t>PyQt </a:t>
            </a:r>
            <a:r>
              <a:rPr lang="ko-KR" altLang="en-US" sz="4400" b="1" dirty="0"/>
              <a:t>설치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6388A2-BFB5-723B-F6B7-58DC2DB0B4E7}"/>
              </a:ext>
            </a:extLst>
          </p:cNvPr>
          <p:cNvSpPr txBox="1"/>
          <p:nvPr/>
        </p:nvSpPr>
        <p:spPr>
          <a:xfrm>
            <a:off x="3423920" y="3540760"/>
            <a:ext cx="106471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3200" dirty="0"/>
              <a:t>PC</a:t>
            </a:r>
          </a:p>
          <a:p>
            <a:pPr marL="342900" indent="-342900">
              <a:buAutoNum type="arabicPeriod"/>
            </a:pPr>
            <a:r>
              <a:rPr lang="en-US" altLang="ko-KR" sz="3200" dirty="0"/>
              <a:t>Rpi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041995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9D2F-AA13-9BDA-3FDB-A97EEF6A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047C8B6-E84C-6FF9-9571-C16C34E0BDDA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Windows  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F985D8-A7E6-E06C-597A-5AE530C64613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PyQt </a:t>
            </a:r>
            <a:r>
              <a:rPr lang="ko-KR" altLang="en-US" sz="2000" b="1" dirty="0"/>
              <a:t>설치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9F965B-4BC6-40A6-33C3-AB6F5344341B}"/>
              </a:ext>
            </a:extLst>
          </p:cNvPr>
          <p:cNvSpPr txBox="1"/>
          <p:nvPr/>
        </p:nvSpPr>
        <p:spPr>
          <a:xfrm>
            <a:off x="317350" y="966402"/>
            <a:ext cx="10666208" cy="390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500"/>
              </a:lnSpc>
              <a:buAutoNum type="arabicPeriod"/>
            </a:pPr>
            <a:r>
              <a:rPr lang="en-US" altLang="ko-KR" dirty="0">
                <a:latin typeface="+mn-ea"/>
              </a:rPr>
              <a:t>cmd </a:t>
            </a:r>
            <a:r>
              <a:rPr lang="ko-KR" altLang="en-US" dirty="0">
                <a:latin typeface="+mn-ea"/>
              </a:rPr>
              <a:t>창을 관리자 권한으로 열자</a:t>
            </a:r>
            <a:r>
              <a:rPr lang="en-US" altLang="ko-KR" dirty="0">
                <a:latin typeface="+mn-ea"/>
              </a:rPr>
              <a:t>.</a:t>
            </a:r>
          </a:p>
          <a:p>
            <a:pPr marL="342900" indent="-342900">
              <a:lnSpc>
                <a:spcPts val="2500"/>
              </a:lnSpc>
              <a:buAutoNum type="arabicPeriod"/>
            </a:pPr>
            <a:endParaRPr lang="en-US" altLang="ko-KR" dirty="0">
              <a:latin typeface="+mn-ea"/>
            </a:endParaRPr>
          </a:p>
          <a:p>
            <a:pPr marL="342900" indent="-342900">
              <a:lnSpc>
                <a:spcPts val="2500"/>
              </a:lnSpc>
              <a:buAutoNum type="arabicPeriod"/>
            </a:pPr>
            <a:r>
              <a:rPr lang="en-US" altLang="ko-KR" dirty="0" err="1">
                <a:latin typeface="+mn-ea"/>
              </a:rPr>
              <a:t>conda</a:t>
            </a:r>
            <a:r>
              <a:rPr lang="ko-KR" altLang="en-US" dirty="0">
                <a:latin typeface="+mn-ea"/>
              </a:rPr>
              <a:t> 가상 환경 만들기 </a:t>
            </a: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    </a:t>
            </a:r>
            <a:r>
              <a:rPr lang="en-US" altLang="ko-KR" dirty="0" err="1">
                <a:latin typeface="+mn-ea"/>
              </a:rPr>
              <a:t>conda</a:t>
            </a:r>
            <a:r>
              <a:rPr lang="en-US" altLang="ko-KR" dirty="0">
                <a:latin typeface="+mn-ea"/>
              </a:rPr>
              <a:t> create –n </a:t>
            </a:r>
            <a:r>
              <a:rPr lang="en-US" altLang="ko-KR" dirty="0" err="1">
                <a:latin typeface="+mn-ea"/>
              </a:rPr>
              <a:t>pyQtFlask</a:t>
            </a:r>
            <a:r>
              <a:rPr lang="en-US" altLang="ko-KR" dirty="0">
                <a:latin typeface="+mn-ea"/>
              </a:rPr>
              <a:t>  python=3.11</a:t>
            </a:r>
          </a:p>
          <a:p>
            <a:pPr marL="342900" indent="-342900">
              <a:lnSpc>
                <a:spcPts val="2500"/>
              </a:lnSpc>
              <a:buAutoNum type="arabicPeriod"/>
            </a:pP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3.  pyqt5 </a:t>
            </a:r>
            <a:r>
              <a:rPr lang="ko-KR" altLang="en-US" dirty="0">
                <a:latin typeface="+mn-ea"/>
              </a:rPr>
              <a:t>설치</a:t>
            </a: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   </a:t>
            </a:r>
            <a:r>
              <a:rPr lang="en-US" altLang="ko-KR" dirty="0" err="1">
                <a:latin typeface="+mn-ea"/>
              </a:rPr>
              <a:t>conda</a:t>
            </a:r>
            <a:r>
              <a:rPr lang="en-US" altLang="ko-KR" dirty="0">
                <a:latin typeface="+mn-ea"/>
              </a:rPr>
              <a:t> install -y -c </a:t>
            </a:r>
            <a:r>
              <a:rPr lang="en-US" altLang="ko-KR" dirty="0" err="1">
                <a:latin typeface="+mn-ea"/>
              </a:rPr>
              <a:t>conda</a:t>
            </a:r>
            <a:r>
              <a:rPr lang="en-US" altLang="ko-KR" dirty="0">
                <a:latin typeface="+mn-ea"/>
              </a:rPr>
              <a:t>-forge </a:t>
            </a:r>
            <a:r>
              <a:rPr lang="en-US" altLang="ko-KR" dirty="0" err="1">
                <a:latin typeface="+mn-ea"/>
              </a:rPr>
              <a:t>pyqt</a:t>
            </a:r>
            <a:r>
              <a:rPr lang="en-US" altLang="ko-KR" dirty="0">
                <a:latin typeface="+mn-ea"/>
              </a:rPr>
              <a:t>=5 qt=5</a:t>
            </a:r>
          </a:p>
          <a:p>
            <a:pPr>
              <a:lnSpc>
                <a:spcPts val="25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4. Designer </a:t>
            </a:r>
            <a:r>
              <a:rPr lang="ko-KR" altLang="en-US" dirty="0">
                <a:latin typeface="+mn-ea"/>
              </a:rPr>
              <a:t>설치 위치</a:t>
            </a: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5. Designer </a:t>
            </a:r>
            <a:r>
              <a:rPr lang="ko-KR" altLang="en-US" dirty="0">
                <a:latin typeface="+mn-ea"/>
              </a:rPr>
              <a:t>실행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아래 명령 </a:t>
            </a:r>
            <a:r>
              <a:rPr lang="en-US" altLang="ko-KR" dirty="0">
                <a:latin typeface="+mn-ea"/>
              </a:rPr>
              <a:t>cmd</a:t>
            </a:r>
            <a:r>
              <a:rPr lang="ko-KR" altLang="en-US" dirty="0">
                <a:latin typeface="+mn-ea"/>
              </a:rPr>
              <a:t>에서 실행 혹은 </a:t>
            </a:r>
            <a:r>
              <a:rPr lang="en-US" altLang="ko-KR" dirty="0">
                <a:latin typeface="+mn-ea"/>
              </a:rPr>
              <a:t>designer.exe </a:t>
            </a:r>
            <a:r>
              <a:rPr lang="ko-KR" altLang="en-US" dirty="0">
                <a:latin typeface="+mn-ea"/>
              </a:rPr>
              <a:t>바탕화면 바로 가기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아이콘 클릭</a:t>
            </a:r>
            <a:r>
              <a:rPr lang="ko-KR" altLang="en-US" dirty="0">
                <a:latin typeface="+mn-ea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64329C-13F5-9353-46CA-678CF23BFC82}"/>
              </a:ext>
            </a:extLst>
          </p:cNvPr>
          <p:cNvSpPr txBox="1"/>
          <p:nvPr/>
        </p:nvSpPr>
        <p:spPr>
          <a:xfrm>
            <a:off x="629321" y="3879798"/>
            <a:ext cx="8665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C:\Users\heart\miniconda3\pkgs\qt-main-5.15.15-h9151539_4\Library\bin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5924C0-0B8D-8E5B-9915-20EF32B85DA7}"/>
              </a:ext>
            </a:extLst>
          </p:cNvPr>
          <p:cNvSpPr txBox="1"/>
          <p:nvPr/>
        </p:nvSpPr>
        <p:spPr>
          <a:xfrm>
            <a:off x="629321" y="4876127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%CONDA_PREFIX%\Library\bin\designer.exe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63A45D-D9FA-419C-9D4F-60CA0F5A0710}"/>
              </a:ext>
            </a:extLst>
          </p:cNvPr>
          <p:cNvSpPr txBox="1"/>
          <p:nvPr/>
        </p:nvSpPr>
        <p:spPr>
          <a:xfrm>
            <a:off x="629321" y="5348640"/>
            <a:ext cx="6943760" cy="6830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285750" indent="-285750">
              <a:lnSpc>
                <a:spcPts val="2400"/>
              </a:lnSpc>
              <a:buFont typeface="Wingdings" panose="05000000000000000000" pitchFamily="2" charset="2"/>
              <a:buChar char="à"/>
            </a:pPr>
            <a:r>
              <a:rPr lang="en-US" altLang="ko-KR" sz="1600" dirty="0">
                <a:sym typeface="Wingdings" panose="05000000000000000000" pitchFamily="2" charset="2"/>
              </a:rPr>
              <a:t>cmd </a:t>
            </a:r>
            <a:r>
              <a:rPr lang="ko-KR" altLang="en-US" sz="1600" dirty="0">
                <a:sym typeface="Wingdings" panose="05000000000000000000" pitchFamily="2" charset="2"/>
              </a:rPr>
              <a:t>창에서 가상 환경으로 들어가서 위의 명령을 실행하여야 함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pPr marL="285750" indent="-285750">
              <a:lnSpc>
                <a:spcPts val="2400"/>
              </a:lnSpc>
              <a:buFont typeface="Wingdings" panose="05000000000000000000" pitchFamily="2" charset="2"/>
              <a:buChar char="à"/>
            </a:pPr>
            <a:r>
              <a:rPr lang="en-US" altLang="ko-KR" sz="1600" dirty="0">
                <a:sym typeface="Wingdings" panose="05000000000000000000" pitchFamily="2" charset="2"/>
              </a:rPr>
              <a:t>vs code </a:t>
            </a:r>
            <a:r>
              <a:rPr lang="ko-KR" altLang="en-US" sz="1600" dirty="0" err="1">
                <a:sym typeface="Wingdings" panose="05000000000000000000" pitchFamily="2" charset="2"/>
              </a:rPr>
              <a:t>터이널은</a:t>
            </a:r>
            <a:r>
              <a:rPr lang="ko-KR" altLang="en-US" sz="1600" dirty="0">
                <a:sym typeface="Wingdings" panose="05000000000000000000" pitchFamily="2" charset="2"/>
              </a:rPr>
              <a:t> </a:t>
            </a:r>
            <a:r>
              <a:rPr lang="en-US" altLang="ko-KR" sz="1600" dirty="0" err="1">
                <a:sym typeface="Wingdings" panose="05000000000000000000" pitchFamily="2" charset="2"/>
              </a:rPr>
              <a:t>powershell</a:t>
            </a:r>
            <a:r>
              <a:rPr lang="en-US" altLang="ko-KR" sz="1600" dirty="0"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sym typeface="Wingdings" panose="05000000000000000000" pitchFamily="2" charset="2"/>
              </a:rPr>
              <a:t>로 실행되는 경우가 있어 정상 동작하지 않음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17951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9D2F-AA13-9BDA-3FDB-A97EEF6A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59F985D8-A7E6-E06C-597A-5AE530C64613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 err="1"/>
              <a:t>miniConda</a:t>
            </a:r>
            <a:r>
              <a:rPr lang="ko-KR" altLang="en-US" sz="2000" b="1" dirty="0"/>
              <a:t> 설치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9F965B-4BC6-40A6-33C3-AB6F5344341B}"/>
              </a:ext>
            </a:extLst>
          </p:cNvPr>
          <p:cNvSpPr txBox="1"/>
          <p:nvPr/>
        </p:nvSpPr>
        <p:spPr>
          <a:xfrm>
            <a:off x="372434" y="840916"/>
            <a:ext cx="10666208" cy="134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500"/>
              </a:lnSpc>
              <a:buAutoNum type="arabicPeriod"/>
            </a:pPr>
            <a:r>
              <a:rPr lang="en-US" altLang="ko-KR" dirty="0">
                <a:latin typeface="+mn-ea"/>
              </a:rPr>
              <a:t>google</a:t>
            </a:r>
            <a:r>
              <a:rPr lang="ko-KR" altLang="en-US" dirty="0">
                <a:latin typeface="+mn-ea"/>
              </a:rPr>
              <a:t>에서 </a:t>
            </a:r>
            <a:r>
              <a:rPr lang="en-US" altLang="ko-KR" dirty="0" err="1">
                <a:latin typeface="+mn-ea"/>
              </a:rPr>
              <a:t>miniconda</a:t>
            </a:r>
            <a:r>
              <a:rPr lang="en-US" altLang="ko-KR" dirty="0">
                <a:latin typeface="+mn-ea"/>
              </a:rPr>
              <a:t> install </a:t>
            </a:r>
            <a:r>
              <a:rPr lang="ko-KR" altLang="en-US" dirty="0">
                <a:latin typeface="+mn-ea"/>
              </a:rPr>
              <a:t>검색  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hlinkClick r:id="rId2"/>
              </a:rPr>
              <a:t>Installing </a:t>
            </a:r>
            <a:r>
              <a:rPr lang="en-US" altLang="ko-KR" dirty="0" err="1">
                <a:hlinkClick r:id="rId2"/>
              </a:rPr>
              <a:t>Miniconda</a:t>
            </a:r>
            <a:r>
              <a:rPr lang="en-US" altLang="ko-KR" dirty="0">
                <a:hlinkClick r:id="rId2"/>
              </a:rPr>
              <a:t> - Anaconda</a:t>
            </a:r>
            <a:br>
              <a:rPr lang="en-US" altLang="ko-KR" dirty="0">
                <a:latin typeface="+mn-ea"/>
              </a:rPr>
            </a:br>
            <a:endParaRPr lang="en-US" altLang="ko-KR" dirty="0">
              <a:latin typeface="+mn-ea"/>
            </a:endParaRPr>
          </a:p>
          <a:p>
            <a:pPr marL="342900" indent="-342900">
              <a:lnSpc>
                <a:spcPts val="2500"/>
              </a:lnSpc>
              <a:buAutoNum type="arabicPeriod"/>
            </a:pPr>
            <a:r>
              <a:rPr lang="en-US" altLang="ko-KR" dirty="0">
                <a:latin typeface="+mn-ea"/>
              </a:rPr>
              <a:t>windows installation </a:t>
            </a:r>
            <a:r>
              <a:rPr lang="ko-KR" altLang="en-US" dirty="0">
                <a:latin typeface="+mn-ea"/>
              </a:rPr>
              <a:t>선택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8941ED1-CF8A-4439-AB2E-DE7566930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06" y="2185836"/>
            <a:ext cx="7182852" cy="213389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0D57579-E437-4AC6-8D74-DC137A4ECC62}"/>
              </a:ext>
            </a:extLst>
          </p:cNvPr>
          <p:cNvSpPr/>
          <p:nvPr/>
        </p:nvSpPr>
        <p:spPr>
          <a:xfrm>
            <a:off x="903383" y="2787267"/>
            <a:ext cx="1916935" cy="34152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56C34745-A5DD-48DF-BEF9-0874D99A2C68}"/>
              </a:ext>
            </a:extLst>
          </p:cNvPr>
          <p:cNvSpPr/>
          <p:nvPr/>
        </p:nvSpPr>
        <p:spPr>
          <a:xfrm>
            <a:off x="2313542" y="2622014"/>
            <a:ext cx="319489" cy="16525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95F6478-B2F3-4479-924D-A86B70DF9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732" y="1976816"/>
            <a:ext cx="4163006" cy="1962424"/>
          </a:xfrm>
          <a:prstGeom prst="rect">
            <a:avLst/>
          </a:prstGeom>
          <a:ln w="28575">
            <a:solidFill>
              <a:schemeClr val="accent1">
                <a:shade val="50000"/>
              </a:schemeClr>
            </a:solidFill>
          </a:ln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5740667-4E35-4676-9890-841EC4C2D924}"/>
              </a:ext>
            </a:extLst>
          </p:cNvPr>
          <p:cNvCxnSpPr/>
          <p:nvPr/>
        </p:nvCxnSpPr>
        <p:spPr>
          <a:xfrm>
            <a:off x="2820318" y="2958028"/>
            <a:ext cx="3128790" cy="0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0A15CABA-104D-407D-9887-6E2C7ED039CA}"/>
              </a:ext>
            </a:extLst>
          </p:cNvPr>
          <p:cNvSpPr/>
          <p:nvPr/>
        </p:nvSpPr>
        <p:spPr>
          <a:xfrm>
            <a:off x="8259444" y="3216925"/>
            <a:ext cx="631168" cy="217433"/>
          </a:xfrm>
          <a:prstGeom prst="downArrow">
            <a:avLst/>
          </a:prstGeom>
          <a:solidFill>
            <a:srgbClr val="FFC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512487-2BA8-41FE-86A3-FDEA5356BDA4}"/>
              </a:ext>
            </a:extLst>
          </p:cNvPr>
          <p:cNvSpPr txBox="1"/>
          <p:nvPr/>
        </p:nvSpPr>
        <p:spPr>
          <a:xfrm>
            <a:off x="372434" y="4530552"/>
            <a:ext cx="10666208" cy="383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3. download </a:t>
            </a:r>
            <a:r>
              <a:rPr lang="ko-KR" altLang="en-US" dirty="0">
                <a:latin typeface="+mn-ea"/>
              </a:rPr>
              <a:t>페이지 제일 하단에 </a:t>
            </a:r>
            <a:r>
              <a:rPr lang="en-US" altLang="ko-KR" dirty="0" err="1">
                <a:latin typeface="+mn-ea"/>
              </a:rPr>
              <a:t>miniconda</a:t>
            </a:r>
            <a:r>
              <a:rPr lang="en-US" altLang="ko-KR" dirty="0">
                <a:latin typeface="+mn-ea"/>
              </a:rPr>
              <a:t> installer </a:t>
            </a:r>
            <a:r>
              <a:rPr lang="ko-KR" altLang="en-US" dirty="0">
                <a:latin typeface="+mn-ea"/>
              </a:rPr>
              <a:t>클릭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B67A32DF-649B-425C-9CD7-1E1ACB6B98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606" y="5075140"/>
            <a:ext cx="6646804" cy="143122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DFBD9590-4A76-4B2E-ADC9-A17F56A361B1}"/>
              </a:ext>
            </a:extLst>
          </p:cNvPr>
          <p:cNvSpPr/>
          <p:nvPr/>
        </p:nvSpPr>
        <p:spPr>
          <a:xfrm>
            <a:off x="3573424" y="5908367"/>
            <a:ext cx="631168" cy="217433"/>
          </a:xfrm>
          <a:prstGeom prst="downArrow">
            <a:avLst/>
          </a:prstGeom>
          <a:solidFill>
            <a:srgbClr val="FFC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827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9D2F-AA13-9BDA-3FDB-A97EEF6A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59F985D8-A7E6-E06C-597A-5AE530C64613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Conda</a:t>
            </a:r>
            <a:r>
              <a:rPr lang="ko-KR" altLang="en-US" sz="2000" b="1" dirty="0"/>
              <a:t> 명령</a:t>
            </a:r>
          </a:p>
        </p:txBody>
      </p:sp>
      <p:graphicFrame>
        <p:nvGraphicFramePr>
          <p:cNvPr id="14" name="표 4">
            <a:extLst>
              <a:ext uri="{FF2B5EF4-FFF2-40B4-BE49-F238E27FC236}">
                <a16:creationId xmlns:a16="http://schemas.microsoft.com/office/drawing/2014/main" id="{ED8BD91C-55BD-4029-878C-F6A5C3A89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461110"/>
              </p:ext>
            </p:extLst>
          </p:nvPr>
        </p:nvGraphicFramePr>
        <p:xfrm>
          <a:off x="449905" y="760568"/>
          <a:ext cx="10726027" cy="552549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650904">
                  <a:extLst>
                    <a:ext uri="{9D8B030D-6E8A-4147-A177-3AD203B41FA5}">
                      <a16:colId xmlns:a16="http://schemas.microsoft.com/office/drawing/2014/main" val="1949829391"/>
                    </a:ext>
                  </a:extLst>
                </a:gridCol>
                <a:gridCol w="2455101">
                  <a:extLst>
                    <a:ext uri="{9D8B030D-6E8A-4147-A177-3AD203B41FA5}">
                      <a16:colId xmlns:a16="http://schemas.microsoft.com/office/drawing/2014/main" val="1782897615"/>
                    </a:ext>
                  </a:extLst>
                </a:gridCol>
                <a:gridCol w="3620022">
                  <a:extLst>
                    <a:ext uri="{9D8B030D-6E8A-4147-A177-3AD203B41FA5}">
                      <a16:colId xmlns:a16="http://schemas.microsoft.com/office/drawing/2014/main" val="2065192971"/>
                    </a:ext>
                  </a:extLst>
                </a:gridCol>
              </a:tblGrid>
              <a:tr h="4573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명령어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용 도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0943637"/>
                  </a:ext>
                </a:extLst>
              </a:tr>
              <a:tr h="457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Conda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--version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Conda </a:t>
                      </a:r>
                      <a:r>
                        <a:rPr lang="ko-KR" altLang="en-US" sz="1400" dirty="0"/>
                        <a:t>버전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err="1"/>
                        <a:t>conda</a:t>
                      </a:r>
                      <a:r>
                        <a:rPr lang="ko-KR" altLang="en-US" sz="1400" dirty="0"/>
                        <a:t>가 정상 설치되었는지 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8154577"/>
                  </a:ext>
                </a:extLst>
              </a:tr>
              <a:tr h="457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err="1"/>
                        <a:t>conda</a:t>
                      </a:r>
                      <a:r>
                        <a:rPr lang="en-US" altLang="ko-KR" sz="1600" b="1" dirty="0"/>
                        <a:t> env list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환경 목록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모든 가상환경 목록 보기</a:t>
                      </a:r>
                      <a:r>
                        <a:rPr lang="en-US" altLang="ko-KR" sz="1400" dirty="0"/>
                        <a:t>(python </a:t>
                      </a:r>
                      <a:r>
                        <a:rPr lang="ko-KR" altLang="en-US" sz="1400" dirty="0"/>
                        <a:t>버전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796606"/>
                  </a:ext>
                </a:extLst>
              </a:tr>
              <a:tr h="457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err="1"/>
                        <a:t>conda</a:t>
                      </a:r>
                      <a:r>
                        <a:rPr lang="en-US" altLang="ko-KR" sz="1400" b="1" dirty="0"/>
                        <a:t> create -n [</a:t>
                      </a:r>
                      <a:r>
                        <a:rPr lang="ko-KR" altLang="en-US" sz="1400" b="1" dirty="0"/>
                        <a:t>환경이름</a:t>
                      </a:r>
                      <a:r>
                        <a:rPr lang="en-US" altLang="ko-KR" sz="1400" b="1" dirty="0"/>
                        <a:t>] python=[</a:t>
                      </a:r>
                      <a:r>
                        <a:rPr lang="ko-KR" altLang="en-US" sz="1400" b="1" dirty="0"/>
                        <a:t>버전</a:t>
                      </a:r>
                      <a:r>
                        <a:rPr lang="en-US" altLang="ko-KR" sz="1400" b="1" dirty="0"/>
                        <a:t>]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환경 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create -n py38 python=3.8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7515597"/>
                  </a:ext>
                </a:extLst>
              </a:tr>
              <a:tr h="457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activate [</a:t>
                      </a:r>
                      <a:r>
                        <a:rPr lang="ko-KR" altLang="en-US" sz="1400" dirty="0"/>
                        <a:t>환경이름</a:t>
                      </a:r>
                      <a:r>
                        <a:rPr lang="en-US" altLang="ko-KR" sz="1400" dirty="0"/>
                        <a:t>]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환경 활성화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예</a:t>
                      </a:r>
                      <a:r>
                        <a:rPr lang="en-US" altLang="ko-KR" sz="1400" dirty="0"/>
                        <a:t>: </a:t>
                      </a:r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activate py38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3238599"/>
                  </a:ext>
                </a:extLst>
              </a:tr>
              <a:tr h="457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deactivate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환경 비활성화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현재 활성화된 환경 끄기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2353977"/>
                  </a:ext>
                </a:extLst>
              </a:tr>
              <a:tr h="6390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install [</a:t>
                      </a:r>
                      <a:r>
                        <a:rPr lang="ko-KR" altLang="en-US" sz="1400" dirty="0"/>
                        <a:t>패키지명</a:t>
                      </a:r>
                      <a:r>
                        <a:rPr lang="en-US" altLang="ko-KR" sz="1400" dirty="0"/>
                        <a:t>] </a:t>
                      </a:r>
                      <a:r>
                        <a:rPr lang="ko-KR" altLang="en-US" sz="1400" dirty="0"/>
                        <a:t>또는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Pip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install</a:t>
                      </a:r>
                      <a:r>
                        <a:rPr lang="ko-KR" altLang="en-US" sz="1400" dirty="0"/>
                        <a:t>  </a:t>
                      </a:r>
                      <a:r>
                        <a:rPr lang="en-US" altLang="ko-KR" sz="1400" dirty="0"/>
                        <a:t>[</a:t>
                      </a:r>
                      <a:r>
                        <a:rPr lang="ko-KR" altLang="en-US" sz="1400" dirty="0"/>
                        <a:t>패키지명</a:t>
                      </a:r>
                      <a:r>
                        <a:rPr lang="en-US" altLang="ko-KR" sz="1400" dirty="0"/>
                        <a:t>]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패키지 설치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예</a:t>
                      </a:r>
                      <a:r>
                        <a:rPr lang="en-US" altLang="ko-KR" sz="1400" dirty="0"/>
                        <a:t>: </a:t>
                      </a:r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install </a:t>
                      </a:r>
                      <a:r>
                        <a:rPr lang="en-US" altLang="ko-KR" sz="1400" dirty="0" err="1"/>
                        <a:t>numpy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9081489"/>
                  </a:ext>
                </a:extLst>
              </a:tr>
              <a:tr h="6390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remove [</a:t>
                      </a:r>
                      <a:r>
                        <a:rPr lang="ko-KR" altLang="en-US" sz="1400" dirty="0"/>
                        <a:t>패키지명</a:t>
                      </a:r>
                      <a:r>
                        <a:rPr lang="en-US" altLang="ko-KR" sz="1400" dirty="0"/>
                        <a:t>] </a:t>
                      </a:r>
                      <a:r>
                        <a:rPr lang="ko-KR" altLang="en-US" sz="1400" dirty="0"/>
                        <a:t>또는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pip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uninstall</a:t>
                      </a:r>
                      <a:r>
                        <a:rPr lang="ko-KR" altLang="en-US" sz="1400" dirty="0"/>
                        <a:t>  </a:t>
                      </a:r>
                      <a:r>
                        <a:rPr lang="en-US" altLang="ko-KR" sz="1400" dirty="0"/>
                        <a:t>[</a:t>
                      </a:r>
                      <a:r>
                        <a:rPr lang="ko-KR" altLang="en-US" sz="1400" dirty="0"/>
                        <a:t>패키지명</a:t>
                      </a:r>
                      <a:r>
                        <a:rPr lang="en-US" altLang="ko-KR" sz="1400" dirty="0"/>
                        <a:t>]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패키지 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예</a:t>
                      </a:r>
                      <a:r>
                        <a:rPr lang="en-US" altLang="ko-KR" sz="1400" dirty="0"/>
                        <a:t>: Conda remove </a:t>
                      </a:r>
                      <a:r>
                        <a:rPr lang="en-US" altLang="ko-KR" sz="1400" dirty="0" err="1"/>
                        <a:t>numpy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2360871"/>
                  </a:ext>
                </a:extLst>
              </a:tr>
              <a:tr h="3758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list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패키지 목록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현재 환경에 설치된 패키지 보기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572271"/>
                  </a:ext>
                </a:extLst>
              </a:tr>
              <a:tr h="37588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remove -n [</a:t>
                      </a:r>
                      <a:r>
                        <a:rPr lang="ko-KR" altLang="en-US" sz="1400" dirty="0"/>
                        <a:t>환경이름</a:t>
                      </a:r>
                      <a:r>
                        <a:rPr lang="en-US" altLang="ko-KR" sz="1400" dirty="0"/>
                        <a:t>] --all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환경 삭제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예</a:t>
                      </a:r>
                      <a:r>
                        <a:rPr lang="en-US" altLang="ko-KR" sz="1400" dirty="0"/>
                        <a:t>: </a:t>
                      </a:r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remove -n py38 --all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989389"/>
                  </a:ext>
                </a:extLst>
              </a:tr>
              <a:tr h="3758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search [</a:t>
                      </a:r>
                      <a:r>
                        <a:rPr lang="ko-KR" altLang="en-US" sz="1400" dirty="0"/>
                        <a:t>패키지명</a:t>
                      </a:r>
                      <a:r>
                        <a:rPr lang="en-US" altLang="ko-KR" sz="1400" dirty="0"/>
                        <a:t>]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패키지 검색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설치 가능한 패키지 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8425717"/>
                  </a:ext>
                </a:extLst>
              </a:tr>
              <a:tr h="3758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update </a:t>
                      </a:r>
                      <a:r>
                        <a:rPr lang="en-US" altLang="ko-KR" sz="1400" dirty="0" err="1"/>
                        <a:t>conda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Conda </a:t>
                      </a:r>
                      <a:r>
                        <a:rPr lang="ko-KR" altLang="en-US" sz="1400" dirty="0"/>
                        <a:t>업데이트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자체 최신 버전으로 업데이트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102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0272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9D2F-AA13-9BDA-3FDB-A97EEF6A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59F985D8-A7E6-E06C-597A-5AE530C64613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Conda</a:t>
            </a:r>
            <a:r>
              <a:rPr lang="ko-KR" altLang="en-US" sz="2000" b="1" dirty="0"/>
              <a:t>   </a:t>
            </a:r>
            <a:r>
              <a:rPr lang="en-US" altLang="ko-KR" sz="2000" b="1" dirty="0"/>
              <a:t>TOS</a:t>
            </a:r>
            <a:endParaRPr lang="ko-KR" alt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682C79-73D1-4E95-8064-22171B9B0487}"/>
              </a:ext>
            </a:extLst>
          </p:cNvPr>
          <p:cNvSpPr txBox="1"/>
          <p:nvPr/>
        </p:nvSpPr>
        <p:spPr>
          <a:xfrm>
            <a:off x="231228" y="925360"/>
            <a:ext cx="10005848" cy="455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5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3A0DFB"/>
                </a:solidFill>
              </a:rPr>
              <a:t>Anaconda Terms of Service </a:t>
            </a:r>
            <a:r>
              <a:rPr lang="ko-KR" altLang="en-US" dirty="0">
                <a:solidFill>
                  <a:srgbClr val="3A0DFB"/>
                </a:solidFill>
              </a:rPr>
              <a:t>수락 </a:t>
            </a:r>
            <a:r>
              <a:rPr lang="en-US" altLang="ko-KR" dirty="0">
                <a:solidFill>
                  <a:srgbClr val="3A0DFB"/>
                </a:solidFill>
              </a:rPr>
              <a:t>( </a:t>
            </a:r>
            <a:r>
              <a:rPr lang="ko-KR" altLang="en-US" dirty="0">
                <a:solidFill>
                  <a:srgbClr val="3A0DFB"/>
                </a:solidFill>
              </a:rPr>
              <a:t>아래 </a:t>
            </a:r>
            <a:r>
              <a:rPr lang="en-US" altLang="ko-KR" dirty="0">
                <a:solidFill>
                  <a:srgbClr val="3A0DFB"/>
                </a:solidFill>
              </a:rPr>
              <a:t>3</a:t>
            </a:r>
            <a:r>
              <a:rPr lang="ko-KR" altLang="en-US" dirty="0">
                <a:solidFill>
                  <a:srgbClr val="3A0DFB"/>
                </a:solidFill>
              </a:rPr>
              <a:t>줄</a:t>
            </a:r>
            <a:r>
              <a:rPr lang="en-US" altLang="ko-KR" dirty="0">
                <a:solidFill>
                  <a:srgbClr val="3A0DFB"/>
                </a:solidFill>
              </a:rPr>
              <a:t>, </a:t>
            </a:r>
            <a:r>
              <a:rPr lang="en-US" altLang="ko-KR" dirty="0" err="1">
                <a:solidFill>
                  <a:srgbClr val="3A0DFB"/>
                </a:solidFill>
              </a:rPr>
              <a:t>cmd</a:t>
            </a:r>
            <a:r>
              <a:rPr lang="ko-KR" altLang="en-US" dirty="0">
                <a:solidFill>
                  <a:srgbClr val="3A0DFB"/>
                </a:solidFill>
              </a:rPr>
              <a:t>에 입력</a:t>
            </a:r>
            <a:r>
              <a:rPr lang="en-US" altLang="ko-KR" dirty="0">
                <a:solidFill>
                  <a:srgbClr val="3A0DFB"/>
                </a:solidFill>
              </a:rPr>
              <a:t>)</a:t>
            </a:r>
            <a:endParaRPr lang="en-US" altLang="ko-KR" dirty="0"/>
          </a:p>
          <a:p>
            <a:pPr indent="179388">
              <a:lnSpc>
                <a:spcPts val="2500"/>
              </a:lnSpc>
            </a:pPr>
            <a:r>
              <a:rPr lang="ko-KR" altLang="en-US" dirty="0" err="1"/>
              <a:t>conda</a:t>
            </a:r>
            <a:r>
              <a:rPr lang="ko-KR" altLang="en-US" dirty="0"/>
              <a:t> </a:t>
            </a:r>
            <a:r>
              <a:rPr lang="ko-KR" altLang="en-US" dirty="0" err="1"/>
              <a:t>tos</a:t>
            </a:r>
            <a:r>
              <a:rPr lang="ko-KR" altLang="en-US" dirty="0"/>
              <a:t> </a:t>
            </a:r>
            <a:r>
              <a:rPr lang="ko-KR" altLang="en-US" dirty="0" err="1"/>
              <a:t>accept</a:t>
            </a:r>
            <a:r>
              <a:rPr lang="ko-KR" altLang="en-US" dirty="0"/>
              <a:t> --</a:t>
            </a:r>
            <a:r>
              <a:rPr lang="ko-KR" altLang="en-US" dirty="0" err="1"/>
              <a:t>override-channels</a:t>
            </a:r>
            <a:r>
              <a:rPr lang="ko-KR" altLang="en-US" dirty="0"/>
              <a:t> --</a:t>
            </a:r>
            <a:r>
              <a:rPr lang="ko-KR" altLang="en-US" dirty="0" err="1"/>
              <a:t>channel</a:t>
            </a:r>
            <a:r>
              <a:rPr lang="ko-KR" altLang="en-US" dirty="0"/>
              <a:t> https://repo.anaconda.com/pkgs/main</a:t>
            </a:r>
          </a:p>
          <a:p>
            <a:pPr indent="179388">
              <a:lnSpc>
                <a:spcPts val="2500"/>
              </a:lnSpc>
            </a:pPr>
            <a:r>
              <a:rPr lang="ko-KR" altLang="en-US" dirty="0" err="1"/>
              <a:t>conda</a:t>
            </a:r>
            <a:r>
              <a:rPr lang="ko-KR" altLang="en-US" dirty="0"/>
              <a:t> </a:t>
            </a:r>
            <a:r>
              <a:rPr lang="ko-KR" altLang="en-US" dirty="0" err="1"/>
              <a:t>tos</a:t>
            </a:r>
            <a:r>
              <a:rPr lang="ko-KR" altLang="en-US" dirty="0"/>
              <a:t> </a:t>
            </a:r>
            <a:r>
              <a:rPr lang="ko-KR" altLang="en-US" dirty="0" err="1"/>
              <a:t>accept</a:t>
            </a:r>
            <a:r>
              <a:rPr lang="ko-KR" altLang="en-US" dirty="0"/>
              <a:t> --</a:t>
            </a:r>
            <a:r>
              <a:rPr lang="ko-KR" altLang="en-US" dirty="0" err="1"/>
              <a:t>override-channels</a:t>
            </a:r>
            <a:r>
              <a:rPr lang="ko-KR" altLang="en-US" dirty="0"/>
              <a:t> --</a:t>
            </a:r>
            <a:r>
              <a:rPr lang="ko-KR" altLang="en-US" dirty="0" err="1"/>
              <a:t>channel</a:t>
            </a:r>
            <a:r>
              <a:rPr lang="ko-KR" altLang="en-US" dirty="0"/>
              <a:t> https://repo.anaconda.com/pkgs/r</a:t>
            </a:r>
          </a:p>
          <a:p>
            <a:pPr indent="179388">
              <a:lnSpc>
                <a:spcPts val="2500"/>
              </a:lnSpc>
            </a:pPr>
            <a:r>
              <a:rPr lang="ko-KR" altLang="en-US" dirty="0" err="1"/>
              <a:t>conda</a:t>
            </a:r>
            <a:r>
              <a:rPr lang="ko-KR" altLang="en-US" dirty="0"/>
              <a:t> </a:t>
            </a:r>
            <a:r>
              <a:rPr lang="ko-KR" altLang="en-US" dirty="0" err="1"/>
              <a:t>tos</a:t>
            </a:r>
            <a:r>
              <a:rPr lang="ko-KR" altLang="en-US" dirty="0"/>
              <a:t> </a:t>
            </a:r>
            <a:r>
              <a:rPr lang="ko-KR" altLang="en-US" dirty="0" err="1"/>
              <a:t>accept</a:t>
            </a:r>
            <a:r>
              <a:rPr lang="ko-KR" altLang="en-US" dirty="0"/>
              <a:t> --</a:t>
            </a:r>
            <a:r>
              <a:rPr lang="ko-KR" altLang="en-US" dirty="0" err="1"/>
              <a:t>override-channels</a:t>
            </a:r>
            <a:r>
              <a:rPr lang="ko-KR" altLang="en-US" dirty="0"/>
              <a:t> --</a:t>
            </a:r>
            <a:r>
              <a:rPr lang="ko-KR" altLang="en-US" dirty="0" err="1"/>
              <a:t>channel</a:t>
            </a:r>
            <a:r>
              <a:rPr lang="ko-KR" altLang="en-US" dirty="0"/>
              <a:t> </a:t>
            </a:r>
            <a:r>
              <a:rPr lang="ko-KR" altLang="en-US" dirty="0">
                <a:hlinkClick r:id="rId2"/>
              </a:rPr>
              <a:t>https://repo.anaconda.com/pkgs/msys2</a:t>
            </a:r>
            <a:endParaRPr lang="en-US" altLang="ko-KR" dirty="0"/>
          </a:p>
          <a:p>
            <a:pPr indent="179388">
              <a:lnSpc>
                <a:spcPts val="2500"/>
              </a:lnSpc>
            </a:pPr>
            <a:endParaRPr lang="en-US" altLang="ko-KR" dirty="0"/>
          </a:p>
          <a:p>
            <a:pPr indent="179388">
              <a:lnSpc>
                <a:spcPts val="2500"/>
              </a:lnSpc>
            </a:pPr>
            <a:r>
              <a:rPr lang="en-US" altLang="ko-KR" dirty="0" err="1"/>
              <a:t>conda</a:t>
            </a:r>
            <a:r>
              <a:rPr lang="en-US" altLang="ko-KR" dirty="0"/>
              <a:t> create –n pi39 python=3.9 –y</a:t>
            </a:r>
          </a:p>
          <a:p>
            <a:pPr indent="179388">
              <a:lnSpc>
                <a:spcPts val="2500"/>
              </a:lnSpc>
            </a:pPr>
            <a:endParaRPr lang="en-US" altLang="ko-KR" dirty="0"/>
          </a:p>
          <a:p>
            <a:pPr indent="179388">
              <a:lnSpc>
                <a:spcPts val="2500"/>
              </a:lnSpc>
            </a:pPr>
            <a:r>
              <a:rPr lang="en-US" altLang="ko-KR" dirty="0" err="1"/>
              <a:t>conda</a:t>
            </a:r>
            <a:r>
              <a:rPr lang="en-US" altLang="ko-KR" dirty="0"/>
              <a:t> env list</a:t>
            </a:r>
          </a:p>
          <a:p>
            <a:pPr indent="179388">
              <a:lnSpc>
                <a:spcPts val="2500"/>
              </a:lnSpc>
            </a:pPr>
            <a:endParaRPr lang="en-US" altLang="ko-KR" dirty="0"/>
          </a:p>
          <a:p>
            <a:pPr indent="179388">
              <a:lnSpc>
                <a:spcPts val="2500"/>
              </a:lnSpc>
            </a:pPr>
            <a:endParaRPr lang="en-US" altLang="ko-KR" dirty="0"/>
          </a:p>
          <a:p>
            <a:pPr indent="179388">
              <a:lnSpc>
                <a:spcPts val="2500"/>
              </a:lnSpc>
            </a:pPr>
            <a:endParaRPr lang="en-US" altLang="ko-KR" dirty="0"/>
          </a:p>
          <a:p>
            <a:pPr indent="179388">
              <a:lnSpc>
                <a:spcPts val="2500"/>
              </a:lnSpc>
            </a:pPr>
            <a:endParaRPr lang="en-US" altLang="ko-KR" dirty="0"/>
          </a:p>
          <a:p>
            <a:pPr indent="179388">
              <a:lnSpc>
                <a:spcPts val="2500"/>
              </a:lnSpc>
            </a:pPr>
            <a:endParaRPr lang="en-US" altLang="ko-KR" dirty="0"/>
          </a:p>
          <a:p>
            <a:pPr indent="179388">
              <a:lnSpc>
                <a:spcPts val="2500"/>
              </a:lnSpc>
            </a:pPr>
            <a:r>
              <a:rPr lang="en-US" altLang="ko-KR" dirty="0" err="1"/>
              <a:t>conda</a:t>
            </a:r>
            <a:r>
              <a:rPr lang="en-US" altLang="ko-KR" dirty="0"/>
              <a:t> activate pi39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B8F2E5-9118-497E-9B64-540344DF1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41" y="3584397"/>
            <a:ext cx="6209955" cy="138699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DE2547F-7F74-42C5-B3FB-4009CDBAF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641" y="5476286"/>
            <a:ext cx="4141040" cy="76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66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9D2F-AA13-9BDA-3FDB-A97EEF6A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59F985D8-A7E6-E06C-597A-5AE530C64613}"/>
              </a:ext>
            </a:extLst>
          </p:cNvPr>
          <p:cNvSpPr/>
          <p:nvPr/>
        </p:nvSpPr>
        <p:spPr>
          <a:xfrm>
            <a:off x="0" y="0"/>
            <a:ext cx="4594034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Conda</a:t>
            </a:r>
            <a:r>
              <a:rPr lang="ko-KR" altLang="en-US" sz="2000" b="1" dirty="0"/>
              <a:t>   환경에서 </a:t>
            </a:r>
            <a:r>
              <a:rPr lang="en-US" altLang="ko-KR" sz="2000" b="1" dirty="0"/>
              <a:t>VS Code </a:t>
            </a:r>
            <a:r>
              <a:rPr lang="ko-KR" altLang="en-US" sz="2000" b="1" dirty="0"/>
              <a:t>실행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71EF76-F762-47B0-B6B5-78783B57D144}"/>
              </a:ext>
            </a:extLst>
          </p:cNvPr>
          <p:cNvSpPr txBox="1"/>
          <p:nvPr/>
        </p:nvSpPr>
        <p:spPr>
          <a:xfrm>
            <a:off x="311285" y="836579"/>
            <a:ext cx="551875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conda</a:t>
            </a:r>
            <a:r>
              <a:rPr lang="ko-KR" altLang="en-US" dirty="0"/>
              <a:t> 환경에 </a:t>
            </a:r>
            <a:r>
              <a:rPr lang="en-US" altLang="ko-KR" dirty="0" err="1"/>
              <a:t>ipykernel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( VS CODE </a:t>
            </a:r>
            <a:r>
              <a:rPr lang="ko-KR" altLang="en-US" dirty="0"/>
              <a:t>연동형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 err="1"/>
              <a:t>conda</a:t>
            </a:r>
            <a:r>
              <a:rPr lang="ko-KR" altLang="en-US" dirty="0"/>
              <a:t> </a:t>
            </a:r>
            <a:r>
              <a:rPr lang="en-US" altLang="ko-KR" dirty="0"/>
              <a:t>install</a:t>
            </a:r>
            <a:r>
              <a:rPr lang="ko-KR" altLang="en-US" dirty="0"/>
              <a:t> </a:t>
            </a:r>
            <a:r>
              <a:rPr lang="en-US" altLang="ko-KR" dirty="0" err="1"/>
              <a:t>ipykernel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conda</a:t>
            </a:r>
            <a:r>
              <a:rPr lang="en-US" altLang="ko-KR" dirty="0"/>
              <a:t> </a:t>
            </a:r>
            <a:r>
              <a:rPr lang="ko-KR" altLang="en-US" dirty="0"/>
              <a:t> 활성화된 상태에서 </a:t>
            </a:r>
            <a:r>
              <a:rPr lang="en-US" altLang="ko-KR" dirty="0"/>
              <a:t>VS CODE </a:t>
            </a:r>
            <a:r>
              <a:rPr lang="ko-KR" altLang="en-US" dirty="0"/>
              <a:t>실행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code 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9055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Qt Designer </a:t>
            </a:r>
            <a:r>
              <a:rPr lang="ko-KR" altLang="en-US" sz="2000" b="1" dirty="0">
                <a:solidFill>
                  <a:schemeClr val="tx1"/>
                </a:solidFill>
              </a:rPr>
              <a:t>실행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</a:t>
            </a:r>
            <a:endParaRPr lang="ko-KR" altLang="en-US" sz="2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6CCD8A-5C98-43F2-AF99-D7F8CCC33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59" y="849451"/>
            <a:ext cx="8556054" cy="549644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16684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1. Layouts &amp; Spacers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CEE490A-1372-4DAF-B8BC-EC3565F98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301454"/>
              </p:ext>
            </p:extLst>
          </p:nvPr>
        </p:nvGraphicFramePr>
        <p:xfrm>
          <a:off x="652848" y="1014665"/>
          <a:ext cx="10515600" cy="38168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1692">
                  <a:extLst>
                    <a:ext uri="{9D8B030D-6E8A-4147-A177-3AD203B41FA5}">
                      <a16:colId xmlns:a16="http://schemas.microsoft.com/office/drawing/2014/main" val="2670515013"/>
                    </a:ext>
                  </a:extLst>
                </a:gridCol>
                <a:gridCol w="2730844">
                  <a:extLst>
                    <a:ext uri="{9D8B030D-6E8A-4147-A177-3AD203B41FA5}">
                      <a16:colId xmlns:a16="http://schemas.microsoft.com/office/drawing/2014/main" val="1546256847"/>
                    </a:ext>
                  </a:extLst>
                </a:gridCol>
                <a:gridCol w="5163064">
                  <a:extLst>
                    <a:ext uri="{9D8B030D-6E8A-4147-A177-3AD203B41FA5}">
                      <a16:colId xmlns:a16="http://schemas.microsoft.com/office/drawing/2014/main" val="2994548667"/>
                    </a:ext>
                  </a:extLst>
                </a:gridCol>
              </a:tblGrid>
              <a:tr h="492494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팔레트 이름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Qt </a:t>
                      </a:r>
                      <a:r>
                        <a:rPr lang="ko-KR" altLang="en-US" b="1" dirty="0"/>
                        <a:t>클래스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기능</a:t>
                      </a:r>
                      <a:r>
                        <a:rPr lang="en-US" altLang="ko-KR" b="1" dirty="0"/>
                        <a:t>/</a:t>
                      </a:r>
                      <a:r>
                        <a:rPr lang="ko-KR" altLang="en-US" b="1" dirty="0"/>
                        <a:t>용도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082960"/>
                  </a:ext>
                </a:extLst>
              </a:tr>
              <a:tr h="86186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Vertical Layout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QVBoxLayout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위젯을 세로로 자동 배치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크기 자동 조절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21557"/>
                  </a:ext>
                </a:extLst>
              </a:tr>
              <a:tr h="49249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Horizontal Layout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QHBoxLayout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위젯을 가로로 자동 배치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3110541"/>
                  </a:ext>
                </a:extLst>
              </a:tr>
              <a:tr h="49249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Grid Layout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QGridLayout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격자 형태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행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열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로 배치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2141082"/>
                  </a:ext>
                </a:extLst>
              </a:tr>
              <a:tr h="49249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Form Layout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QFormLayout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“라벨</a:t>
                      </a:r>
                      <a:r>
                        <a:rPr lang="en-US" altLang="ko-KR"/>
                        <a:t>–</a:t>
                      </a:r>
                      <a:r>
                        <a:rPr lang="ko-KR" altLang="en-US"/>
                        <a:t>입력칸” 쌍을 한 줄씩 배치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737889"/>
                  </a:ext>
                </a:extLst>
              </a:tr>
              <a:tr h="49249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Horizontal Spacer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QSpacerItem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가로 여백 확보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공간 밀어내기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1849262"/>
                  </a:ext>
                </a:extLst>
              </a:tr>
              <a:tr h="49249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Vertical Spacer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QSpacerItem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세로 여백 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9477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7424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1. Layouts &amp; Spacers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 01_verticalLayout.ui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4C5EE60-05A4-4485-97F7-28AA68EEB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203" y="1207519"/>
            <a:ext cx="11347978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1) Dialog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without Buttons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템플릿으로 새 파일 </a:t>
            </a:r>
            <a:r>
              <a:rPr lang="ko-KR" altLang="en-US" sz="1600" dirty="0"/>
              <a:t>만들기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 Vertical Layout drag &amp; drop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3)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위젯 박스에서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2개,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개를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끌어다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Vertical Layout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안에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놓기.</a:t>
            </a: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4) </a:t>
            </a:r>
            <a:r>
              <a:rPr lang="ko-KR" altLang="en-US" sz="1600" dirty="0">
                <a:latin typeface="Arial" panose="020B0604020202020204" pitchFamily="34" charset="0"/>
              </a:rPr>
              <a:t>속성 창에서 </a:t>
            </a:r>
            <a:r>
              <a:rPr lang="en-US" altLang="ko-KR" sz="1600" dirty="0">
                <a:latin typeface="Arial" panose="020B0604020202020204" pitchFamily="34" charset="0"/>
              </a:rPr>
              <a:t>Margin, </a:t>
            </a:r>
            <a:r>
              <a:rPr lang="en-US" altLang="ko-KR" sz="1600" dirty="0" err="1">
                <a:latin typeface="Arial" panose="020B0604020202020204" pitchFamily="34" charset="0"/>
              </a:rPr>
              <a:t>Spaceing</a:t>
            </a:r>
            <a:r>
              <a:rPr lang="en-US" altLang="ko-KR" sz="1600" dirty="0">
                <a:latin typeface="Arial" panose="020B0604020202020204" pitchFamily="34" charset="0"/>
              </a:rPr>
              <a:t>, Stretch </a:t>
            </a:r>
            <a:r>
              <a:rPr lang="ko-KR" altLang="en-US" sz="1600" dirty="0">
                <a:latin typeface="Arial" panose="020B0604020202020204" pitchFamily="34" charset="0"/>
              </a:rPr>
              <a:t>조절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42925" marR="0" lvl="0" indent="-18415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 sz="1600" dirty="0" err="1">
                <a:latin typeface="Arial Unicode MS"/>
              </a:rPr>
              <a:t>layoutS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pacing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레이아웃 안에서 위젯과 위젯 사이 간격 조절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(pixel)</a:t>
            </a:r>
          </a:p>
          <a:p>
            <a:pPr marL="542925" marR="0" lvl="0" indent="-18415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layoutStretch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남는 공간을 자식 위젯들에게 어떤 비율로 늘어날 </a:t>
            </a:r>
            <a:r>
              <a:rPr lang="ko-KR" altLang="en-US" sz="1600" dirty="0">
                <a:latin typeface="Arial" panose="020B0604020202020204" pitchFamily="34" charset="0"/>
              </a:rPr>
              <a:t>것인지 설정</a:t>
            </a:r>
            <a:r>
              <a:rPr lang="en-US" altLang="ko-KR" sz="1600" dirty="0">
                <a:latin typeface="Arial" panose="020B0604020202020204" pitchFamily="34" charset="0"/>
              </a:rPr>
              <a:t>(</a:t>
            </a:r>
            <a:r>
              <a:rPr lang="ko-KR" altLang="en-US" sz="1600" dirty="0">
                <a:latin typeface="Arial" panose="020B0604020202020204" pitchFamily="34" charset="0"/>
              </a:rPr>
              <a:t>위젯이 </a:t>
            </a:r>
            <a:r>
              <a:rPr lang="en-US" altLang="ko-KR" sz="1600" dirty="0">
                <a:latin typeface="Arial" panose="020B0604020202020204" pitchFamily="34" charset="0"/>
              </a:rPr>
              <a:t>fixed, maximum </a:t>
            </a:r>
            <a:r>
              <a:rPr lang="ko-KR" altLang="en-US" sz="1600" dirty="0">
                <a:latin typeface="Arial" panose="020B0604020202020204" pitchFamily="34" charset="0"/>
              </a:rPr>
              <a:t>이면 적용 안됨</a:t>
            </a:r>
            <a:r>
              <a:rPr lang="en-US" altLang="ko-KR" sz="1600" dirty="0">
                <a:latin typeface="Arial" panose="020B0604020202020204" pitchFamily="34" charset="0"/>
              </a:rPr>
              <a:t>)</a:t>
            </a:r>
          </a:p>
          <a:p>
            <a:pPr marL="542925" marR="0" lvl="0" indent="-18415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layoutSizeConstraint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부모 위젯이 레이아웃 크기를 얼마나 강제로 설정할 것인지 지정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E39516-B3D1-4586-81FF-632EBE0CED9E}"/>
              </a:ext>
            </a:extLst>
          </p:cNvPr>
          <p:cNvSpPr txBox="1"/>
          <p:nvPr/>
        </p:nvSpPr>
        <p:spPr>
          <a:xfrm>
            <a:off x="284203" y="796221"/>
            <a:ext cx="9035807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+mn-ea"/>
              </a:rPr>
              <a:t>로그인 패널처럼 위에서 아래로 깔끔히 정렬되고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창 크기에 맞춰 자동으로 늘어나는 </a:t>
            </a:r>
            <a:r>
              <a:rPr lang="en-US" altLang="ko-KR" sz="1600" b="1" dirty="0">
                <a:latin typeface="+mn-ea"/>
              </a:rPr>
              <a:t>UI </a:t>
            </a:r>
            <a:r>
              <a:rPr lang="ko-KR" altLang="en-US" sz="1600" b="1" dirty="0">
                <a:latin typeface="+mn-ea"/>
              </a:rPr>
              <a:t>만들기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F3B6744-3FF1-43AB-821C-1CF3541E5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649" y="4578367"/>
            <a:ext cx="5821145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85738" marR="0" lvl="0" indent="-1857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창 크기를 늘리고 줄일 때,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Line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Edit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들이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세로로 자연스럽게 늘어남.</a:t>
            </a:r>
          </a:p>
          <a:p>
            <a:pPr marL="185738" marR="0" lvl="0" indent="-1857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타이틀과 버튼의 높이는 과도하게 늘어나지 않음.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968CB10-F915-4CC3-9C30-05626C338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690" y="4578367"/>
            <a:ext cx="2648320" cy="206721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17C7F11-2EF9-4B2E-81CC-58ADA31C7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8425" y="4578367"/>
            <a:ext cx="2454009" cy="223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01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1. Layouts &amp; Spacers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 02_horizontalLayout.ui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379AF1-1068-4456-9C5A-A4C7D5F41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563" y="1448810"/>
            <a:ext cx="8000780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1) Dialog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without Buttons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템플릿으로 새 파일 </a:t>
            </a:r>
            <a:r>
              <a:rPr lang="ko-KR" altLang="en-US" sz="1600" dirty="0"/>
              <a:t>만들기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 Horizontal Layout drag &amp; drop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3)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위젯 박스에서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2개,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개를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끌어다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Vertical Layout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안에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놓기.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7CE381-98DF-4038-A4DD-3EF62C7FB6A3}"/>
              </a:ext>
            </a:extLst>
          </p:cNvPr>
          <p:cNvSpPr txBox="1"/>
          <p:nvPr/>
        </p:nvSpPr>
        <p:spPr>
          <a:xfrm>
            <a:off x="296563" y="955759"/>
            <a:ext cx="6895069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/>
              <a:t>툴바처럼 버튼이 가로로 정렬되고 폭 변화에 맞춰 폭이 분배되게 만들기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C61163-5E91-4215-A44D-606B772A508C}"/>
              </a:ext>
            </a:extLst>
          </p:cNvPr>
          <p:cNvSpPr txBox="1"/>
          <p:nvPr/>
        </p:nvSpPr>
        <p:spPr>
          <a:xfrm>
            <a:off x="524943" y="2926746"/>
            <a:ext cx="7772400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+mn-ea"/>
              </a:rPr>
              <a:t>창을 좌우로 늘리면 버튼 폭이 </a:t>
            </a:r>
            <a:r>
              <a:rPr lang="ko-KR" altLang="en-US" sz="1600" b="1" dirty="0">
                <a:latin typeface="+mn-ea"/>
              </a:rPr>
              <a:t>같이 늘어나거나</a:t>
            </a:r>
            <a:r>
              <a:rPr lang="en-US" altLang="ko-KR" sz="1600" dirty="0">
                <a:latin typeface="+mn-ea"/>
              </a:rPr>
              <a:t>(stretch=</a:t>
            </a:r>
            <a:r>
              <a:rPr lang="ko-KR" altLang="en-US" sz="1600" dirty="0">
                <a:latin typeface="+mn-ea"/>
              </a:rPr>
              <a:t>균등</a:t>
            </a:r>
            <a:r>
              <a:rPr lang="en-US" altLang="ko-KR" sz="1600" dirty="0">
                <a:latin typeface="+mn-ea"/>
              </a:rPr>
              <a:t>) </a:t>
            </a:r>
            <a:r>
              <a:rPr lang="ko-KR" altLang="en-US" sz="1600" b="1" dirty="0">
                <a:latin typeface="+mn-ea"/>
              </a:rPr>
              <a:t>지정 비율</a:t>
            </a:r>
            <a:r>
              <a:rPr lang="ko-KR" altLang="en-US" sz="1600" dirty="0">
                <a:latin typeface="+mn-ea"/>
              </a:rPr>
              <a:t>로 늘어남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D0A1C02-D939-4D81-B7C2-F557F2C3B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43" y="3727294"/>
            <a:ext cx="3543795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328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1. Layouts &amp; Spacers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 03_gridLayout.ui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DC9F14B-21F9-4E51-B70A-3E8E4CF04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61" y="1382060"/>
            <a:ext cx="10990509" cy="2350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1)  </a:t>
            </a:r>
            <a:r>
              <a:rPr lang="en-US" altLang="ko-KR" sz="1600" b="1" dirty="0">
                <a:latin typeface="Arial" panose="020B0604020202020204" pitchFamily="34" charset="0"/>
              </a:rPr>
              <a:t>Grid Layout </a:t>
            </a:r>
            <a:r>
              <a:rPr lang="ko-KR" altLang="en-US" sz="1600" b="1" dirty="0">
                <a:latin typeface="Arial" panose="020B0604020202020204" pitchFamily="34" charset="0"/>
              </a:rPr>
              <a:t>을 먼저 배치하고 위젯을 넣는 방법</a:t>
            </a:r>
            <a:r>
              <a:rPr lang="en-US" altLang="ko-KR" sz="1600" b="1" dirty="0">
                <a:latin typeface="Arial" panose="020B0604020202020204" pitchFamily="34" charset="0"/>
              </a:rPr>
              <a:t>, </a:t>
            </a:r>
            <a:r>
              <a:rPr lang="ko-KR" altLang="en-US" sz="1600" b="1" dirty="0">
                <a:latin typeface="Arial" panose="020B0604020202020204" pitchFamily="34" charset="0"/>
              </a:rPr>
              <a:t>위젯을 먼저 만들고 마우스 우측 버튼 </a:t>
            </a:r>
            <a:r>
              <a:rPr lang="en-US" altLang="ko-KR" sz="1600" b="1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en-US" sz="1600" b="1" dirty="0">
                <a:latin typeface="Arial" panose="020B0604020202020204" pitchFamily="34" charset="0"/>
                <a:sym typeface="Wingdings" panose="05000000000000000000" pitchFamily="2" charset="2"/>
              </a:rPr>
              <a:t>배치 선택하는 </a:t>
            </a:r>
            <a:r>
              <a:rPr lang="en-US" altLang="ko-KR" sz="1600" b="1" dirty="0">
                <a:latin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ko-KR" altLang="en-US" sz="1600" b="1" dirty="0">
                <a:latin typeface="Arial" panose="020B0604020202020204" pitchFamily="34" charset="0"/>
                <a:sym typeface="Wingdings" panose="05000000000000000000" pitchFamily="2" charset="2"/>
              </a:rPr>
              <a:t>가지 방법</a:t>
            </a:r>
            <a:b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1개(상단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표시창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여러 개(숫자/연산자) 배치.</a:t>
            </a:r>
          </a:p>
          <a:p>
            <a:pPr marL="358775" marR="0" lvl="0" indent="-476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숫자 7 8 9 / 4 5 6 / 1 2 3 / 0,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+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등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모두 대략 위치만 놓고 → 전부 선택 →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Layout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Grid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3)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상단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선택 → 속성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layoutRowSpan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=1,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layoutColumnSpan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=4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(열 4칸 병합).</a:t>
            </a: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4)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grid의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horizontalSpacing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verticalSpacing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contentsMargins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간격 조절.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499F75-65F2-47FD-A3C7-4C51F5EF1FBF}"/>
              </a:ext>
            </a:extLst>
          </p:cNvPr>
          <p:cNvSpPr txBox="1"/>
          <p:nvPr/>
        </p:nvSpPr>
        <p:spPr>
          <a:xfrm>
            <a:off x="530718" y="837550"/>
            <a:ext cx="4782064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>
                <a:latin typeface="+mn-ea"/>
              </a:rPr>
              <a:t>계산기 </a:t>
            </a:r>
            <a:r>
              <a:rPr lang="ko-KR" altLang="en-US" sz="1600" b="1" dirty="0" err="1">
                <a:latin typeface="+mn-ea"/>
              </a:rPr>
              <a:t>키패드</a:t>
            </a:r>
            <a:r>
              <a:rPr lang="ko-KR" altLang="en-US" sz="1600" b="1" dirty="0">
                <a:latin typeface="+mn-ea"/>
              </a:rPr>
              <a:t> 같은 행</a:t>
            </a:r>
            <a:r>
              <a:rPr lang="en-US" altLang="ko-KR" sz="1600" b="1" dirty="0">
                <a:latin typeface="+mn-ea"/>
              </a:rPr>
              <a:t>·</a:t>
            </a:r>
            <a:r>
              <a:rPr lang="ko-KR" altLang="en-US" sz="1600" b="1" dirty="0">
                <a:latin typeface="+mn-ea"/>
              </a:rPr>
              <a:t>열 배치와 셀 병합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44B3B9-1649-4E3C-9E2D-8FDA952D53C8}"/>
              </a:ext>
            </a:extLst>
          </p:cNvPr>
          <p:cNvSpPr txBox="1"/>
          <p:nvPr/>
        </p:nvSpPr>
        <p:spPr>
          <a:xfrm>
            <a:off x="530718" y="3938788"/>
            <a:ext cx="6252519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+mn-ea"/>
              </a:rPr>
              <a:t>창을 키워도 행</a:t>
            </a:r>
            <a:r>
              <a:rPr lang="en-US" altLang="ko-KR" sz="1600" dirty="0">
                <a:latin typeface="+mn-ea"/>
              </a:rPr>
              <a:t>·</a:t>
            </a:r>
            <a:r>
              <a:rPr lang="ko-KR" altLang="en-US" sz="1600" dirty="0">
                <a:latin typeface="+mn-ea"/>
              </a:rPr>
              <a:t>열 정렬이 유지되고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병합된 칸이 의도대로 넓어짐</a:t>
            </a:r>
            <a:r>
              <a:rPr lang="en-US" altLang="ko-KR" sz="1600" dirty="0"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37089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1. Layouts &amp; Spacers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 04_formLayout.ui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1016C6-E487-492B-91AF-8934E8227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563" y="1282194"/>
            <a:ext cx="11257005" cy="149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1)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/Line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Spin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Combo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등을 세로로 임시 배치(이름, 나이, 국가 등).</a:t>
            </a:r>
          </a:p>
          <a:p>
            <a:pPr marL="0" marR="0" lvl="0" indent="0" algn="l" defTabSz="914400" rtl="0" eaLnBrk="0" fontAlgn="base" latinLnBrk="0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쌍(라벨 + 입력)을 위에서 아래로 정렬해 둔 뒤 → 모두 선택 →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Layout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3)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각 라벨의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Age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Country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…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4)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폼 레이아웃 선택 후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labelAlignment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AlignRight|AlignVCenter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두면 라벨 열 정렬이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깔끔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9894A-BAD9-42E7-A85D-4A8B7772A412}"/>
              </a:ext>
            </a:extLst>
          </p:cNvPr>
          <p:cNvSpPr txBox="1"/>
          <p:nvPr/>
        </p:nvSpPr>
        <p:spPr>
          <a:xfrm>
            <a:off x="457200" y="943640"/>
            <a:ext cx="4621427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+mn-ea"/>
              </a:rPr>
              <a:t>“라벨 </a:t>
            </a:r>
            <a:r>
              <a:rPr lang="en-US" altLang="ko-KR" sz="1600" b="1" dirty="0">
                <a:latin typeface="+mn-ea"/>
              </a:rPr>
              <a:t>– </a:t>
            </a:r>
            <a:r>
              <a:rPr lang="ko-KR" altLang="en-US" sz="1600" b="1" dirty="0" err="1">
                <a:latin typeface="+mn-ea"/>
              </a:rPr>
              <a:t>입력칸</a:t>
            </a:r>
            <a:r>
              <a:rPr lang="ko-KR" altLang="en-US" sz="1600" b="1" dirty="0">
                <a:latin typeface="+mn-ea"/>
              </a:rPr>
              <a:t>” 쌍으로 깔끔한 입력 폼 만들기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DFA89E-538D-4492-934C-28D251070C5E}"/>
              </a:ext>
            </a:extLst>
          </p:cNvPr>
          <p:cNvSpPr txBox="1"/>
          <p:nvPr/>
        </p:nvSpPr>
        <p:spPr>
          <a:xfrm>
            <a:off x="556055" y="2886589"/>
            <a:ext cx="7698259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+mn-ea"/>
              </a:rPr>
              <a:t>라벨 열과 입력 열이 반듯하게 맞춰지고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창 폭 변화에 따라 </a:t>
            </a:r>
            <a:r>
              <a:rPr lang="ko-KR" altLang="en-US" sz="1600" b="1" dirty="0">
                <a:latin typeface="+mn-ea"/>
              </a:rPr>
              <a:t>입력 칸만</a:t>
            </a:r>
            <a:r>
              <a:rPr lang="ko-KR" altLang="en-US" sz="1600" dirty="0">
                <a:latin typeface="+mn-ea"/>
              </a:rPr>
              <a:t> 주로 늘어남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B1750F-7D8C-4B00-867F-4475D6365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55" y="4015660"/>
            <a:ext cx="2953162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95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1. Layouts &amp; Spacers (Horizontal Spacer)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 05_hspacer.ui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9894A-BAD9-42E7-A85D-4A8B7772A412}"/>
              </a:ext>
            </a:extLst>
          </p:cNvPr>
          <p:cNvSpPr txBox="1"/>
          <p:nvPr/>
        </p:nvSpPr>
        <p:spPr>
          <a:xfrm>
            <a:off x="457200" y="943640"/>
            <a:ext cx="563880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/>
              <a:t>왼쪽은 텍스트 입력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오른쪽 끝에 검색 버튼을 고정 정렬하기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F490083-ECA3-4E24-AA61-246DF82B1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38544"/>
            <a:ext cx="9148658" cy="1587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1)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하나(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placeholder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Search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…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Horizontal Spacer,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하나(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Search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배치.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세 위젯을 일렬로 만들기 위해 세 요소: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Line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Edit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Horizontal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Spacer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Search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버튼 순으로 놓기.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3)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세 개를 모두 선택 →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Horizontally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4)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스페이서 선택 후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sizeType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Expanding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(기본)인지 확인.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9F9027A-4646-4156-9EB5-A9C26C19A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426" y="3429000"/>
            <a:ext cx="10456709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창을 좌우로 늘려도 </a:t>
            </a:r>
            <a:r>
              <a:rPr kumimoji="0" lang="ko-KR" altLang="ko-K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Search</a:t>
            </a:r>
            <a:r>
              <a:rPr kumimoji="0" lang="ko-KR" altLang="ko-K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버튼은 </a:t>
            </a:r>
            <a:r>
              <a:rPr kumimoji="0" lang="ko-KR" altLang="ko-KR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오른쪽 끝</a:t>
            </a:r>
            <a:r>
              <a:rPr kumimoji="0" lang="ko-KR" altLang="ko-K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에 붙고, 가운데 스페이서가 폭을 먹으며 </a:t>
            </a:r>
            <a:r>
              <a:rPr kumimoji="0" lang="ko-KR" altLang="ko-KR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 Edit 폭은 적절히 유지</a:t>
            </a:r>
            <a:r>
              <a:rPr kumimoji="0" lang="ko-KR" altLang="ko-K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2D8690C-F09A-4736-95CB-8C22728AE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426" y="3948633"/>
            <a:ext cx="7488195" cy="1061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스페이서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스트레치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58775" marR="0" lvl="0" indent="-173038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스페이서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“비어 있는 확장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공간”을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삽입해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한쪽으로 밀어내기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58775" marR="0" lvl="0" indent="-173038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stretch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레이아웃 자식 간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폭 분배 비율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을 수치로 지정(예: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2 1 1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258037-93A7-4321-90D8-AB0B7504C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26" y="5247390"/>
            <a:ext cx="4114990" cy="78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460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1. Layouts &amp; Spacers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 06_vspacer.ui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9894A-BAD9-42E7-A85D-4A8B7772A412}"/>
              </a:ext>
            </a:extLst>
          </p:cNvPr>
          <p:cNvSpPr txBox="1"/>
          <p:nvPr/>
        </p:nvSpPr>
        <p:spPr>
          <a:xfrm>
            <a:off x="543699" y="943640"/>
            <a:ext cx="5177481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>
                <a:latin typeface="+mn-ea"/>
              </a:rPr>
              <a:t>화면 아래쪽에 </a:t>
            </a:r>
            <a:r>
              <a:rPr lang="en-US" altLang="ko-KR" sz="1600" b="1" dirty="0">
                <a:latin typeface="+mn-ea"/>
              </a:rPr>
              <a:t>OK/Cancel </a:t>
            </a:r>
            <a:r>
              <a:rPr lang="ko-KR" altLang="en-US" sz="1600" b="1" dirty="0">
                <a:latin typeface="+mn-ea"/>
              </a:rPr>
              <a:t>버튼줄을 항상 바닥에 고정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9F9027A-4646-4156-9EB5-A9C26C19A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699" y="3873232"/>
            <a:ext cx="5848139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/>
              <a:t>창을 세로로 키워도 </a:t>
            </a:r>
            <a:r>
              <a:rPr lang="ko-KR" altLang="en-US" sz="1600" b="1" dirty="0"/>
              <a:t>버튼줄은 바닥에</a:t>
            </a:r>
            <a:r>
              <a:rPr lang="ko-KR" altLang="en-US" sz="1600" dirty="0"/>
              <a:t> 유지되고</a:t>
            </a:r>
            <a:r>
              <a:rPr lang="en-US" altLang="ko-KR" sz="1600" dirty="0"/>
              <a:t>, </a:t>
            </a:r>
            <a:r>
              <a:rPr lang="en-US" altLang="ko-KR" sz="1600" b="1" dirty="0"/>
              <a:t>Text Edit</a:t>
            </a:r>
            <a:r>
              <a:rPr lang="ko-KR" altLang="en-US" sz="1600" b="1" dirty="0"/>
              <a:t>만 커짐</a:t>
            </a:r>
            <a:r>
              <a:rPr lang="en-US" altLang="ko-KR" sz="1600" dirty="0"/>
              <a:t>.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3B4AEE-0F78-4ED4-AA58-07FFFD84B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43388"/>
            <a:ext cx="11311110" cy="2356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위쪽에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하나(큰 영역) 배치.</a:t>
            </a:r>
          </a:p>
          <a:p>
            <a:pPr marL="342900" marR="0" lvl="0" indent="-34290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아래쪽에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Horizontal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Layout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을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만들어 그 안에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OK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Cancel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버튼 배치.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이제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Text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Edit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아래–버튼 레이아웃 위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사이에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Vertical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Spacer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하나 끼워 넣기.</a:t>
            </a:r>
          </a:p>
          <a:p>
            <a:pPr marL="342900" marR="0" lvl="0" indent="-34290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전체를 선택해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Vertically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(상단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TextEdit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(세로 스페이서) – 하단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버튼줄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342900" marR="0" lvl="0" indent="-34290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하단 버튼줄의 정렬을 오른쪽으로: 버튼 두 개 선택 →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Horizontally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b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그리고 레이아웃 선택 후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layoutDirection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기본,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alignment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는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버튼에 개별 적용(또는 버튼 왼쪽에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Horizontal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Spacer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추가)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EC9EBE-44D3-425B-BB49-BB79126AC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99" y="4350910"/>
            <a:ext cx="2972950" cy="165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036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2. Buttons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5A944A2-A404-42E9-A964-FBE8429C8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083841"/>
              </p:ext>
            </p:extLst>
          </p:nvPr>
        </p:nvGraphicFramePr>
        <p:xfrm>
          <a:off x="689918" y="1161711"/>
          <a:ext cx="10740081" cy="425054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46406">
                  <a:extLst>
                    <a:ext uri="{9D8B030D-6E8A-4147-A177-3AD203B41FA5}">
                      <a16:colId xmlns:a16="http://schemas.microsoft.com/office/drawing/2014/main" val="2651446336"/>
                    </a:ext>
                  </a:extLst>
                </a:gridCol>
                <a:gridCol w="2804984">
                  <a:extLst>
                    <a:ext uri="{9D8B030D-6E8A-4147-A177-3AD203B41FA5}">
                      <a16:colId xmlns:a16="http://schemas.microsoft.com/office/drawing/2014/main" val="3612557774"/>
                    </a:ext>
                  </a:extLst>
                </a:gridCol>
                <a:gridCol w="5288691">
                  <a:extLst>
                    <a:ext uri="{9D8B030D-6E8A-4147-A177-3AD203B41FA5}">
                      <a16:colId xmlns:a16="http://schemas.microsoft.com/office/drawing/2014/main" val="3004411329"/>
                    </a:ext>
                  </a:extLst>
                </a:gridCol>
              </a:tblGrid>
              <a:tr h="548458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팔레트 이름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Qt </a:t>
                      </a:r>
                      <a:r>
                        <a:rPr lang="ko-KR" altLang="en-US" b="1" dirty="0"/>
                        <a:t>클래스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기능</a:t>
                      </a:r>
                      <a:r>
                        <a:rPr lang="en-US" altLang="ko-KR" b="1" dirty="0"/>
                        <a:t>/</a:t>
                      </a:r>
                      <a:r>
                        <a:rPr lang="ko-KR" altLang="en-US" b="1" dirty="0"/>
                        <a:t>용도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947381"/>
                  </a:ext>
                </a:extLst>
              </a:tr>
              <a:tr h="5484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Push Button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QPushButton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일반 클릭 버튼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521145"/>
                  </a:ext>
                </a:extLst>
              </a:tr>
              <a:tr h="5484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Tool Button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QToolButton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아이콘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작은 버튼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툴바 스타일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4283899"/>
                  </a:ext>
                </a:extLst>
              </a:tr>
              <a:tr h="54845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Radio Button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QRadioButton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단일 선택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그룹 중 </a:t>
                      </a:r>
                      <a:r>
                        <a:rPr lang="en-US" altLang="ko-KR"/>
                        <a:t>1</a:t>
                      </a:r>
                      <a:r>
                        <a:rPr lang="ko-KR" altLang="en-US"/>
                        <a:t>개 선택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6755488"/>
                  </a:ext>
                </a:extLst>
              </a:tr>
              <a:tr h="54845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Check 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QCheckBox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다중 선택</a:t>
                      </a:r>
                      <a:r>
                        <a:rPr lang="en-US" altLang="ko-KR"/>
                        <a:t>/</a:t>
                      </a:r>
                      <a:r>
                        <a:rPr lang="en-US"/>
                        <a:t>On·Off </a:t>
                      </a:r>
                      <a:r>
                        <a:rPr lang="ko-KR" altLang="en-US"/>
                        <a:t>토글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7702126"/>
                  </a:ext>
                </a:extLst>
              </a:tr>
              <a:tr h="9598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Command Link Button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QCommandLinkButton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큰 제목</a:t>
                      </a:r>
                      <a:r>
                        <a:rPr lang="en-US" altLang="ko-KR"/>
                        <a:t>+</a:t>
                      </a:r>
                      <a:r>
                        <a:rPr lang="ko-KR" altLang="en-US"/>
                        <a:t>설명 텍스트 버튼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설정 마법사 등에 적합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622984"/>
                  </a:ext>
                </a:extLst>
              </a:tr>
              <a:tr h="54845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Dialog Button 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QDialogButtonBox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OK/Cancel </a:t>
                      </a:r>
                      <a:r>
                        <a:rPr lang="ko-KR" altLang="en-US" dirty="0"/>
                        <a:t>등 표준 대화상자 버튼 묶음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9515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781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2. Buttons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Tool Button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5C06E-91B7-468F-A290-79AB2A244382}"/>
              </a:ext>
            </a:extLst>
          </p:cNvPr>
          <p:cNvSpPr txBox="1"/>
          <p:nvPr/>
        </p:nvSpPr>
        <p:spPr>
          <a:xfrm>
            <a:off x="381000" y="897831"/>
            <a:ext cx="928725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latin typeface="+mn-ea"/>
              </a:rPr>
              <a:t>역할</a:t>
            </a:r>
            <a:r>
              <a:rPr lang="en-US" altLang="ko-KR" b="1" dirty="0">
                <a:latin typeface="+mn-ea"/>
              </a:rPr>
              <a:t>: </a:t>
            </a:r>
            <a:r>
              <a:rPr lang="ko-KR" altLang="en-US" b="1" dirty="0">
                <a:latin typeface="+mn-ea"/>
              </a:rPr>
              <a:t>아이콘 중심의 작은 버튼</a:t>
            </a:r>
            <a:r>
              <a:rPr lang="en-US" altLang="ko-KR" b="1" dirty="0">
                <a:latin typeface="+mn-ea"/>
              </a:rPr>
              <a:t>. </a:t>
            </a:r>
            <a:r>
              <a:rPr lang="ko-KR" altLang="en-US" b="1" dirty="0">
                <a:latin typeface="+mn-ea"/>
              </a:rPr>
              <a:t>메뉴를 붙이거나 드롭다운 화살표 있는 버튼도 가능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2BE7BA0-72D3-4D62-9167-9CE795BEC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456205"/>
            <a:ext cx="7151317" cy="427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ko-KR" altLang="en-US" sz="1600" dirty="0">
                <a:latin typeface="Arial Unicode MS"/>
              </a:rPr>
              <a:t>아이콘만 보이는 </a:t>
            </a:r>
            <a:r>
              <a:rPr lang="en-US" altLang="ko-KR" sz="1600" dirty="0">
                <a:latin typeface="Arial Unicode MS"/>
              </a:rPr>
              <a:t>tool button   ( </a:t>
            </a:r>
            <a:r>
              <a:rPr lang="ko-KR" altLang="en-US" sz="1600" dirty="0">
                <a:latin typeface="Arial Unicode MS"/>
              </a:rPr>
              <a:t>인터넷에서 </a:t>
            </a:r>
            <a:r>
              <a:rPr lang="en-US" altLang="ko-KR" sz="1600" dirty="0">
                <a:latin typeface="Arial Unicode MS"/>
              </a:rPr>
              <a:t>icon</a:t>
            </a:r>
            <a:r>
              <a:rPr lang="ko-KR" altLang="en-US" sz="1600" dirty="0">
                <a:latin typeface="Arial Unicode MS"/>
              </a:rPr>
              <a:t>을 다운로드 받아서 저장 </a:t>
            </a:r>
            <a:r>
              <a:rPr lang="en-US" altLang="ko-KR" sz="1600" dirty="0">
                <a:latin typeface="Arial Unicode MS"/>
              </a:rPr>
              <a:t>)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9100A76-1EFE-40BC-8323-E377C58DC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" y="1898170"/>
            <a:ext cx="5914889" cy="2055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82563" marR="0" lvl="0" indent="-182563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Button을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폼에 드래그.</a:t>
            </a:r>
          </a:p>
          <a:p>
            <a:pPr marL="182563" marR="0" lvl="0" indent="-182563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오른쪽 속성 편집기에서</a:t>
            </a:r>
          </a:p>
          <a:p>
            <a:pPr marR="0" lvl="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icon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항목에서 … 클릭 → 임의 PNG 선택.</a:t>
            </a:r>
          </a:p>
          <a:p>
            <a:pPr marL="182563" marR="0" lvl="0" indent="-182563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toolButtonStyle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ToolButtonIconOnly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선택(아이콘만 보이게).</a:t>
            </a:r>
          </a:p>
          <a:p>
            <a:pPr marL="182563" marR="0" lvl="0" indent="-182563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(선택)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autoRaise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outline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없어짐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82563" marR="0" lvl="0" indent="-182563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미리보기(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Ctrl+R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 텍스트 없는 아이콘 버튼처럼 동작합니다.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8C711EA-C156-4F85-8401-F7C1B752A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60" y="4263493"/>
            <a:ext cx="3841824" cy="249104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F1A45B0-27DB-4FBC-86BA-B3DDF80B6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393" y="2926079"/>
            <a:ext cx="1205239" cy="85796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63C5258-4295-4CC0-B7A1-C330F886D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8464" y="3013634"/>
            <a:ext cx="960656" cy="629938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19DF44A-C850-46D4-B3CB-94B7AD3262B8}"/>
              </a:ext>
            </a:extLst>
          </p:cNvPr>
          <p:cNvCxnSpPr>
            <a:cxnSpLocks/>
          </p:cNvCxnSpPr>
          <p:nvPr/>
        </p:nvCxnSpPr>
        <p:spPr>
          <a:xfrm>
            <a:off x="8583168" y="3328603"/>
            <a:ext cx="5865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4F6785E-090D-46B9-82C3-BDEE5F638EEE}"/>
              </a:ext>
            </a:extLst>
          </p:cNvPr>
          <p:cNvCxnSpPr>
            <a:cxnSpLocks/>
          </p:cNvCxnSpPr>
          <p:nvPr/>
        </p:nvCxnSpPr>
        <p:spPr>
          <a:xfrm>
            <a:off x="4901184" y="3429000"/>
            <a:ext cx="21214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195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2. Buttons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Command Link Button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5C06E-91B7-468F-A290-79AB2A244382}"/>
              </a:ext>
            </a:extLst>
          </p:cNvPr>
          <p:cNvSpPr txBox="1"/>
          <p:nvPr/>
        </p:nvSpPr>
        <p:spPr>
          <a:xfrm>
            <a:off x="381000" y="897831"/>
            <a:ext cx="7921752" cy="7055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</a:pPr>
            <a:r>
              <a:rPr lang="ko-KR" altLang="en-US" sz="1600" b="1" dirty="0">
                <a:latin typeface="+mn-ea"/>
              </a:rPr>
              <a:t>제목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굵은 글씨</a:t>
            </a:r>
            <a:r>
              <a:rPr lang="en-US" altLang="ko-KR" sz="1600" b="1" dirty="0">
                <a:latin typeface="+mn-ea"/>
              </a:rPr>
              <a:t>) + </a:t>
            </a:r>
            <a:r>
              <a:rPr lang="ko-KR" altLang="en-US" sz="1600" b="1" dirty="0">
                <a:latin typeface="+mn-ea"/>
              </a:rPr>
              <a:t>설명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작은 글씨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ko-KR" altLang="en-US" sz="1600" b="1" dirty="0">
                <a:latin typeface="+mn-ea"/>
              </a:rPr>
              <a:t>가 한 덩어리로 보이는 버튼</a:t>
            </a:r>
            <a:endParaRPr lang="en-US" altLang="ko-KR" sz="1600" b="1" dirty="0">
              <a:latin typeface="+mn-ea"/>
            </a:endParaRPr>
          </a:p>
          <a:p>
            <a:pPr algn="ctr">
              <a:lnSpc>
                <a:spcPts val="2500"/>
              </a:lnSpc>
            </a:pPr>
            <a:r>
              <a:rPr lang="ko-KR" altLang="en-US" sz="1600" b="1" dirty="0"/>
              <a:t>“설정 시작”</a:t>
            </a:r>
            <a:r>
              <a:rPr lang="en-US" altLang="ko-KR" sz="1600" b="1" dirty="0"/>
              <a:t>, “</a:t>
            </a:r>
            <a:r>
              <a:rPr lang="ko-KR" altLang="en-US" sz="1600" b="1" dirty="0"/>
              <a:t>새 프로젝트 만들기” 같은 크고 명확한 선택지를 제시할 때 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D3CD4B-DCA2-4AB1-92DA-5C5B9174B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08" y="1713073"/>
            <a:ext cx="4969630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1) 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Command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하나 배치</a:t>
            </a:r>
          </a:p>
          <a:p>
            <a:pPr marL="450850" marR="0" lvl="0" indent="-268288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text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Started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0850" marR="0" lvl="0" indent="-268288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description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새 프로젝트를 만들어 시작합니다.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E50824E-D7B0-43DB-9A87-8C6D84748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62" y="3133684"/>
            <a:ext cx="2943636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29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3. Item Views(Model-Based)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FFED6EA-EF45-4499-9C11-6D961E7D1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414485"/>
              </p:ext>
            </p:extLst>
          </p:nvPr>
        </p:nvGraphicFramePr>
        <p:xfrm>
          <a:off x="838200" y="1132054"/>
          <a:ext cx="10515600" cy="36870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413961044"/>
                    </a:ext>
                  </a:extLst>
                </a:gridCol>
                <a:gridCol w="2323070">
                  <a:extLst>
                    <a:ext uri="{9D8B030D-6E8A-4147-A177-3AD203B41FA5}">
                      <a16:colId xmlns:a16="http://schemas.microsoft.com/office/drawing/2014/main" val="1831050421"/>
                    </a:ext>
                  </a:extLst>
                </a:gridCol>
                <a:gridCol w="5830330">
                  <a:extLst>
                    <a:ext uri="{9D8B030D-6E8A-4147-A177-3AD203B41FA5}">
                      <a16:colId xmlns:a16="http://schemas.microsoft.com/office/drawing/2014/main" val="2541526027"/>
                    </a:ext>
                  </a:extLst>
                </a:gridCol>
              </a:tblGrid>
              <a:tr h="614514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팔레트 이름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Qt </a:t>
                      </a:r>
                      <a:r>
                        <a:rPr lang="ko-KR" altLang="en-US" b="1" dirty="0"/>
                        <a:t>클래스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기능</a:t>
                      </a:r>
                      <a:r>
                        <a:rPr lang="en-US" altLang="ko-KR" b="1" dirty="0"/>
                        <a:t>/</a:t>
                      </a:r>
                      <a:r>
                        <a:rPr lang="ko-KR" altLang="en-US" b="1" dirty="0"/>
                        <a:t>용도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355577"/>
                  </a:ext>
                </a:extLst>
              </a:tr>
              <a:tr h="6145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List 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QListView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차원 목록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이름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아이콘 리스트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816646"/>
                  </a:ext>
                </a:extLst>
              </a:tr>
              <a:tr h="61451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Tree 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QTreeView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트리 구조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폴더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계층 데이터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494408"/>
                  </a:ext>
                </a:extLst>
              </a:tr>
              <a:tr h="6145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Table 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QTableView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모델 기반 표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대용량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커스텀 렌더링에 유리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365939"/>
                  </a:ext>
                </a:extLst>
              </a:tr>
              <a:tr h="61451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Column 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QColumnView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macOS Finder </a:t>
                      </a:r>
                      <a:r>
                        <a:rPr lang="ko-KR" altLang="en-US"/>
                        <a:t>같은 열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column) </a:t>
                      </a:r>
                      <a:r>
                        <a:rPr lang="ko-KR" altLang="en-US"/>
                        <a:t>확장 탐색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773296"/>
                  </a:ext>
                </a:extLst>
              </a:tr>
              <a:tr h="61451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Undo 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QUndoView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 err="1"/>
                        <a:t>QUndoStack</a:t>
                      </a:r>
                      <a:r>
                        <a:rPr lang="ko-KR" altLang="en-US" dirty="0"/>
                        <a:t>의 실행 취소 기록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0941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0714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3. Item Views(Model-Based)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List View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70C9603-3270-428F-A6BB-7BC08FBB5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28" y="1189335"/>
            <a:ext cx="2624405" cy="24311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0C229E-68D8-4ED8-9A52-BE068EA58B32}"/>
              </a:ext>
            </a:extLst>
          </p:cNvPr>
          <p:cNvSpPr txBox="1"/>
          <p:nvPr/>
        </p:nvSpPr>
        <p:spPr>
          <a:xfrm>
            <a:off x="313509" y="741188"/>
            <a:ext cx="2050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1) List View </a:t>
            </a:r>
            <a:r>
              <a:rPr lang="ko-KR" altLang="en-US" sz="1600" dirty="0"/>
              <a:t>위젯 배치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26F57-AADC-44F0-83F7-8FCB5A7CC75D}"/>
              </a:ext>
            </a:extLst>
          </p:cNvPr>
          <p:cNvSpPr txBox="1"/>
          <p:nvPr/>
        </p:nvSpPr>
        <p:spPr>
          <a:xfrm>
            <a:off x="4262846" y="741188"/>
            <a:ext cx="346896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2) pyuic5 –x </a:t>
            </a:r>
            <a:r>
              <a:rPr lang="en-US" altLang="ko-KR" sz="1600" dirty="0" err="1"/>
              <a:t>listDemo.ui</a:t>
            </a:r>
            <a:r>
              <a:rPr lang="en-US" altLang="ko-KR" sz="1600" dirty="0"/>
              <a:t> –o listDemo.py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3) listDemo.py </a:t>
            </a:r>
            <a:r>
              <a:rPr lang="ko-KR" altLang="en-US" sz="1600" dirty="0"/>
              <a:t>에 </a:t>
            </a:r>
            <a:r>
              <a:rPr lang="en-US" altLang="ko-KR" sz="1600" dirty="0"/>
              <a:t>test</a:t>
            </a:r>
            <a:r>
              <a:rPr lang="ko-KR" altLang="en-US" sz="1600" dirty="0"/>
              <a:t> </a:t>
            </a:r>
            <a:r>
              <a:rPr lang="en-US" altLang="ko-KR" sz="1600" dirty="0"/>
              <a:t>code</a:t>
            </a:r>
            <a:r>
              <a:rPr lang="ko-KR" altLang="en-US" sz="1600" dirty="0"/>
              <a:t> 추가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E85BE3-13EF-471A-B569-EE6B2ACD8512}"/>
              </a:ext>
            </a:extLst>
          </p:cNvPr>
          <p:cNvSpPr txBox="1"/>
          <p:nvPr/>
        </p:nvSpPr>
        <p:spPr>
          <a:xfrm>
            <a:off x="4593772" y="1900186"/>
            <a:ext cx="7293428" cy="378565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QtWidgets.QApplication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Ui_Dialog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setupUi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QtCore.QStringListModel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"Cherry"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"Durian"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listView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.setModel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listView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.setEditTriggers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QtWidgets.QAbstractItemView.DoubleClicked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QtWidgets.QAbstractItemView.EditKeyPressed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on_clicked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.data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QtCore.Qt.DisplayRole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Dialog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.setWindowTitle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"Selected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listView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.clicked.connect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on_clicked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Dialog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.show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.exec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_())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21E06607-5531-4436-998F-A56393317D6A}"/>
              </a:ext>
            </a:extLst>
          </p:cNvPr>
          <p:cNvSpPr/>
          <p:nvPr/>
        </p:nvSpPr>
        <p:spPr>
          <a:xfrm>
            <a:off x="4262847" y="3291840"/>
            <a:ext cx="232152" cy="1747755"/>
          </a:xfrm>
          <a:prstGeom prst="leftBrace">
            <a:avLst/>
          </a:prstGeom>
          <a:ln w="317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E4231A0-EB4D-4F2F-BFD0-015DD155E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" y="3730125"/>
            <a:ext cx="2582360" cy="249878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4F7C776-64BF-4D82-8729-4204AED4E169}"/>
              </a:ext>
            </a:extLst>
          </p:cNvPr>
          <p:cNvCxnSpPr>
            <a:cxnSpLocks/>
          </p:cNvCxnSpPr>
          <p:nvPr/>
        </p:nvCxnSpPr>
        <p:spPr>
          <a:xfrm flipH="1">
            <a:off x="3225610" y="4158113"/>
            <a:ext cx="797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449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3. Item Views(Model-Based)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Tree View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0C229E-68D8-4ED8-9A52-BE068EA58B32}"/>
              </a:ext>
            </a:extLst>
          </p:cNvPr>
          <p:cNvSpPr txBox="1"/>
          <p:nvPr/>
        </p:nvSpPr>
        <p:spPr>
          <a:xfrm>
            <a:off x="313509" y="741188"/>
            <a:ext cx="21319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1) Tree View </a:t>
            </a:r>
            <a:r>
              <a:rPr lang="ko-KR" altLang="en-US" sz="1600" dirty="0"/>
              <a:t>위젯 배치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26F57-AADC-44F0-83F7-8FCB5A7CC75D}"/>
              </a:ext>
            </a:extLst>
          </p:cNvPr>
          <p:cNvSpPr txBox="1"/>
          <p:nvPr/>
        </p:nvSpPr>
        <p:spPr>
          <a:xfrm>
            <a:off x="4262846" y="741188"/>
            <a:ext cx="36765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2) pyuic5 –x </a:t>
            </a:r>
            <a:r>
              <a:rPr lang="en-US" altLang="ko-KR" sz="1600" dirty="0" err="1"/>
              <a:t>treeDemo.ui</a:t>
            </a:r>
            <a:r>
              <a:rPr lang="en-US" altLang="ko-KR" sz="1600" dirty="0"/>
              <a:t> –o treeDemo.py</a:t>
            </a:r>
          </a:p>
          <a:p>
            <a:r>
              <a:rPr lang="en-US" altLang="ko-KR" sz="1600" dirty="0"/>
              <a:t>3) treeDemo.py </a:t>
            </a:r>
            <a:r>
              <a:rPr lang="ko-KR" altLang="en-US" sz="1600" dirty="0"/>
              <a:t>에 </a:t>
            </a:r>
            <a:r>
              <a:rPr lang="en-US" altLang="ko-KR" sz="1600" dirty="0"/>
              <a:t>test</a:t>
            </a:r>
            <a:r>
              <a:rPr lang="ko-KR" altLang="en-US" sz="1600" dirty="0"/>
              <a:t> </a:t>
            </a:r>
            <a:r>
              <a:rPr lang="en-US" altLang="ko-KR" sz="1600" dirty="0"/>
              <a:t>code</a:t>
            </a:r>
            <a:r>
              <a:rPr lang="ko-KR" altLang="en-US" sz="1600" dirty="0"/>
              <a:t> 추가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650B94-6CB5-49D8-8348-89D6E171D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16" y="1079742"/>
            <a:ext cx="2723880" cy="251689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E52602F-9101-4E43-9A34-41D4F91C781E}"/>
              </a:ext>
            </a:extLst>
          </p:cNvPr>
          <p:cNvSpPr txBox="1"/>
          <p:nvPr/>
        </p:nvSpPr>
        <p:spPr>
          <a:xfrm>
            <a:off x="4177502" y="1325963"/>
            <a:ext cx="7709698" cy="563231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QtGui.QStandardItemModel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.setHorizontalHeaderLabels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"Value"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.invisibleRootItem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sensors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QtGui.QStandardItem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"Sensors"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sensors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.setEditable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.appendRow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sensors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QtGui.QStandardItem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)])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QtGui.QStandardItem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"Temperature"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.setCheckable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.setCheckState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QtCore.Qt.Checked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← 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setChecked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가 아니라 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setCheckState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사용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sensors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.appendRow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QtGui.QStandardItem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"22.4 ℃"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)])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humi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QtGui.QStandardItem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"Humidity"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sensors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.appendRow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humi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QtGui.QStandardItem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"41.0 %"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)])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machines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QtGui.QStandardItem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"Machines"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machines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.setEditable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.appendRow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machines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QtGui.QStandardItem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)])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machines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.appendRow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QtGui.QStandardItem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"Conveyor A"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QtGui.QStandardItem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"OK"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)])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machines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.appendRow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QtGui.QStandardItem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"Mixer B"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   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QtGui.QStandardItem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"Idle"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)])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treeView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.setModel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treeView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.expandAll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treeView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.setAlternatingRowColors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treeView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.header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setStretchLastSection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treeView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.resizeColumnToContents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on_current_changed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QtCore.QModelIndex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QtCore.QModelIndex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.isValid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name_index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.sibling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.row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value_index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.sibling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.row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.data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name_index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QtCore.Qt.DisplayRole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.data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value_index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QtCore.Qt.DisplayRole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Dialog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.setWindowTitle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treeView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.selectionModel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currentChanged.connect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on_current_changed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F68DC8E-FBBF-4229-9A76-470C72BD3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16" y="3785414"/>
            <a:ext cx="2953162" cy="289600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53463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3. Item Views(Model-Based)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Table View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0C229E-68D8-4ED8-9A52-BE068EA58B32}"/>
              </a:ext>
            </a:extLst>
          </p:cNvPr>
          <p:cNvSpPr txBox="1"/>
          <p:nvPr/>
        </p:nvSpPr>
        <p:spPr>
          <a:xfrm>
            <a:off x="313509" y="741188"/>
            <a:ext cx="22082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1) Table View </a:t>
            </a:r>
            <a:r>
              <a:rPr lang="ko-KR" altLang="en-US" sz="1600" dirty="0"/>
              <a:t>위젯 배치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26F57-AADC-44F0-83F7-8FCB5A7CC75D}"/>
              </a:ext>
            </a:extLst>
          </p:cNvPr>
          <p:cNvSpPr txBox="1"/>
          <p:nvPr/>
        </p:nvSpPr>
        <p:spPr>
          <a:xfrm>
            <a:off x="337893" y="3596634"/>
            <a:ext cx="38308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2) pyuic5 –x </a:t>
            </a:r>
            <a:r>
              <a:rPr lang="en-US" altLang="ko-KR" sz="1600" dirty="0" err="1"/>
              <a:t>tableDemo.ui</a:t>
            </a:r>
            <a:r>
              <a:rPr lang="en-US" altLang="ko-KR" sz="1600" dirty="0"/>
              <a:t> –o tableDemo.py</a:t>
            </a:r>
          </a:p>
          <a:p>
            <a:r>
              <a:rPr lang="en-US" altLang="ko-KR" sz="1600" dirty="0"/>
              <a:t>3) tableDemo.py </a:t>
            </a:r>
            <a:r>
              <a:rPr lang="ko-KR" altLang="en-US" sz="1600" dirty="0"/>
              <a:t>에 </a:t>
            </a:r>
            <a:r>
              <a:rPr lang="en-US" altLang="ko-KR" sz="1600" dirty="0"/>
              <a:t>test</a:t>
            </a:r>
            <a:r>
              <a:rPr lang="ko-KR" altLang="en-US" sz="1600" dirty="0"/>
              <a:t> </a:t>
            </a:r>
            <a:r>
              <a:rPr lang="en-US" altLang="ko-KR" sz="1600" dirty="0"/>
              <a:t>code</a:t>
            </a:r>
            <a:r>
              <a:rPr lang="ko-KR" altLang="en-US" sz="1600" dirty="0"/>
              <a:t> 추가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BA3070-9034-4673-B5C7-A3D194BAE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61" y="1079742"/>
            <a:ext cx="2710033" cy="256085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88BCC19-0864-483A-A70C-E866922DB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61" y="4191259"/>
            <a:ext cx="2710033" cy="26667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B7302B7-9FFC-4EF2-839D-15AD2231DE41}"/>
              </a:ext>
            </a:extLst>
          </p:cNvPr>
          <p:cNvSpPr txBox="1"/>
          <p:nvPr/>
        </p:nvSpPr>
        <p:spPr>
          <a:xfrm>
            <a:off x="4456225" y="460908"/>
            <a:ext cx="7053514" cy="669414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make_item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editable</a:t>
            </a:r>
            <a:r>
              <a:rPr lang="en-US" altLang="ko-K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align_right</a:t>
            </a:r>
            <a:r>
              <a:rPr lang="en-US" altLang="ko-K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QtGui.QStandardItem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.setEditable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editable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align_right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.setTextAlignment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QtCore.Qt.AlignRight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QtCore.Qt.AlignVCenter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b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QtGui.QStandardItemModel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.setHorizontalHeaderLabels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ko-K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"Temp(°C)"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Humi</a:t>
            </a:r>
            <a:r>
              <a:rPr lang="en-US" altLang="ko-K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(%)"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"Status"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[</a:t>
            </a:r>
            <a:r>
              <a:rPr lang="en-US" altLang="ko-K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"A-001"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22.4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41.0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"OK"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[</a:t>
            </a:r>
            <a:r>
              <a:rPr lang="en-US" altLang="ko-K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"A-002"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23.1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43.2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"ALERT"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[</a:t>
            </a:r>
            <a:r>
              <a:rPr lang="en-US" altLang="ko-K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"A-003"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22.6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40.7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"OK"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]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.appendRow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make_item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editable</a:t>
            </a:r>
            <a:r>
              <a:rPr lang="en-US" altLang="ko-K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             </a:t>
            </a:r>
            <a:r>
              <a:rPr lang="en-US" altLang="ko-KR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ID: </a:t>
            </a:r>
            <a:r>
              <a:rPr lang="ko-KR" alt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읽기전용</a:t>
            </a:r>
            <a:endParaRPr lang="ko-KR" alt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make_item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editable</a:t>
            </a:r>
            <a:r>
              <a:rPr lang="en-US" altLang="ko-K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align_right</a:t>
            </a:r>
            <a:r>
              <a:rPr lang="en-US" altLang="ko-K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 </a:t>
            </a:r>
            <a:r>
              <a:rPr lang="en-US" altLang="ko-KR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Temp</a:t>
            </a:r>
            <a:endParaRPr lang="en-US" altLang="ko-K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make_item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editable</a:t>
            </a:r>
            <a:r>
              <a:rPr lang="en-US" altLang="ko-K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align_right</a:t>
            </a:r>
            <a:r>
              <a:rPr lang="en-US" altLang="ko-K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 </a:t>
            </a:r>
            <a:r>
              <a:rPr lang="en-US" altLang="ko-KR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altLang="ko-KR" sz="11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Humi</a:t>
            </a:r>
            <a:endParaRPr lang="en-US" altLang="ko-K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make_item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editable</a:t>
            </a:r>
            <a:r>
              <a:rPr lang="en-US" altLang="ko-K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         </a:t>
            </a:r>
            <a:r>
              <a:rPr lang="en-US" altLang="ko-KR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Status</a:t>
            </a:r>
            <a:endParaRPr lang="en-US" altLang="ko-K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])</a:t>
            </a:r>
            <a:b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tv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tableView</a:t>
            </a:r>
            <a:endParaRPr lang="en-US" altLang="ko-K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tv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.setModel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tv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.setSelectionBehavior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QtWidgets.QTableView.SelectRows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altLang="ko-KR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행 단위 선택</a:t>
            </a:r>
            <a:endParaRPr lang="ko-KR" alt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tv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.setSelectionMode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QtWidgets.QTableView.SingleSelection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tv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.setSortingEnabled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                          </a:t>
            </a:r>
            <a:r>
              <a:rPr lang="en-US" altLang="ko-KR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헤더 클릭 정렬</a:t>
            </a:r>
            <a:endParaRPr lang="ko-KR" alt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tv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.resizeColumnsToContents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tv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.horizontalHeader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setStretchLastSection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   </a:t>
            </a:r>
            <a:r>
              <a:rPr lang="en-US" altLang="ko-KR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마지막 열 늘리기</a:t>
            </a:r>
            <a:endParaRPr lang="ko-KR" alt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tv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.setAlternatingRowColors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on_current_changed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QtCore.QModelIndex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QtCore.QModelIndex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.isValid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altLang="ko-K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.row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id_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.index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).data()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altLang="ko-K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.index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).data()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altLang="ko-K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.index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).data()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.index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).data()</a:t>
            </a:r>
          </a:p>
          <a:p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Dialog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.setWindowTitle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"Selected</a:t>
            </a:r>
            <a:r>
              <a:rPr lang="en-US" altLang="ko-K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id_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| T=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°C, H=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%, 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tv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.selectionModel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currentChanged.connect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on_current_changed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93213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3. Item Views(Model-Based)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Column View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0C229E-68D8-4ED8-9A52-BE068EA58B32}"/>
              </a:ext>
            </a:extLst>
          </p:cNvPr>
          <p:cNvSpPr txBox="1"/>
          <p:nvPr/>
        </p:nvSpPr>
        <p:spPr>
          <a:xfrm>
            <a:off x="313509" y="741188"/>
            <a:ext cx="24134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1) Column View </a:t>
            </a:r>
            <a:r>
              <a:rPr lang="ko-KR" altLang="en-US" sz="1600" dirty="0"/>
              <a:t>위젯 배치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26F57-AADC-44F0-83F7-8FCB5A7CC75D}"/>
              </a:ext>
            </a:extLst>
          </p:cNvPr>
          <p:cNvSpPr txBox="1"/>
          <p:nvPr/>
        </p:nvSpPr>
        <p:spPr>
          <a:xfrm>
            <a:off x="337893" y="3535674"/>
            <a:ext cx="42267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2) pyuic5 –x </a:t>
            </a:r>
            <a:r>
              <a:rPr lang="en-US" altLang="ko-KR" sz="1600" dirty="0" err="1"/>
              <a:t>columnDemo.ui</a:t>
            </a:r>
            <a:r>
              <a:rPr lang="en-US" altLang="ko-KR" sz="1600" dirty="0"/>
              <a:t> –o columnDemo.py</a:t>
            </a:r>
          </a:p>
          <a:p>
            <a:r>
              <a:rPr lang="en-US" altLang="ko-KR" sz="1600" dirty="0"/>
              <a:t>3) columnDemo.py </a:t>
            </a:r>
            <a:r>
              <a:rPr lang="ko-KR" altLang="en-US" sz="1600" dirty="0"/>
              <a:t>에 </a:t>
            </a:r>
            <a:r>
              <a:rPr lang="en-US" altLang="ko-KR" sz="1600" dirty="0"/>
              <a:t>test</a:t>
            </a:r>
            <a:r>
              <a:rPr lang="ko-KR" altLang="en-US" sz="1600" dirty="0"/>
              <a:t> </a:t>
            </a:r>
            <a:r>
              <a:rPr lang="en-US" altLang="ko-KR" sz="1600" dirty="0"/>
              <a:t>code</a:t>
            </a:r>
            <a:r>
              <a:rPr lang="ko-KR" altLang="en-US" sz="1600" dirty="0"/>
              <a:t> 추가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08FDAB-4F30-408A-8832-F58049022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49" y="1089592"/>
            <a:ext cx="2503200" cy="234438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B649524-A958-4739-9C58-852EA82A3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49" y="4202221"/>
            <a:ext cx="2641799" cy="258214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1DC0195-A715-4B1F-815C-39229B66C4BB}"/>
              </a:ext>
            </a:extLst>
          </p:cNvPr>
          <p:cNvSpPr txBox="1"/>
          <p:nvPr/>
        </p:nvSpPr>
        <p:spPr>
          <a:xfrm>
            <a:off x="4643458" y="689745"/>
            <a:ext cx="7504386" cy="596554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 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QColumnView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테스트 코드 시작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-----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1)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파일시스템 모델 생성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(Finder/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열 방식 탐색에 적합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QtWidgets.QFileSystemModel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000"/>
              </a:lnSpc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.setRootPath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QtCore.QDir.homePath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 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모델 준비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이 경로부터 스캔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숨김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현재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부모 항목 제외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폴더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파일 모두 표시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.setFilter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QtCore.QDir.AllDirs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QtCore.QDir.Files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QtCore.QDir.NoDotAndDotDot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000"/>
              </a:lnSpc>
            </a:pP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2) 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ColumnView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에 모델 연결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루트 인덱스 지정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columnView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.setModel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000"/>
              </a:lnSpc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root_index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.index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QtCore.QDir.homePath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2000"/>
              </a:lnSpc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columnView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.setRootIndex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root_index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000"/>
              </a:lnSpc>
            </a:pP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(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선택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아이콘 크기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행 높이 살짝 키우기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columnView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.setIconSize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2000"/>
              </a:lnSpc>
            </a:pP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3)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선택 변경 시 현재 경로를 창 제목에 표시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on_current_changed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2000"/>
              </a:lnSpc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.isValid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2000"/>
              </a:lnSpc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Dialog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.setWindowTitle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.filePath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2000"/>
              </a:lnSpc>
            </a:pP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columnView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.selectionModel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currentChanged.connect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on_current_changed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000"/>
              </a:lnSpc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 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QColumnView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테스트 코드 끝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-----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500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3. Item Views(Model-Based)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Undo View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0C229E-68D8-4ED8-9A52-BE068EA58B32}"/>
              </a:ext>
            </a:extLst>
          </p:cNvPr>
          <p:cNvSpPr txBox="1"/>
          <p:nvPr/>
        </p:nvSpPr>
        <p:spPr>
          <a:xfrm>
            <a:off x="61258" y="741188"/>
            <a:ext cx="2225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1) Undo View </a:t>
            </a:r>
            <a:r>
              <a:rPr lang="ko-KR" altLang="en-US" sz="1600" dirty="0"/>
              <a:t>위젯 배치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26F57-AADC-44F0-83F7-8FCB5A7CC75D}"/>
              </a:ext>
            </a:extLst>
          </p:cNvPr>
          <p:cNvSpPr txBox="1"/>
          <p:nvPr/>
        </p:nvSpPr>
        <p:spPr>
          <a:xfrm>
            <a:off x="85642" y="3535674"/>
            <a:ext cx="38518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2) pyuic5 –x </a:t>
            </a:r>
            <a:r>
              <a:rPr lang="en-US" altLang="ko-KR" sz="1600" dirty="0" err="1"/>
              <a:t>undoDemo.ui</a:t>
            </a:r>
            <a:r>
              <a:rPr lang="en-US" altLang="ko-KR" sz="1600" dirty="0"/>
              <a:t> –o undoDemo.py</a:t>
            </a:r>
          </a:p>
          <a:p>
            <a:r>
              <a:rPr lang="en-US" altLang="ko-KR" sz="1600" dirty="0"/>
              <a:t>3) undoDemo.py </a:t>
            </a:r>
            <a:r>
              <a:rPr lang="ko-KR" altLang="en-US" sz="1600" dirty="0"/>
              <a:t>에 </a:t>
            </a:r>
            <a:r>
              <a:rPr lang="en-US" altLang="ko-KR" sz="1600" dirty="0"/>
              <a:t>test</a:t>
            </a:r>
            <a:r>
              <a:rPr lang="ko-KR" altLang="en-US" sz="1600" dirty="0"/>
              <a:t> </a:t>
            </a:r>
            <a:r>
              <a:rPr lang="en-US" altLang="ko-KR" sz="1600" dirty="0"/>
              <a:t>code</a:t>
            </a:r>
            <a:r>
              <a:rPr lang="ko-KR" altLang="en-US" sz="1600" dirty="0"/>
              <a:t> 추가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01C929-BE89-4A78-9068-C100849AF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98" y="1079742"/>
            <a:ext cx="2641799" cy="2473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6DE12F2-1C39-43A8-9BBE-5E3ACC80A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22" y="4169580"/>
            <a:ext cx="2575137" cy="24383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71B2FA-7880-42D6-81CE-A35D76D01467}"/>
              </a:ext>
            </a:extLst>
          </p:cNvPr>
          <p:cNvSpPr txBox="1"/>
          <p:nvPr/>
        </p:nvSpPr>
        <p:spPr>
          <a:xfrm>
            <a:off x="3499946" y="662358"/>
            <a:ext cx="8692054" cy="710963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0)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라벨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버튼 배치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undoView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가 폼을 꽉 채우므로 살짝 아래로 내립니다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undoView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.setGeometry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QtCore.QRect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291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QtWidgets.QLabel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.setGeometry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QtCore.QRect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btnDo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QtWidgets.QPushButton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"Append '!'"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btnUndo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QtWidgets.QPushButton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"Undo"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btnRedo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QtWidgets.QPushButton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"Redo"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  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btnDo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.setGeometry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btnUndo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.setGeometry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btnRedo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.setGeometry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1) Undo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스택 생성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+ View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연결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QtWidgets.QUndoStack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undoView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.setStack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2)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커맨드 정의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라벨에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"!"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추가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AppendBangCmd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QtWidgets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QUndoCommand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"Append '!'"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.text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redo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.setText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"!"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undo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.setText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3)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버튼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단축키 연결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btnDo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.clicked.connect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.push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AppendBangCmd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btnUndo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.clicked.connect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.undo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btnRedo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.clicked.connect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.redo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Ctrl+Z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Ctrl+Y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단축키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QtWidgets.QShortcut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QtGui.QKeySequence.Undo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.undo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QtWidgets.QShortcut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QtGui.QKeySequence.Redo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.redo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4)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현재 선택된 커맨드에 맞춰 창 제목 갱신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동작 확인용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on_index_changed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Dialog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.setWindowTitle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"Undo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.undoText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'-'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| Redo: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.redoText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'-'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.indexChanged.connect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on_index_changed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on_index_changed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초기 타이틀 설정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9397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4. Item Widgets(item-Based)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15E5513-C094-4920-9D04-0E379850A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580204"/>
              </p:ext>
            </p:extLst>
          </p:nvPr>
        </p:nvGraphicFramePr>
        <p:xfrm>
          <a:off x="922176" y="1375021"/>
          <a:ext cx="10515600" cy="261327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71119">
                  <a:extLst>
                    <a:ext uri="{9D8B030D-6E8A-4147-A177-3AD203B41FA5}">
                      <a16:colId xmlns:a16="http://schemas.microsoft.com/office/drawing/2014/main" val="1294302704"/>
                    </a:ext>
                  </a:extLst>
                </a:gridCol>
                <a:gridCol w="3225113">
                  <a:extLst>
                    <a:ext uri="{9D8B030D-6E8A-4147-A177-3AD203B41FA5}">
                      <a16:colId xmlns:a16="http://schemas.microsoft.com/office/drawing/2014/main" val="2387378333"/>
                    </a:ext>
                  </a:extLst>
                </a:gridCol>
                <a:gridCol w="4619368">
                  <a:extLst>
                    <a:ext uri="{9D8B030D-6E8A-4147-A177-3AD203B41FA5}">
                      <a16:colId xmlns:a16="http://schemas.microsoft.com/office/drawing/2014/main" val="3397151928"/>
                    </a:ext>
                  </a:extLst>
                </a:gridCol>
              </a:tblGrid>
              <a:tr h="550164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팔레트 이름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Qt </a:t>
                      </a:r>
                      <a:r>
                        <a:rPr lang="ko-KR" altLang="en-US" b="1" dirty="0"/>
                        <a:t>클래스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기능</a:t>
                      </a:r>
                      <a:r>
                        <a:rPr lang="en-US" altLang="ko-KR" b="1" dirty="0"/>
                        <a:t>/</a:t>
                      </a:r>
                      <a:r>
                        <a:rPr lang="ko-KR" altLang="en-US" b="1" dirty="0"/>
                        <a:t>용도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086264"/>
                  </a:ext>
                </a:extLst>
              </a:tr>
              <a:tr h="55016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List Widget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QListWidget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간단 목록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아이템 직접 추가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삭제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3542631"/>
                  </a:ext>
                </a:extLst>
              </a:tr>
              <a:tr h="9627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Tree Widget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QTreeWidget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간단 트리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코드로 아이템 트리 구성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3449190"/>
                  </a:ext>
                </a:extLst>
              </a:tr>
              <a:tr h="55016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Table Widget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QTableWidget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간단 표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셀 위젯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문자 바로 넣기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23445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3BCF40-4F88-4A09-9C9D-EAEC685BE2FE}"/>
              </a:ext>
            </a:extLst>
          </p:cNvPr>
          <p:cNvSpPr txBox="1"/>
          <p:nvPr/>
        </p:nvSpPr>
        <p:spPr>
          <a:xfrm>
            <a:off x="652135" y="4265353"/>
            <a:ext cx="6835556" cy="726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대량 데이터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성능</a:t>
            </a:r>
            <a:r>
              <a:rPr lang="en-US" altLang="ko-KR" dirty="0">
                <a:latin typeface="+mn-ea"/>
              </a:rPr>
              <a:t>·MVC </a:t>
            </a:r>
            <a:r>
              <a:rPr lang="ko-KR" altLang="en-US" dirty="0">
                <a:latin typeface="+mn-ea"/>
              </a:rPr>
              <a:t>필요 → </a:t>
            </a:r>
            <a:r>
              <a:rPr lang="en-US" altLang="ko-KR" i="1" dirty="0">
                <a:latin typeface="+mn-ea"/>
              </a:rPr>
              <a:t>View </a:t>
            </a:r>
            <a:r>
              <a:rPr lang="ko-KR" altLang="en-US" i="1" dirty="0">
                <a:latin typeface="+mn-ea"/>
              </a:rPr>
              <a:t>계열</a:t>
            </a:r>
            <a:r>
              <a:rPr lang="en-US" altLang="ko-KR" i="1" dirty="0">
                <a:latin typeface="+mn-ea"/>
              </a:rPr>
              <a:t>(</a:t>
            </a:r>
            <a:r>
              <a:rPr lang="en-US" altLang="ko-KR" i="1" dirty="0" err="1">
                <a:latin typeface="+mn-ea"/>
              </a:rPr>
              <a:t>QTableView</a:t>
            </a:r>
            <a:r>
              <a:rPr lang="en-US" altLang="ko-KR" i="1" dirty="0">
                <a:latin typeface="+mn-ea"/>
              </a:rPr>
              <a:t> </a:t>
            </a:r>
            <a:r>
              <a:rPr lang="ko-KR" altLang="en-US" i="1" dirty="0">
                <a:latin typeface="+mn-ea"/>
              </a:rPr>
              <a:t>등</a:t>
            </a:r>
            <a:r>
              <a:rPr lang="en-US" altLang="ko-KR" i="1" dirty="0">
                <a:latin typeface="+mn-ea"/>
              </a:rPr>
              <a:t>)</a:t>
            </a:r>
          </a:p>
          <a:p>
            <a:pPr marL="285750" indent="-28575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간단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소량</a:t>
            </a:r>
            <a:r>
              <a:rPr lang="en-US" altLang="ko-KR" dirty="0">
                <a:latin typeface="+mn-ea"/>
              </a:rPr>
              <a:t>·</a:t>
            </a:r>
            <a:r>
              <a:rPr lang="ko-KR" altLang="en-US" dirty="0">
                <a:latin typeface="+mn-ea"/>
              </a:rPr>
              <a:t>빠른 구현 → </a:t>
            </a:r>
            <a:r>
              <a:rPr lang="en-US" altLang="ko-KR" i="1" dirty="0">
                <a:latin typeface="+mn-ea"/>
              </a:rPr>
              <a:t>Widget </a:t>
            </a:r>
            <a:r>
              <a:rPr lang="ko-KR" altLang="en-US" i="1" dirty="0">
                <a:latin typeface="+mn-ea"/>
              </a:rPr>
              <a:t>계열</a:t>
            </a:r>
            <a:r>
              <a:rPr lang="en-US" altLang="ko-KR" i="1" dirty="0">
                <a:latin typeface="+mn-ea"/>
              </a:rPr>
              <a:t>(</a:t>
            </a:r>
            <a:r>
              <a:rPr lang="en-US" altLang="ko-KR" i="1" dirty="0" err="1">
                <a:latin typeface="+mn-ea"/>
              </a:rPr>
              <a:t>QTableWidget</a:t>
            </a:r>
            <a:r>
              <a:rPr lang="en-US" altLang="ko-KR" i="1" dirty="0">
                <a:latin typeface="+mn-ea"/>
              </a:rPr>
              <a:t> </a:t>
            </a:r>
            <a:r>
              <a:rPr lang="ko-KR" altLang="en-US" i="1" dirty="0">
                <a:latin typeface="+mn-ea"/>
              </a:rPr>
              <a:t>등</a:t>
            </a:r>
            <a:r>
              <a:rPr lang="en-US" altLang="ko-KR" i="1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03101F-99B8-9A62-9002-330AE943F70C}"/>
              </a:ext>
            </a:extLst>
          </p:cNvPr>
          <p:cNvSpPr txBox="1"/>
          <p:nvPr/>
        </p:nvSpPr>
        <p:spPr>
          <a:xfrm>
            <a:off x="652135" y="806941"/>
            <a:ext cx="6835556" cy="39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소량</a:t>
            </a:r>
            <a:r>
              <a:rPr lang="en-US" altLang="ko-KR" dirty="0">
                <a:latin typeface="+mn-ea"/>
              </a:rPr>
              <a:t>~</a:t>
            </a:r>
            <a:r>
              <a:rPr lang="ko-KR" altLang="en-US" dirty="0">
                <a:latin typeface="+mn-ea"/>
              </a:rPr>
              <a:t>중간 규모 데이터를 빨리 보여주고 편집할 때 사용</a:t>
            </a:r>
          </a:p>
        </p:txBody>
      </p:sp>
    </p:spTree>
    <p:extLst>
      <p:ext uri="{BB962C8B-B14F-4D97-AF65-F5344CB8AC3E}">
        <p14:creationId xmlns:p14="http://schemas.microsoft.com/office/powerpoint/2010/main" val="42902492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31EDE-09D5-6DFA-1FE4-58D109B15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4CA059E-9DBB-BB8C-AE86-81706EE8D2AA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4. Item Widgets(item-Based)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2000" b="1" dirty="0" err="1">
                <a:solidFill>
                  <a:schemeClr val="tx1"/>
                </a:solidFill>
                <a:sym typeface="Wingdings" panose="05000000000000000000" pitchFamily="2" charset="2"/>
              </a:rPr>
              <a:t>listWidget.ui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87FD08A-D4E7-B7BE-3A11-124AAA9773CE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06DF172-E85E-8823-5E95-CD944300B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37" y="1079742"/>
            <a:ext cx="2255934" cy="1908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05E204-2FE0-A8F3-6CBB-539B96922ABF}"/>
              </a:ext>
            </a:extLst>
          </p:cNvPr>
          <p:cNvSpPr txBox="1"/>
          <p:nvPr/>
        </p:nvSpPr>
        <p:spPr>
          <a:xfrm>
            <a:off x="61258" y="741188"/>
            <a:ext cx="22393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1) List Widget </a:t>
            </a:r>
            <a:r>
              <a:rPr lang="ko-KR" altLang="en-US" sz="1600" dirty="0"/>
              <a:t>위젯 배치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447A531-B17C-562E-AFDC-CF519C0F0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803" y="2284442"/>
            <a:ext cx="2886478" cy="2029108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63D1353B-DF2A-47DC-A794-35EDF0219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6619" y="1074656"/>
            <a:ext cx="401776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초기 아이템 추가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헤더 정렬(알파벳)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드래그&amp;드롭으로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순서 변경</a:t>
            </a:r>
          </a:p>
          <a:p>
            <a:pPr marL="179388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오른쪽 클릭 메뉴(추가/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이름바꾸기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/삭제)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7D0789-F8BB-36D1-C9C8-60417489D0FA}"/>
              </a:ext>
            </a:extLst>
          </p:cNvPr>
          <p:cNvSpPr txBox="1"/>
          <p:nvPr/>
        </p:nvSpPr>
        <p:spPr>
          <a:xfrm>
            <a:off x="4183202" y="741188"/>
            <a:ext cx="1927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2) </a:t>
            </a:r>
            <a:r>
              <a:rPr lang="ko-KR" altLang="en-US" sz="1600" dirty="0"/>
              <a:t>테스트 코드 추가</a:t>
            </a:r>
          </a:p>
        </p:txBody>
      </p:sp>
    </p:spTree>
    <p:extLst>
      <p:ext uri="{BB962C8B-B14F-4D97-AF65-F5344CB8AC3E}">
        <p14:creationId xmlns:p14="http://schemas.microsoft.com/office/powerpoint/2010/main" val="4272785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39F3C-7481-6BFF-88DB-6449A4523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93E99DC-F73A-102F-FE25-23C2A2E7D386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4. Item Widgets(item-Based)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2000" b="1" dirty="0" err="1">
                <a:solidFill>
                  <a:schemeClr val="tx1"/>
                </a:solidFill>
                <a:sym typeface="Wingdings" panose="05000000000000000000" pitchFamily="2" charset="2"/>
              </a:rPr>
              <a:t>listWidget.ui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2C8BE40-4CE5-8996-4293-5CE8875DC31B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A989B-3E11-B4FA-42D7-D21DB1EDC380}"/>
              </a:ext>
            </a:extLst>
          </p:cNvPr>
          <p:cNvSpPr txBox="1"/>
          <p:nvPr/>
        </p:nvSpPr>
        <p:spPr>
          <a:xfrm>
            <a:off x="0" y="631596"/>
            <a:ext cx="11180189" cy="67351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listWidget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.addItems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"Cherry"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"Durian"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lang="en-US" altLang="ko-KR" sz="1200" dirty="0">
                <a:solidFill>
                  <a:srgbClr val="CCCCCC"/>
                </a:solidFill>
                <a:latin typeface="Consolas" panose="020B0609020204030204" pitchFamily="49" charset="0"/>
              </a:rPr>
              <a:t>     </a:t>
            </a:r>
            <a:r>
              <a:rPr lang="en-US" altLang="ko-KR" sz="1200" dirty="0">
                <a:solidFill>
                  <a:srgbClr val="6A9955"/>
                </a:solidFill>
                <a:latin typeface="Consolas" panose="020B0609020204030204" pitchFamily="49" charset="0"/>
              </a:rPr>
              <a:t># 1) </a:t>
            </a:r>
            <a:r>
              <a:rPr lang="ko-KR" altLang="en-US" sz="1200" dirty="0">
                <a:solidFill>
                  <a:srgbClr val="6A9955"/>
                </a:solidFill>
                <a:latin typeface="Consolas" panose="020B0609020204030204" pitchFamily="49" charset="0"/>
              </a:rPr>
              <a:t>샘플 아이템 추가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.count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setData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QtCore.Qt.UserRole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2)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편집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정렬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드래그 설정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.setEditTriggers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QtWidgets.QAbstractItemView.DoubleClicked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QtWidgets.QAbstractItemView.EditKeyPressed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.setSortingEnabled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알파벳 정렬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메뉴로 끄고 켤 수 있음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.setDragDropMode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QtWidgets.QAbstractItemView.InternalMove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드래그 재정렬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3)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클릭 시 창 제목에 선택 표시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on_item_clicked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QtWidgets.QListWidgetItem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Dialog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.setWindowTitle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"Selected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.text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(id=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.data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QtCore.Qt.UserRole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.itemClicked.connect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on_item_clicked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4)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오른쪽 클릭 컨텍스트 메뉴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추가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이름바꾸기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삭제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.setContextMenuPolicy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QtCore.Qt.CustomContextMenu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show_menu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.itemAt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QtWidgets.QMenu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act_add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.addAction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"Add Item"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act_rename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.addAction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"Rename"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act_del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.addAction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"Delete"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.addSeparator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act_sort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.addAction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"Toggle Sorting (A↔︎Z)"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chosen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.exec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.mapToGlobal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chosen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act_add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QtWidgets.QInputDialog.getText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"Add Item"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"Text:"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.addItem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chosen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act_rename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.editItem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chosen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act_del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.takeItem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.row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chosen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act_sort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.setSortingEnabled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.isSortingEnabled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lw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.customContextMenuRequested.connect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show_menu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583518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82BA0-9112-E9A3-205C-917C3160C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CFC7BE-5C77-863F-EBDC-8BE9573EF65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4. Item Widgets(item-Based)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2000" b="1" dirty="0" err="1">
                <a:solidFill>
                  <a:schemeClr val="tx1"/>
                </a:solidFill>
                <a:sym typeface="Wingdings" panose="05000000000000000000" pitchFamily="2" charset="2"/>
              </a:rPr>
              <a:t>treeWidget.ui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640F46-159D-60A1-5BFD-BF34699AE5B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45B085-D979-2172-B25E-D9952D73575E}"/>
              </a:ext>
            </a:extLst>
          </p:cNvPr>
          <p:cNvSpPr txBox="1"/>
          <p:nvPr/>
        </p:nvSpPr>
        <p:spPr>
          <a:xfrm>
            <a:off x="61258" y="741188"/>
            <a:ext cx="18462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1) </a:t>
            </a:r>
            <a:r>
              <a:rPr lang="en-US" altLang="ko-KR" sz="1600" dirty="0" err="1"/>
              <a:t>treeWidget</a:t>
            </a:r>
            <a:r>
              <a:rPr lang="en-US" altLang="ko-KR" sz="1600" dirty="0"/>
              <a:t> </a:t>
            </a:r>
            <a:r>
              <a:rPr lang="ko-KR" altLang="en-US" sz="1600" dirty="0"/>
              <a:t>위젯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DFF745-BF98-4CDB-5B12-ED90C281C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56" y="1079742"/>
            <a:ext cx="3600953" cy="2314898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EE35053-1763-F7A1-8553-D196649DC9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877853"/>
              </p:ext>
            </p:extLst>
          </p:nvPr>
        </p:nvGraphicFramePr>
        <p:xfrm>
          <a:off x="3949934" y="1079741"/>
          <a:ext cx="8071029" cy="5224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46010">
                  <a:extLst>
                    <a:ext uri="{9D8B030D-6E8A-4147-A177-3AD203B41FA5}">
                      <a16:colId xmlns:a16="http://schemas.microsoft.com/office/drawing/2014/main" val="1984177541"/>
                    </a:ext>
                  </a:extLst>
                </a:gridCol>
                <a:gridCol w="2818503">
                  <a:extLst>
                    <a:ext uri="{9D8B030D-6E8A-4147-A177-3AD203B41FA5}">
                      <a16:colId xmlns:a16="http://schemas.microsoft.com/office/drawing/2014/main" val="4160410985"/>
                    </a:ext>
                  </a:extLst>
                </a:gridCol>
                <a:gridCol w="4006516">
                  <a:extLst>
                    <a:ext uri="{9D8B030D-6E8A-4147-A177-3AD203B41FA5}">
                      <a16:colId xmlns:a16="http://schemas.microsoft.com/office/drawing/2014/main" val="682997831"/>
                    </a:ext>
                  </a:extLst>
                </a:gridCol>
              </a:tblGrid>
              <a:tr h="3380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비교 항목</a:t>
                      </a:r>
                    </a:p>
                  </a:txBody>
                  <a:tcPr marL="70183" marR="70183" marT="35091" marB="35091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 err="1">
                          <a:latin typeface="+mn-ea"/>
                          <a:ea typeface="+mn-ea"/>
                        </a:rPr>
                        <a:t>QTreeWidget</a:t>
                      </a:r>
                      <a:r>
                        <a:rPr lang="en-US" sz="1400" b="1" dirty="0"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아이템 기반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70183" marR="70183" marT="35091" marB="35091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 err="1">
                          <a:latin typeface="+mn-ea"/>
                          <a:ea typeface="+mn-ea"/>
                        </a:rPr>
                        <a:t>QTreeView</a:t>
                      </a:r>
                      <a:r>
                        <a:rPr lang="en-US" sz="1400" b="1" dirty="0"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모델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뷰 기반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70183" marR="70183" marT="35091" marB="35091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822305"/>
                  </a:ext>
                </a:extLst>
              </a:tr>
              <a:tr h="10876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데이터 구조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 err="1">
                          <a:latin typeface="+mn-ea"/>
                          <a:ea typeface="+mn-ea"/>
                        </a:rPr>
                        <a:t>QTreeWidgetItem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를 직접 만들어 트리에 넣음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별도의 </a:t>
                      </a:r>
                      <a:r>
                        <a:rPr lang="en-US" sz="1400" b="1">
                          <a:latin typeface="+mn-ea"/>
                          <a:ea typeface="+mn-ea"/>
                        </a:rPr>
                        <a:t>Model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이 데이터를 보유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400">
                          <a:latin typeface="+mn-ea"/>
                          <a:ea typeface="+mn-ea"/>
                        </a:rPr>
                        <a:t>QStandardItemModel, QFileSystemModel,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커스텀 </a:t>
                      </a:r>
                      <a:r>
                        <a:rPr lang="en-US" sz="1400">
                          <a:latin typeface="+mn-ea"/>
                          <a:ea typeface="+mn-ea"/>
                        </a:rPr>
                        <a:t>QAbstractItemModel)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4293095142"/>
                  </a:ext>
                </a:extLst>
              </a:tr>
              <a:tr h="5923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코드 난이도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쉽고 빠름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데모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툴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설정 패널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처음은 조금 복잡하지만 대규모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외부데이터에 유리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275984997"/>
                  </a:ext>
                </a:extLst>
              </a:tr>
              <a:tr h="5923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규모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성능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소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중규모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에 적합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메모리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아이템 개수만큼 객체 생성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>
                          <a:latin typeface="+mn-ea"/>
                          <a:ea typeface="+mn-ea"/>
                        </a:rPr>
                        <a:t>대규모</a:t>
                      </a:r>
                      <a:r>
                        <a:rPr lang="en-US" altLang="ko-KR" sz="1400" b="1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b="1">
                          <a:latin typeface="+mn-ea"/>
                          <a:ea typeface="+mn-ea"/>
                        </a:rPr>
                        <a:t>동적 데이터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에 적합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지연 로딩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가상화 패턴 가능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484468228"/>
                  </a:ext>
                </a:extLst>
              </a:tr>
              <a:tr h="836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재사용성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다른 뷰와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모델 공유 불가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>
                          <a:latin typeface="+mn-ea"/>
                          <a:ea typeface="+mn-ea"/>
                        </a:rPr>
                        <a:t>여러 뷰가 하나의 모델 공유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 가능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리스트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트리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테이블 동시 표시 등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293080364"/>
                  </a:ext>
                </a:extLst>
              </a:tr>
              <a:tr h="5923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정렬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필터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기본 정렬만 간단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 err="1">
                          <a:latin typeface="+mn-ea"/>
                          <a:ea typeface="+mn-ea"/>
                        </a:rPr>
                        <a:t>QSortFilterProxyModel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등으로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고급 정렬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필터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3728039053"/>
                  </a:ext>
                </a:extLst>
              </a:tr>
              <a:tr h="5923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커스터마이즈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셀 편집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체크박스 등은 쉬움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dirty="0" err="1">
                          <a:latin typeface="+mn-ea"/>
                          <a:ea typeface="+mn-ea"/>
                        </a:rPr>
                        <a:t>델리게이트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dirty="0" err="1">
                          <a:latin typeface="+mn-ea"/>
                          <a:ea typeface="+mn-ea"/>
                        </a:rPr>
                        <a:t>QStyledItemDelegate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로 렌더링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편집 완전 제어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3897666998"/>
                  </a:ext>
                </a:extLst>
              </a:tr>
              <a:tr h="5923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외부 소스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수동으로 아이템 채움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파일시스템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/DB/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네트워크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같은 외부 모델 연결 용이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3544665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23736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5. Containers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C0A5C8C-C97B-4BB3-8FF7-5635F2F66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862043"/>
              </p:ext>
            </p:extLst>
          </p:nvPr>
        </p:nvGraphicFramePr>
        <p:xfrm>
          <a:off x="698682" y="957660"/>
          <a:ext cx="10854886" cy="540606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47196">
                  <a:extLst>
                    <a:ext uri="{9D8B030D-6E8A-4147-A177-3AD203B41FA5}">
                      <a16:colId xmlns:a16="http://schemas.microsoft.com/office/drawing/2014/main" val="3358178282"/>
                    </a:ext>
                  </a:extLst>
                </a:gridCol>
                <a:gridCol w="2898549">
                  <a:extLst>
                    <a:ext uri="{9D8B030D-6E8A-4147-A177-3AD203B41FA5}">
                      <a16:colId xmlns:a16="http://schemas.microsoft.com/office/drawing/2014/main" val="3770533060"/>
                    </a:ext>
                  </a:extLst>
                </a:gridCol>
                <a:gridCol w="5009141">
                  <a:extLst>
                    <a:ext uri="{9D8B030D-6E8A-4147-A177-3AD203B41FA5}">
                      <a16:colId xmlns:a16="http://schemas.microsoft.com/office/drawing/2014/main" val="729132903"/>
                    </a:ext>
                  </a:extLst>
                </a:gridCol>
              </a:tblGrid>
              <a:tr h="36187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팔레트 이름</a:t>
                      </a:r>
                    </a:p>
                  </a:txBody>
                  <a:tcPr marL="65929" marR="65929" marT="32965" marB="3296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+mn-ea"/>
                          <a:ea typeface="+mn-ea"/>
                        </a:rPr>
                        <a:t>Qt 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클래스</a:t>
                      </a:r>
                    </a:p>
                  </a:txBody>
                  <a:tcPr marL="65929" marR="65929" marT="32965" marB="3296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기능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용도</a:t>
                      </a:r>
                    </a:p>
                  </a:txBody>
                  <a:tcPr marL="65929" marR="65929" marT="32965" marB="3296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767072"/>
                  </a:ext>
                </a:extLst>
              </a:tr>
              <a:tr h="361876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Group Box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QGroupBox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관련 위젯 묶음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제목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체크 가능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750227183"/>
                  </a:ext>
                </a:extLst>
              </a:tr>
              <a:tr h="5391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ea"/>
                          <a:ea typeface="+mn-ea"/>
                        </a:rPr>
                        <a:t>Scroll Area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ea"/>
                          <a:ea typeface="+mn-ea"/>
                        </a:rPr>
                        <a:t>QScrollArea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스크롤 가능한 영역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큰 폼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이미지 표시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2102216758"/>
                  </a:ext>
                </a:extLst>
              </a:tr>
              <a:tr h="53913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Tool Box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QToolBox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탭 대신 아코디언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섹션 접기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펼치기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4093708538"/>
                  </a:ext>
                </a:extLst>
              </a:tr>
              <a:tr h="361876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Tab Widget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+mn-ea"/>
                          <a:ea typeface="+mn-ea"/>
                        </a:rPr>
                        <a:t>QTabWidget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탭으로 페이지 전환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267635303"/>
                  </a:ext>
                </a:extLst>
              </a:tr>
              <a:tr h="53913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Stacked Widget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QStackedWidget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한 번에 한 페이지만 표시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코드로 전환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97055507"/>
                  </a:ext>
                </a:extLst>
              </a:tr>
              <a:tr h="361876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Frame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+mn-ea"/>
                          <a:ea typeface="+mn-ea"/>
                        </a:rPr>
                        <a:t>QFrame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테두리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선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(Line)·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구획 나눔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2071705236"/>
                  </a:ext>
                </a:extLst>
              </a:tr>
              <a:tr h="361876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Widget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QWidget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일반 빈 컨테이너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커스텀 영역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415258597"/>
                  </a:ext>
                </a:extLst>
              </a:tr>
              <a:tr h="53913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MDI Area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+mn-ea"/>
                          <a:ea typeface="+mn-ea"/>
                        </a:rPr>
                        <a:t>QMdiArea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다중 문서 인터페이스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자식 창 여러 개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562817904"/>
                  </a:ext>
                </a:extLst>
              </a:tr>
              <a:tr h="53913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Dock Widget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+mn-ea"/>
                          <a:ea typeface="+mn-ea"/>
                        </a:rPr>
                        <a:t>QDockWidget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도킹 가능한 패널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좌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우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위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아래로 붙였다 떼기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2107147168"/>
                  </a:ext>
                </a:extLst>
              </a:tr>
              <a:tr h="53913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Splitter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+mn-ea"/>
                          <a:ea typeface="+mn-ea"/>
                        </a:rPr>
                        <a:t>QSplitter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경계 드래그로 영역 크기 조절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수평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수직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474989656"/>
                  </a:ext>
                </a:extLst>
              </a:tr>
              <a:tr h="361876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QAxWidget (Windows)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+mn-ea"/>
                          <a:ea typeface="+mn-ea"/>
                        </a:rPr>
                        <a:t>QAxWidget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ea"/>
                          <a:ea typeface="+mn-ea"/>
                        </a:rPr>
                        <a:t>ActiveX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임베드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dirty="0">
                          <a:latin typeface="+mn-ea"/>
                          <a:ea typeface="+mn-ea"/>
                        </a:rPr>
                        <a:t>Windows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전용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2342616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90647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2799E-C0B5-77C5-4D89-9BD8B8F33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C9D3685-DA50-6E79-C89E-D80767338062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5. Containers  (1) group Box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D9276B6-E066-2D2F-BF6D-E6E2926834B1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ECCACE-34A6-0ED8-2183-51B8EE62C543}"/>
              </a:ext>
            </a:extLst>
          </p:cNvPr>
          <p:cNvSpPr txBox="1"/>
          <p:nvPr/>
        </p:nvSpPr>
        <p:spPr>
          <a:xfrm>
            <a:off x="328108" y="872325"/>
            <a:ext cx="11612880" cy="19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buNone/>
            </a:pPr>
            <a:r>
              <a:rPr lang="en-US" altLang="ko-KR" sz="2000" b="1" dirty="0"/>
              <a:t>Group Box</a:t>
            </a:r>
            <a:r>
              <a:rPr lang="ko-KR" altLang="en-US" sz="2000" b="1" dirty="0"/>
              <a:t>의 목적</a:t>
            </a:r>
          </a:p>
          <a:p>
            <a:pPr marL="268288" indent="-182563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b="1" dirty="0"/>
              <a:t>시각적</a:t>
            </a:r>
            <a:r>
              <a:rPr lang="en-US" altLang="ko-KR" b="1" dirty="0"/>
              <a:t>/</a:t>
            </a:r>
            <a:r>
              <a:rPr lang="ko-KR" altLang="en-US" b="1" dirty="0"/>
              <a:t>논리적 묶음</a:t>
            </a:r>
            <a:r>
              <a:rPr lang="en-US" altLang="ko-KR" dirty="0"/>
              <a:t>: </a:t>
            </a:r>
            <a:r>
              <a:rPr lang="ko-KR" altLang="en-US" dirty="0"/>
              <a:t>관련된 입력 위젯</a:t>
            </a:r>
            <a:r>
              <a:rPr lang="en-US" altLang="ko-KR" dirty="0"/>
              <a:t>(label, line edit, check box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ko-KR" altLang="en-US" b="1" dirty="0"/>
              <a:t>제목 달린 상자</a:t>
            </a:r>
            <a:r>
              <a:rPr lang="ko-KR" altLang="en-US" dirty="0"/>
              <a:t>로 묶어 섹션화</a:t>
            </a:r>
            <a:r>
              <a:rPr lang="en-US" altLang="ko-KR" dirty="0"/>
              <a:t>.</a:t>
            </a:r>
          </a:p>
          <a:p>
            <a:pPr marL="268288" indent="-182563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b="1" dirty="0"/>
              <a:t>옵션 블록 온</a:t>
            </a:r>
            <a:r>
              <a:rPr lang="en-US" altLang="ko-KR" b="1" dirty="0"/>
              <a:t>/</a:t>
            </a:r>
            <a:r>
              <a:rPr lang="ko-KR" altLang="en-US" b="1" dirty="0"/>
              <a:t>오프</a:t>
            </a:r>
            <a:r>
              <a:rPr lang="en-US" altLang="ko-KR" dirty="0"/>
              <a:t>: </a:t>
            </a:r>
            <a:r>
              <a:rPr lang="en-US" altLang="ko-KR" dirty="0">
                <a:latin typeface="Courier New" panose="02070309020205020404" pitchFamily="49" charset="0"/>
              </a:rPr>
              <a:t>checkable=true</a:t>
            </a:r>
            <a:r>
              <a:rPr lang="ko-KR" altLang="en-US" dirty="0"/>
              <a:t>로 제목줄에 </a:t>
            </a:r>
            <a:r>
              <a:rPr lang="ko-KR" altLang="en-US" b="1" dirty="0"/>
              <a:t>체크박스</a:t>
            </a:r>
            <a:r>
              <a:rPr lang="ko-KR" altLang="en-US" dirty="0"/>
              <a:t>를 만들어</a:t>
            </a:r>
            <a:r>
              <a:rPr lang="en-US" altLang="ko-KR" dirty="0"/>
              <a:t>, </a:t>
            </a:r>
            <a:r>
              <a:rPr lang="ko-KR" altLang="en-US" b="1" dirty="0"/>
              <a:t>전체 묶음을 한 번에 활성</a:t>
            </a:r>
            <a:r>
              <a:rPr lang="en-US" altLang="ko-KR" b="1" dirty="0"/>
              <a:t>/</a:t>
            </a:r>
            <a:r>
              <a:rPr lang="ko-KR" altLang="en-US" b="1" dirty="0"/>
              <a:t>비활성</a:t>
            </a:r>
            <a:r>
              <a:rPr lang="en-US" altLang="ko-KR" dirty="0"/>
              <a:t>.</a:t>
            </a:r>
          </a:p>
          <a:p>
            <a:pPr marL="268288" indent="-182563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b="1" dirty="0"/>
              <a:t>라디오버튼 구역 나누기</a:t>
            </a:r>
            <a:r>
              <a:rPr lang="en-US" altLang="ko-KR" dirty="0"/>
              <a:t>: </a:t>
            </a:r>
            <a:r>
              <a:rPr lang="ko-KR" altLang="en-US" dirty="0"/>
              <a:t>같은 </a:t>
            </a:r>
            <a:r>
              <a:rPr lang="en-US" altLang="ko-KR" dirty="0" err="1"/>
              <a:t>GroupBox</a:t>
            </a:r>
            <a:r>
              <a:rPr lang="en-US" altLang="ko-KR" dirty="0"/>
              <a:t> </a:t>
            </a:r>
            <a:r>
              <a:rPr lang="ko-KR" altLang="en-US" dirty="0"/>
              <a:t>안의 라디오버튼은 </a:t>
            </a:r>
            <a:r>
              <a:rPr lang="ko-KR" altLang="en-US" b="1" dirty="0"/>
              <a:t>서로 배타 선택</a:t>
            </a:r>
            <a:br>
              <a:rPr lang="en-US" altLang="ko-KR" b="1" dirty="0"/>
            </a:br>
            <a:r>
              <a:rPr lang="en-US" altLang="ko-KR" dirty="0"/>
              <a:t>(</a:t>
            </a:r>
            <a:r>
              <a:rPr lang="ko-KR" altLang="en-US" dirty="0"/>
              <a:t>일반적으로 같은 부모에서 자동 배타</a:t>
            </a:r>
            <a:r>
              <a:rPr lang="en-US" altLang="ko-KR" dirty="0"/>
              <a:t>). </a:t>
            </a:r>
            <a:r>
              <a:rPr lang="ko-KR" altLang="en-US" dirty="0"/>
              <a:t>서로 다른 선택군이 필요하면 </a:t>
            </a:r>
            <a:r>
              <a:rPr lang="en-US" altLang="ko-KR" b="1" dirty="0" err="1"/>
              <a:t>GroupBox</a:t>
            </a:r>
            <a:r>
              <a:rPr lang="ko-KR" altLang="en-US" b="1" dirty="0"/>
              <a:t>를 나눠</a:t>
            </a:r>
            <a:r>
              <a:rPr lang="ko-KR" altLang="en-US" dirty="0"/>
              <a:t> 주면 됨</a:t>
            </a:r>
            <a:r>
              <a:rPr lang="en-US" altLang="ko-KR" dirty="0"/>
              <a:t>.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FC6844F-353F-DE75-467D-DA0AF1762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11" y="2973812"/>
            <a:ext cx="3629532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449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AC3A3-960A-FA04-CBFE-C00CFABA8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1551C3A-6F3D-AA8D-7793-03C7C374E637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5. Containers  (2) scroll Area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E76160-E800-4102-3C6B-C25D9FCF7AB0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51626C8-2821-56A7-D890-E7312B65B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905" y="807320"/>
            <a:ext cx="2686425" cy="39724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8F6202-2D22-E118-2DDB-143A062968F4}"/>
              </a:ext>
            </a:extLst>
          </p:cNvPr>
          <p:cNvSpPr txBox="1"/>
          <p:nvPr/>
        </p:nvSpPr>
        <p:spPr>
          <a:xfrm>
            <a:off x="74095" y="807320"/>
            <a:ext cx="3630707" cy="262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n-ea"/>
              </a:rPr>
              <a:t>QScrollArea</a:t>
            </a:r>
            <a:r>
              <a:rPr lang="ko-KR" altLang="en-US" sz="1600" dirty="0">
                <a:latin typeface="+mn-ea"/>
              </a:rPr>
              <a:t>는 “안에 들어간 위젯의 자연 크기</a:t>
            </a:r>
            <a:r>
              <a:rPr lang="en-US" altLang="ko-KR" sz="1600" dirty="0">
                <a:latin typeface="+mn-ea"/>
              </a:rPr>
              <a:t>(</a:t>
            </a:r>
            <a:r>
              <a:rPr lang="en-US" altLang="ko-KR" sz="1600" dirty="0" err="1">
                <a:latin typeface="+mn-ea"/>
              </a:rPr>
              <a:t>sizeHint</a:t>
            </a:r>
            <a:r>
              <a:rPr lang="en-US" altLang="ko-KR" sz="1600" dirty="0">
                <a:latin typeface="+mn-ea"/>
              </a:rPr>
              <a:t>/ </a:t>
            </a:r>
            <a:r>
              <a:rPr lang="en-US" altLang="ko-KR" sz="1600" dirty="0" err="1">
                <a:latin typeface="+mn-ea"/>
              </a:rPr>
              <a:t>minimumSize</a:t>
            </a:r>
            <a:r>
              <a:rPr lang="en-US" altLang="ko-KR" sz="1600" dirty="0">
                <a:latin typeface="+mn-ea"/>
              </a:rPr>
              <a:t>)”</a:t>
            </a:r>
            <a:r>
              <a:rPr lang="ko-KR" altLang="en-US" sz="1600" dirty="0">
                <a:latin typeface="+mn-ea"/>
              </a:rPr>
              <a:t>가 </a:t>
            </a:r>
            <a:r>
              <a:rPr lang="ko-KR" altLang="en-US" sz="1600" dirty="0" err="1">
                <a:latin typeface="+mn-ea"/>
              </a:rPr>
              <a:t>뷰포트보다</a:t>
            </a:r>
            <a:r>
              <a:rPr lang="ko-KR" altLang="en-US" sz="1600" dirty="0">
                <a:latin typeface="+mn-ea"/>
              </a:rPr>
              <a:t> 클 때만 스크롤바를 실제로 움직이게 만듭니다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+mn-ea"/>
              </a:rPr>
              <a:t>widgetResizable</a:t>
            </a:r>
            <a:r>
              <a:rPr lang="en-US" altLang="ko-KR" sz="1600" dirty="0">
                <a:latin typeface="+mn-ea"/>
              </a:rPr>
              <a:t>=True</a:t>
            </a:r>
            <a:r>
              <a:rPr lang="ko-KR" altLang="en-US" sz="1600" dirty="0">
                <a:latin typeface="+mn-ea"/>
              </a:rPr>
              <a:t>일 때 </a:t>
            </a:r>
            <a:r>
              <a:rPr lang="en-US" altLang="ko-KR" sz="1600" dirty="0">
                <a:latin typeface="+mn-ea"/>
              </a:rPr>
              <a:t>QScrollArea</a:t>
            </a:r>
            <a:r>
              <a:rPr lang="ko-KR" altLang="en-US" sz="1600" dirty="0">
                <a:latin typeface="+mn-ea"/>
              </a:rPr>
              <a:t>는 내용 위젯을 </a:t>
            </a:r>
            <a:r>
              <a:rPr lang="ko-KR" altLang="en-US" sz="1600" dirty="0" err="1">
                <a:latin typeface="+mn-ea"/>
              </a:rPr>
              <a:t>뷰포트</a:t>
            </a:r>
            <a:r>
              <a:rPr lang="ko-KR" altLang="en-US" sz="1600" dirty="0">
                <a:latin typeface="+mn-ea"/>
              </a:rPr>
              <a:t> 크기에 맞춰 줄여 줍니다</a:t>
            </a:r>
            <a:r>
              <a:rPr lang="en-US" altLang="ko-KR" sz="1600" dirty="0"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20F8505-2725-A944-0103-A176A7C97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793" y="807320"/>
            <a:ext cx="4925112" cy="5534797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DA1FB9B-2C68-1E58-FB07-38BE8207609F}"/>
              </a:ext>
            </a:extLst>
          </p:cNvPr>
          <p:cNvCxnSpPr/>
          <p:nvPr/>
        </p:nvCxnSpPr>
        <p:spPr>
          <a:xfrm>
            <a:off x="7057016" y="6342117"/>
            <a:ext cx="2011680" cy="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3237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9A4F5-6297-9ED1-E2A5-DAD6496C1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91700C5-2CA0-25D2-08DC-CC4F771228A4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5. Containers  (3) Tool Box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099BA4F-61D2-48B0-5B15-9D01DE20EA2E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8DB1BD-C71C-F097-4F2E-BF2BD098A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40" y="1432224"/>
            <a:ext cx="11393490" cy="50870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73C598-EE77-9DC5-5842-9163187089FC}"/>
              </a:ext>
            </a:extLst>
          </p:cNvPr>
          <p:cNvSpPr txBox="1"/>
          <p:nvPr/>
        </p:nvSpPr>
        <p:spPr>
          <a:xfrm>
            <a:off x="323840" y="774414"/>
            <a:ext cx="5772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toolBox</a:t>
            </a:r>
            <a:r>
              <a:rPr lang="ko-KR" altLang="en-US" dirty="0"/>
              <a:t>를 적용할 </a:t>
            </a:r>
            <a:r>
              <a:rPr lang="en-US" altLang="ko-KR" dirty="0"/>
              <a:t>window </a:t>
            </a:r>
            <a:r>
              <a:rPr lang="ko-KR" altLang="en-US" dirty="0"/>
              <a:t>크기만큼 지정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page</a:t>
            </a:r>
            <a:r>
              <a:rPr lang="ko-KR" altLang="en-US" dirty="0"/>
              <a:t> 사이에 필요한 </a:t>
            </a:r>
            <a:r>
              <a:rPr lang="en-US" altLang="ko-KR" dirty="0"/>
              <a:t>widget </a:t>
            </a:r>
            <a:r>
              <a:rPr lang="ko-KR" altLang="en-US" dirty="0"/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26767286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F248C-1A11-1BAD-B519-ECF32715B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925475F-F45B-A554-C8C2-39E58BB19876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5. Containers  (4) Tab Widget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14A9EFA-CB2C-20F6-885A-C5DB9986A69E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07D50E-1D89-B129-9ABA-837D24498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40" y="1563562"/>
            <a:ext cx="11269648" cy="50013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C0DB01-59A0-6104-7805-C9D1E8B21656}"/>
              </a:ext>
            </a:extLst>
          </p:cNvPr>
          <p:cNvSpPr txBox="1"/>
          <p:nvPr/>
        </p:nvSpPr>
        <p:spPr>
          <a:xfrm>
            <a:off x="323840" y="774414"/>
            <a:ext cx="5772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Tab Widget</a:t>
            </a:r>
            <a:r>
              <a:rPr lang="ko-KR" altLang="en-US" dirty="0"/>
              <a:t>을 적용할 </a:t>
            </a:r>
            <a:r>
              <a:rPr lang="en-US" altLang="ko-KR" dirty="0"/>
              <a:t>window </a:t>
            </a:r>
            <a:r>
              <a:rPr lang="ko-KR" altLang="en-US" dirty="0"/>
              <a:t>크기만큼 지정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tab </a:t>
            </a:r>
            <a:r>
              <a:rPr lang="ko-KR" altLang="en-US" dirty="0"/>
              <a:t>내부에 필요한 </a:t>
            </a:r>
            <a:r>
              <a:rPr lang="en-US" altLang="ko-KR" dirty="0"/>
              <a:t>widget </a:t>
            </a:r>
            <a:r>
              <a:rPr lang="ko-KR" altLang="en-US" dirty="0"/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22960337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37470-4F40-4CC7-FF6C-CD8E98F9F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C2B8795-4F99-F5CA-9A3F-7B6CA3A0C05E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5. Containers  (5) Stacked Widget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DC3DAC8-7FAA-D051-BA80-CD866780560A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C477D4-6C23-365E-908E-B8A0D35ABFB2}"/>
              </a:ext>
            </a:extLst>
          </p:cNvPr>
          <p:cNvSpPr txBox="1"/>
          <p:nvPr/>
        </p:nvSpPr>
        <p:spPr>
          <a:xfrm>
            <a:off x="446095" y="841504"/>
            <a:ext cx="5772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방향키로 페이지 전환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A9F56B8-6B8C-43A9-3F3B-DD62D4206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95" y="1420745"/>
            <a:ext cx="11145805" cy="4953691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7F77089-EE9A-97CC-1FD9-E7F904BCEEB4}"/>
              </a:ext>
            </a:extLst>
          </p:cNvPr>
          <p:cNvCxnSpPr/>
          <p:nvPr/>
        </p:nvCxnSpPr>
        <p:spPr>
          <a:xfrm>
            <a:off x="5390147" y="1992431"/>
            <a:ext cx="385011" cy="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8546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BDF8C-FB77-4D67-6BCC-640D3F8BC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5DF05DA-F847-DE58-5BDD-AC1CB48DE3F6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5. Containers  (6) MDI (Multiple Document Interface)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1B46B8F-CBE3-B8FB-0550-2DF76AB37ABD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7BA1E9-34BD-3BF9-9F85-7B8A4C523064}"/>
              </a:ext>
            </a:extLst>
          </p:cNvPr>
          <p:cNvSpPr txBox="1"/>
          <p:nvPr/>
        </p:nvSpPr>
        <p:spPr>
          <a:xfrm>
            <a:off x="446095" y="841504"/>
            <a:ext cx="5772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하나의 </a:t>
            </a:r>
            <a:r>
              <a:rPr lang="en-US" altLang="ko-KR" dirty="0"/>
              <a:t>window</a:t>
            </a:r>
            <a:r>
              <a:rPr lang="ko-KR" altLang="en-US" dirty="0"/>
              <a:t>에 다수의 창 생성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4003671-2EFB-A972-2016-E83C16A66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36" y="1309532"/>
            <a:ext cx="9481756" cy="53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1986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6. input Widgets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5E822A8-CC91-4313-90AB-75C182C3A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695389"/>
              </p:ext>
            </p:extLst>
          </p:nvPr>
        </p:nvGraphicFramePr>
        <p:xfrm>
          <a:off x="358346" y="779465"/>
          <a:ext cx="9798909" cy="607687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61286">
                  <a:extLst>
                    <a:ext uri="{9D8B030D-6E8A-4147-A177-3AD203B41FA5}">
                      <a16:colId xmlns:a16="http://schemas.microsoft.com/office/drawing/2014/main" val="1674456061"/>
                    </a:ext>
                  </a:extLst>
                </a:gridCol>
                <a:gridCol w="2310714">
                  <a:extLst>
                    <a:ext uri="{9D8B030D-6E8A-4147-A177-3AD203B41FA5}">
                      <a16:colId xmlns:a16="http://schemas.microsoft.com/office/drawing/2014/main" val="3842808356"/>
                    </a:ext>
                  </a:extLst>
                </a:gridCol>
                <a:gridCol w="5226909">
                  <a:extLst>
                    <a:ext uri="{9D8B030D-6E8A-4147-A177-3AD203B41FA5}">
                      <a16:colId xmlns:a16="http://schemas.microsoft.com/office/drawing/2014/main" val="3563157535"/>
                    </a:ext>
                  </a:extLst>
                </a:gridCol>
              </a:tblGrid>
              <a:tr h="33561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팔레트 이름</a:t>
                      </a:r>
                    </a:p>
                  </a:txBody>
                  <a:tcPr marL="54392" marR="54392" marT="27196" marB="27196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ea"/>
                          <a:ea typeface="+mn-ea"/>
                        </a:rPr>
                        <a:t>Qt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클래스</a:t>
                      </a:r>
                    </a:p>
                  </a:txBody>
                  <a:tcPr marL="54392" marR="54392" marT="27196" marB="27196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기능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용도</a:t>
                      </a:r>
                    </a:p>
                  </a:txBody>
                  <a:tcPr marL="54392" marR="54392" marT="27196" marB="27196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67002"/>
                  </a:ext>
                </a:extLst>
              </a:tr>
              <a:tr h="4284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ea"/>
                          <a:ea typeface="+mn-ea"/>
                        </a:rPr>
                        <a:t>Combo Box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QComboBox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드롭다운 목록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편집 가능 옵션도 지원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804734712"/>
                  </a:ext>
                </a:extLst>
              </a:tr>
              <a:tr h="33561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Font Combo Box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+mn-ea"/>
                          <a:ea typeface="+mn-ea"/>
                        </a:rPr>
                        <a:t>QFontComboBox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시스템 글꼴 선택 드롭다운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4112306964"/>
                  </a:ext>
                </a:extLst>
              </a:tr>
              <a:tr h="428469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Line Edit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QLineEdit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한 줄 입력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>
                          <a:latin typeface="+mn-ea"/>
                          <a:ea typeface="+mn-ea"/>
                        </a:rPr>
                        <a:t>placeholder/validator/echo mode)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498592020"/>
                  </a:ext>
                </a:extLst>
              </a:tr>
              <a:tr h="4284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ea"/>
                          <a:ea typeface="+mn-ea"/>
                        </a:rPr>
                        <a:t>Text Edit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QTextEdit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서식 있는 여러 줄 입력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편집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(Rich text)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610948185"/>
                  </a:ext>
                </a:extLst>
              </a:tr>
              <a:tr h="428469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Plain Text Edit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QPlainTextEdit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순수 텍스트 여러 줄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대용량에 유리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517274993"/>
                  </a:ext>
                </a:extLst>
              </a:tr>
              <a:tr h="33561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Spin Box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QSpinBox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정수 스핀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최소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최대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증감폭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461225245"/>
                  </a:ext>
                </a:extLst>
              </a:tr>
              <a:tr h="33561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Double Spin Box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QDoubleSpinBox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실수 스핀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소수점 자릿수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892147589"/>
                  </a:ext>
                </a:extLst>
              </a:tr>
              <a:tr h="33561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Time Edit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QTimeEdit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시간 입력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186314677"/>
                  </a:ext>
                </a:extLst>
              </a:tr>
              <a:tr h="33561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Date Edit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QDateEdit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날짜 입력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787176180"/>
                  </a:ext>
                </a:extLst>
              </a:tr>
              <a:tr h="33561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Date/Time Edit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+mn-ea"/>
                          <a:ea typeface="+mn-ea"/>
                        </a:rPr>
                        <a:t>QDateTimeEdit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날짜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시간 입력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13980936"/>
                  </a:ext>
                </a:extLst>
              </a:tr>
              <a:tr h="33561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Dial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QDial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둥근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노브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컨트롤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슬라이더 대체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4185468789"/>
                  </a:ext>
                </a:extLst>
              </a:tr>
              <a:tr h="33561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Horizontal Scroll Bar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QScrollBar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가로 스크롤바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값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범위 제어</a:t>
                      </a:r>
                      <a:r>
                        <a:rPr lang="en-US" altLang="ko-KR" sz="16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590323037"/>
                  </a:ext>
                </a:extLst>
              </a:tr>
              <a:tr h="33561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Vertical Scroll Bar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QScrollBar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세로 스크롤바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856065171"/>
                  </a:ext>
                </a:extLst>
              </a:tr>
              <a:tr h="33561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Horizontal Slider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QSlider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>
                          <a:latin typeface="+mn-ea"/>
                          <a:ea typeface="+mn-ea"/>
                        </a:rPr>
                        <a:t>가로 슬라이더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999414723"/>
                  </a:ext>
                </a:extLst>
              </a:tr>
              <a:tr h="33561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Vertical Slider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QSlider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세로 슬라이더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815952325"/>
                  </a:ext>
                </a:extLst>
              </a:tr>
              <a:tr h="33561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ea"/>
                          <a:ea typeface="+mn-ea"/>
                        </a:rPr>
                        <a:t>Key Sequence Edit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+mn-ea"/>
                          <a:ea typeface="+mn-ea"/>
                        </a:rPr>
                        <a:t>QKeySequenceEdit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단축키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키 조합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입력 위젯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237133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8299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/>
            <a:r>
              <a:rPr lang="en-US" altLang="ko-KR" sz="2000" b="1" dirty="0">
                <a:solidFill>
                  <a:schemeClr val="tx1"/>
                </a:solidFill>
              </a:rPr>
              <a:t>7. Display Widgets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  </a:t>
            </a:r>
            <a:r>
              <a:rPr lang="en-US" altLang="ko-KR" sz="2000" b="1" dirty="0">
                <a:sym typeface="Wingdings" panose="05000000000000000000" pitchFamily="2" charset="2"/>
              </a:rPr>
              <a:t> Widget</a:t>
            </a:r>
            <a:endParaRPr lang="ko-KR" altLang="en-US" sz="20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A938BD2-3B09-49D5-988D-FD0FF18594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152644"/>
              </p:ext>
            </p:extLst>
          </p:nvPr>
        </p:nvGraphicFramePr>
        <p:xfrm>
          <a:off x="430426" y="973184"/>
          <a:ext cx="11098426" cy="491163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71332">
                  <a:extLst>
                    <a:ext uri="{9D8B030D-6E8A-4147-A177-3AD203B41FA5}">
                      <a16:colId xmlns:a16="http://schemas.microsoft.com/office/drawing/2014/main" val="3505400545"/>
                    </a:ext>
                  </a:extLst>
                </a:gridCol>
                <a:gridCol w="2843075">
                  <a:extLst>
                    <a:ext uri="{9D8B030D-6E8A-4147-A177-3AD203B41FA5}">
                      <a16:colId xmlns:a16="http://schemas.microsoft.com/office/drawing/2014/main" val="3229444862"/>
                    </a:ext>
                  </a:extLst>
                </a:gridCol>
                <a:gridCol w="5384019">
                  <a:extLst>
                    <a:ext uri="{9D8B030D-6E8A-4147-A177-3AD203B41FA5}">
                      <a16:colId xmlns:a16="http://schemas.microsoft.com/office/drawing/2014/main" val="65512144"/>
                    </a:ext>
                  </a:extLst>
                </a:gridCol>
              </a:tblGrid>
              <a:tr h="503757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>
                          <a:latin typeface="+mn-ea"/>
                          <a:ea typeface="+mn-ea"/>
                        </a:rPr>
                        <a:t>팔레트 이름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ea"/>
                          <a:ea typeface="+mn-ea"/>
                        </a:rPr>
                        <a:t>Qt 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클래스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>
                          <a:latin typeface="+mn-ea"/>
                          <a:ea typeface="+mn-ea"/>
                        </a:rPr>
                        <a:t>기능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용도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46283"/>
                  </a:ext>
                </a:extLst>
              </a:tr>
              <a:tr h="88157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ea"/>
                          <a:ea typeface="+mn-ea"/>
                        </a:rPr>
                        <a:t>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ea"/>
                          <a:ea typeface="+mn-ea"/>
                        </a:rPr>
                        <a:t>QLabel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+mn-ea"/>
                          <a:ea typeface="+mn-ea"/>
                        </a:rPr>
                        <a:t>텍스트</a:t>
                      </a:r>
                      <a:r>
                        <a:rPr lang="en-US" altLang="ko-KR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>
                          <a:latin typeface="+mn-ea"/>
                          <a:ea typeface="+mn-ea"/>
                        </a:rPr>
                        <a:t>이미지 표시</a:t>
                      </a:r>
                      <a:r>
                        <a:rPr lang="en-US" altLang="ko-KR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>
                          <a:latin typeface="+mn-ea"/>
                          <a:ea typeface="+mn-ea"/>
                        </a:rPr>
                        <a:t>하이퍼링크</a:t>
                      </a:r>
                      <a:r>
                        <a:rPr lang="en-US" altLang="ko-KR">
                          <a:latin typeface="+mn-ea"/>
                          <a:ea typeface="+mn-ea"/>
                        </a:rPr>
                        <a:t>/word-wrap)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451411"/>
                  </a:ext>
                </a:extLst>
              </a:tr>
              <a:tr h="5037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ea"/>
                          <a:ea typeface="+mn-ea"/>
                        </a:rPr>
                        <a:t>Text Browser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ea"/>
                          <a:ea typeface="+mn-ea"/>
                        </a:rPr>
                        <a:t>QTextBrowser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+mn-ea"/>
                          <a:ea typeface="+mn-ea"/>
                        </a:rPr>
                        <a:t>링크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서식 지원 뷰어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읽기 전용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673676"/>
                  </a:ext>
                </a:extLst>
              </a:tr>
              <a:tr h="503757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ea"/>
                          <a:ea typeface="+mn-ea"/>
                        </a:rPr>
                        <a:t>Graphics 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ea"/>
                          <a:ea typeface="+mn-ea"/>
                        </a:rPr>
                        <a:t>QGraphicsView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latin typeface="+mn-ea"/>
                          <a:ea typeface="+mn-ea"/>
                        </a:rPr>
                        <a:t>2D </a:t>
                      </a:r>
                      <a:r>
                        <a:rPr lang="ko-KR" altLang="en-US">
                          <a:latin typeface="+mn-ea"/>
                          <a:ea typeface="+mn-ea"/>
                        </a:rPr>
                        <a:t>장면</a:t>
                      </a:r>
                      <a:r>
                        <a:rPr lang="en-US" altLang="ko-KR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>
                          <a:latin typeface="+mn-ea"/>
                          <a:ea typeface="+mn-ea"/>
                        </a:rPr>
                        <a:t>아이템 프레임워크 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6557578"/>
                  </a:ext>
                </a:extLst>
              </a:tr>
              <a:tr h="503757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ea"/>
                          <a:ea typeface="+mn-ea"/>
                        </a:rPr>
                        <a:t>Calendar Widget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ea"/>
                          <a:ea typeface="+mn-ea"/>
                        </a:rPr>
                        <a:t>QCalendarWidget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+mn-ea"/>
                          <a:ea typeface="+mn-ea"/>
                        </a:rPr>
                        <a:t>달력</a:t>
                      </a:r>
                      <a:r>
                        <a:rPr lang="en-US" altLang="ko-KR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>
                          <a:latin typeface="+mn-ea"/>
                          <a:ea typeface="+mn-ea"/>
                        </a:rPr>
                        <a:t>날짜 선택</a:t>
                      </a:r>
                      <a:r>
                        <a:rPr lang="en-US" altLang="ko-KR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749821"/>
                  </a:ext>
                </a:extLst>
              </a:tr>
              <a:tr h="503757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ea"/>
                          <a:ea typeface="+mn-ea"/>
                        </a:rPr>
                        <a:t>LCD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ea"/>
                          <a:ea typeface="+mn-ea"/>
                        </a:rPr>
                        <a:t>QLCDNumber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+mn-ea"/>
                          <a:ea typeface="+mn-ea"/>
                        </a:rPr>
                        <a:t>세그먼트형 숫자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158698"/>
                  </a:ext>
                </a:extLst>
              </a:tr>
              <a:tr h="5037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ea"/>
                          <a:ea typeface="+mn-ea"/>
                        </a:rPr>
                        <a:t>Progress Bar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ea"/>
                          <a:ea typeface="+mn-ea"/>
                        </a:rPr>
                        <a:t>QProgressBar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+mn-ea"/>
                          <a:ea typeface="+mn-ea"/>
                        </a:rPr>
                        <a:t>진행률 막대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정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불확정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4677314"/>
                  </a:ext>
                </a:extLst>
              </a:tr>
              <a:tr h="503757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ea"/>
                          <a:ea typeface="+mn-ea"/>
                        </a:rPr>
                        <a:t>OpenGL Widget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ea"/>
                          <a:ea typeface="+mn-ea"/>
                        </a:rPr>
                        <a:t>QOpenGLWidget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n-ea"/>
                          <a:ea typeface="+mn-ea"/>
                        </a:rPr>
                        <a:t>OpenGL </a:t>
                      </a:r>
                      <a:r>
                        <a:rPr lang="ko-KR" altLang="en-US">
                          <a:latin typeface="+mn-ea"/>
                          <a:ea typeface="+mn-ea"/>
                        </a:rPr>
                        <a:t>렌더링 영역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8649292"/>
                  </a:ext>
                </a:extLst>
              </a:tr>
              <a:tr h="503757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+mn-ea"/>
                          <a:ea typeface="+mn-ea"/>
                        </a:rPr>
                        <a:t>Quick Widget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+mn-ea"/>
                          <a:ea typeface="+mn-ea"/>
                        </a:rPr>
                        <a:t>QQuickWidget</a:t>
                      </a:r>
                      <a:endParaRPr lang="en-US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latin typeface="+mn-ea"/>
                          <a:ea typeface="+mn-ea"/>
                        </a:rPr>
                        <a:t>Qt Quick(QML) 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컨텐츠 </a:t>
                      </a:r>
                      <a:r>
                        <a:rPr lang="ko-KR" altLang="en-US" dirty="0" err="1">
                          <a:latin typeface="+mn-ea"/>
                          <a:ea typeface="+mn-ea"/>
                        </a:rPr>
                        <a:t>임베드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498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9002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F7D0B-6782-F920-C2A9-91EA40277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842D1A1-825D-5EF2-006E-934F1A3739D5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Label &amp; Button </a:t>
            </a:r>
            <a:r>
              <a:rPr lang="ko-KR" altLang="en-US" sz="2000" b="1" dirty="0">
                <a:solidFill>
                  <a:schemeClr val="tx1"/>
                </a:solidFill>
              </a:rPr>
              <a:t>연습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542CB05-A736-520B-2946-D279A288D665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</a:t>
            </a:r>
            <a:endParaRPr lang="ko-KR" altLang="en-US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5FCEA8-3E9A-00BD-77D8-30D9B8395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05" y="1071787"/>
            <a:ext cx="3600400" cy="224564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8922A37-AAB6-A65D-BB19-DD92CBF5B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040" y="1287810"/>
            <a:ext cx="3031744" cy="1920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" name="오른쪽 화살표 9">
            <a:extLst>
              <a:ext uri="{FF2B5EF4-FFF2-40B4-BE49-F238E27FC236}">
                <a16:creationId xmlns:a16="http://schemas.microsoft.com/office/drawing/2014/main" id="{4B0EB691-6CCC-FE05-5152-311E3531051E}"/>
              </a:ext>
            </a:extLst>
          </p:cNvPr>
          <p:cNvSpPr/>
          <p:nvPr/>
        </p:nvSpPr>
        <p:spPr>
          <a:xfrm>
            <a:off x="4520952" y="2223914"/>
            <a:ext cx="576064" cy="144016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10">
            <a:extLst>
              <a:ext uri="{FF2B5EF4-FFF2-40B4-BE49-F238E27FC236}">
                <a16:creationId xmlns:a16="http://schemas.microsoft.com/office/drawing/2014/main" id="{105FC81E-986B-0922-05E8-B5264DB7B73F}"/>
              </a:ext>
            </a:extLst>
          </p:cNvPr>
          <p:cNvSpPr/>
          <p:nvPr/>
        </p:nvSpPr>
        <p:spPr>
          <a:xfrm>
            <a:off x="344488" y="1791866"/>
            <a:ext cx="504056" cy="28803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12">
            <a:extLst>
              <a:ext uri="{FF2B5EF4-FFF2-40B4-BE49-F238E27FC236}">
                <a16:creationId xmlns:a16="http://schemas.microsoft.com/office/drawing/2014/main" id="{1E0530D5-F604-6557-C96C-D32A8AC41399}"/>
              </a:ext>
            </a:extLst>
          </p:cNvPr>
          <p:cNvSpPr/>
          <p:nvPr/>
        </p:nvSpPr>
        <p:spPr>
          <a:xfrm>
            <a:off x="5241032" y="1791866"/>
            <a:ext cx="504056" cy="17605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13">
            <a:extLst>
              <a:ext uri="{FF2B5EF4-FFF2-40B4-BE49-F238E27FC236}">
                <a16:creationId xmlns:a16="http://schemas.microsoft.com/office/drawing/2014/main" id="{97159C1A-4ECC-DE16-8561-490E4D0EFA2A}"/>
              </a:ext>
            </a:extLst>
          </p:cNvPr>
          <p:cNvSpPr/>
          <p:nvPr/>
        </p:nvSpPr>
        <p:spPr>
          <a:xfrm>
            <a:off x="5393432" y="2047857"/>
            <a:ext cx="504056" cy="17605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5B619A-5717-848D-1CFC-2F1CA73E38D7}"/>
              </a:ext>
            </a:extLst>
          </p:cNvPr>
          <p:cNvSpPr txBox="1"/>
          <p:nvPr/>
        </p:nvSpPr>
        <p:spPr>
          <a:xfrm>
            <a:off x="1712640" y="855762"/>
            <a:ext cx="6367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00FF"/>
                </a:solidFill>
              </a:rPr>
              <a:t>Label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B917A-EF51-3A12-F364-F5FF6C0B35A7}"/>
              </a:ext>
            </a:extLst>
          </p:cNvPr>
          <p:cNvSpPr txBox="1"/>
          <p:nvPr/>
        </p:nvSpPr>
        <p:spPr>
          <a:xfrm>
            <a:off x="6681192" y="85576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00FF"/>
                </a:solidFill>
              </a:rPr>
              <a:t>Line Edit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DAB811E-398C-FADC-CB9F-17656B4A4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12" y="4096122"/>
            <a:ext cx="4306808" cy="216024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4" name="모서리가 둥근 직사각형 17">
            <a:extLst>
              <a:ext uri="{FF2B5EF4-FFF2-40B4-BE49-F238E27FC236}">
                <a16:creationId xmlns:a16="http://schemas.microsoft.com/office/drawing/2014/main" id="{EF2D140E-7731-3E53-9E94-5B626241CF44}"/>
              </a:ext>
            </a:extLst>
          </p:cNvPr>
          <p:cNvSpPr/>
          <p:nvPr/>
        </p:nvSpPr>
        <p:spPr>
          <a:xfrm>
            <a:off x="488504" y="4744194"/>
            <a:ext cx="504056" cy="28803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56771E-2252-BC15-F3C3-5CA20BDE1B31}"/>
              </a:ext>
            </a:extLst>
          </p:cNvPr>
          <p:cNvSpPr txBox="1"/>
          <p:nvPr/>
        </p:nvSpPr>
        <p:spPr>
          <a:xfrm>
            <a:off x="1856656" y="3736082"/>
            <a:ext cx="1192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00FF"/>
                </a:solidFill>
              </a:rPr>
              <a:t>Push Button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  <p:sp>
        <p:nvSpPr>
          <p:cNvPr id="16" name="오른쪽 화살표 19">
            <a:extLst>
              <a:ext uri="{FF2B5EF4-FFF2-40B4-BE49-F238E27FC236}">
                <a16:creationId xmlns:a16="http://schemas.microsoft.com/office/drawing/2014/main" id="{B72122F1-8BC3-2FBF-2110-0AF3EBC224B5}"/>
              </a:ext>
            </a:extLst>
          </p:cNvPr>
          <p:cNvSpPr/>
          <p:nvPr/>
        </p:nvSpPr>
        <p:spPr>
          <a:xfrm rot="7777388" flipV="1">
            <a:off x="4674297" y="3650313"/>
            <a:ext cx="576064" cy="108184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6085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67757-EDCB-2CA2-E094-FE355A2F2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4FAE35E-8444-3636-EEA7-2AD829536C6C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Label &amp; Button </a:t>
            </a:r>
            <a:r>
              <a:rPr lang="ko-KR" altLang="en-US" sz="2000" b="1" dirty="0">
                <a:solidFill>
                  <a:schemeClr val="tx1"/>
                </a:solidFill>
              </a:rPr>
              <a:t>연습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8F0F89D-E34D-0919-7A04-8782FC46CBEF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</a:t>
            </a:r>
            <a:endParaRPr lang="ko-KR" altLang="en-US" sz="2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3B9209-A7E2-48C1-4CDF-5DF7AFF0F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034827"/>
            <a:ext cx="6415633" cy="476128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7" name="모서리가 둥근 직사각형 21">
            <a:extLst>
              <a:ext uri="{FF2B5EF4-FFF2-40B4-BE49-F238E27FC236}">
                <a16:creationId xmlns:a16="http://schemas.microsoft.com/office/drawing/2014/main" id="{CFC3031A-5F3A-02F9-BC1F-1E9B1EBE9EF3}"/>
              </a:ext>
            </a:extLst>
          </p:cNvPr>
          <p:cNvSpPr/>
          <p:nvPr/>
        </p:nvSpPr>
        <p:spPr>
          <a:xfrm>
            <a:off x="2792760" y="1178843"/>
            <a:ext cx="216024" cy="43204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22">
            <a:extLst>
              <a:ext uri="{FF2B5EF4-FFF2-40B4-BE49-F238E27FC236}">
                <a16:creationId xmlns:a16="http://schemas.microsoft.com/office/drawing/2014/main" id="{058314D1-E736-7D31-F579-61E2F70A7C11}"/>
              </a:ext>
            </a:extLst>
          </p:cNvPr>
          <p:cNvSpPr/>
          <p:nvPr/>
        </p:nvSpPr>
        <p:spPr>
          <a:xfrm>
            <a:off x="4016896" y="4203179"/>
            <a:ext cx="936104" cy="2160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모서리가 둥근 직사각형 23">
            <a:extLst>
              <a:ext uri="{FF2B5EF4-FFF2-40B4-BE49-F238E27FC236}">
                <a16:creationId xmlns:a16="http://schemas.microsoft.com/office/drawing/2014/main" id="{571F16EE-9C65-F208-A347-6A524F5755EC}"/>
              </a:ext>
            </a:extLst>
          </p:cNvPr>
          <p:cNvSpPr/>
          <p:nvPr/>
        </p:nvSpPr>
        <p:spPr>
          <a:xfrm>
            <a:off x="5961112" y="3771131"/>
            <a:ext cx="720080" cy="14401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1CCDB5D-B242-387E-C94D-750E089A16A2}"/>
              </a:ext>
            </a:extLst>
          </p:cNvPr>
          <p:cNvCxnSpPr>
            <a:stCxn id="17" idx="2"/>
          </p:cNvCxnSpPr>
          <p:nvPr/>
        </p:nvCxnSpPr>
        <p:spPr>
          <a:xfrm>
            <a:off x="2900772" y="1610891"/>
            <a:ext cx="1116124" cy="11521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1BDE829-C90A-F3F2-BA3B-366D3D763C9F}"/>
              </a:ext>
            </a:extLst>
          </p:cNvPr>
          <p:cNvCxnSpPr/>
          <p:nvPr/>
        </p:nvCxnSpPr>
        <p:spPr>
          <a:xfrm>
            <a:off x="4088904" y="3123059"/>
            <a:ext cx="144016" cy="108012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ADFC518-48BA-B7A5-7602-D2EED3BB2DED}"/>
              </a:ext>
            </a:extLst>
          </p:cNvPr>
          <p:cNvCxnSpPr>
            <a:endCxn id="19" idx="1"/>
          </p:cNvCxnSpPr>
          <p:nvPr/>
        </p:nvCxnSpPr>
        <p:spPr>
          <a:xfrm flipV="1">
            <a:off x="4953000" y="3843139"/>
            <a:ext cx="1008112" cy="50405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3D9E85B-8DF2-F32F-AA2F-00A5E2D43747}"/>
              </a:ext>
            </a:extLst>
          </p:cNvPr>
          <p:cNvSpPr txBox="1"/>
          <p:nvPr/>
        </p:nvSpPr>
        <p:spPr>
          <a:xfrm>
            <a:off x="3024342" y="877220"/>
            <a:ext cx="155042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시그널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슬롯 편집</a:t>
            </a:r>
          </a:p>
        </p:txBody>
      </p:sp>
    </p:spTree>
    <p:extLst>
      <p:ext uri="{BB962C8B-B14F-4D97-AF65-F5344CB8AC3E}">
        <p14:creationId xmlns:p14="http://schemas.microsoft.com/office/powerpoint/2010/main" val="37889845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5603F-2849-0ED2-B9FA-97BE98C87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D5BCBE4-467C-80AB-0504-04C84C0A5935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Label &amp; Button </a:t>
            </a:r>
            <a:r>
              <a:rPr lang="ko-KR" altLang="en-US" sz="2000" b="1" dirty="0">
                <a:solidFill>
                  <a:schemeClr val="tx1"/>
                </a:solidFill>
              </a:rPr>
              <a:t>연습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BD475A0-0BE4-CB3D-4BF9-7A4388E1445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</a:t>
            </a:r>
            <a:endParaRPr lang="ko-KR" altLang="en-US" sz="2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4C89324-053D-B05A-6CB0-B7176D29D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043211"/>
            <a:ext cx="7200800" cy="511780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4" name="모서리가 둥근 직사각형 12">
            <a:extLst>
              <a:ext uri="{FF2B5EF4-FFF2-40B4-BE49-F238E27FC236}">
                <a16:creationId xmlns:a16="http://schemas.microsoft.com/office/drawing/2014/main" id="{BC3D1A18-8548-156C-DB72-568570CC46E3}"/>
              </a:ext>
            </a:extLst>
          </p:cNvPr>
          <p:cNvSpPr/>
          <p:nvPr/>
        </p:nvSpPr>
        <p:spPr>
          <a:xfrm>
            <a:off x="2648744" y="1259235"/>
            <a:ext cx="216024" cy="43204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7ADCCF3-2611-C417-9D4F-44232FDDFF68}"/>
              </a:ext>
            </a:extLst>
          </p:cNvPr>
          <p:cNvCxnSpPr/>
          <p:nvPr/>
        </p:nvCxnSpPr>
        <p:spPr>
          <a:xfrm>
            <a:off x="2864768" y="1619275"/>
            <a:ext cx="1872208" cy="13681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14">
            <a:extLst>
              <a:ext uri="{FF2B5EF4-FFF2-40B4-BE49-F238E27FC236}">
                <a16:creationId xmlns:a16="http://schemas.microsoft.com/office/drawing/2014/main" id="{AE5EAEED-8815-E2B8-7782-848E580470C5}"/>
              </a:ext>
            </a:extLst>
          </p:cNvPr>
          <p:cNvSpPr/>
          <p:nvPr/>
        </p:nvSpPr>
        <p:spPr>
          <a:xfrm>
            <a:off x="4376936" y="3923531"/>
            <a:ext cx="936104" cy="2160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15">
            <a:extLst>
              <a:ext uri="{FF2B5EF4-FFF2-40B4-BE49-F238E27FC236}">
                <a16:creationId xmlns:a16="http://schemas.microsoft.com/office/drawing/2014/main" id="{4C3DEF33-9C93-8D71-E80B-BAEA4C24C5BE}"/>
              </a:ext>
            </a:extLst>
          </p:cNvPr>
          <p:cNvSpPr/>
          <p:nvPr/>
        </p:nvSpPr>
        <p:spPr>
          <a:xfrm>
            <a:off x="6321152" y="3923531"/>
            <a:ext cx="720080" cy="2160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58A9DEA-D377-8D98-773F-E780F11B508A}"/>
              </a:ext>
            </a:extLst>
          </p:cNvPr>
          <p:cNvCxnSpPr/>
          <p:nvPr/>
        </p:nvCxnSpPr>
        <p:spPr>
          <a:xfrm flipH="1">
            <a:off x="4736976" y="3203451"/>
            <a:ext cx="144016" cy="7200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B142400-9AC8-D9E7-F430-8F4C154521E1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313040" y="4031543"/>
            <a:ext cx="100811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C0F1E9D-B7C3-971C-8B58-49D38FF8AF83}"/>
              </a:ext>
            </a:extLst>
          </p:cNvPr>
          <p:cNvSpPr txBox="1"/>
          <p:nvPr/>
        </p:nvSpPr>
        <p:spPr>
          <a:xfrm>
            <a:off x="272480" y="4283571"/>
            <a:ext cx="16898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>
                <a:solidFill>
                  <a:srgbClr val="0000FF"/>
                </a:solidFill>
              </a:rPr>
              <a:t>Ctrl+R  </a:t>
            </a:r>
            <a:r>
              <a:rPr lang="ko-KR" altLang="en-US" sz="1400" b="1">
                <a:solidFill>
                  <a:srgbClr val="0000FF"/>
                </a:solidFill>
              </a:rPr>
              <a:t>로 실행</a:t>
            </a:r>
            <a:endParaRPr lang="en-US" altLang="ko-KR" sz="1400" b="1">
              <a:solidFill>
                <a:srgbClr val="0000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>
                <a:solidFill>
                  <a:srgbClr val="0000FF"/>
                </a:solidFill>
              </a:rPr>
              <a:t>저장</a:t>
            </a:r>
            <a:r>
              <a:rPr lang="en-US" altLang="ko-KR" sz="1400" b="1">
                <a:solidFill>
                  <a:srgbClr val="0000FF"/>
                </a:solidFill>
              </a:rPr>
              <a:t>(.ui)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92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DEC6E-610C-8295-4A08-9A8AAB5AB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3718227-DB46-9E88-9A62-F3DD8262E18E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Label &amp; Button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CDD93C5-F339-91AC-1D62-9A78CF0EF608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</a:t>
            </a:r>
            <a:endParaRPr lang="ko-KR" altLang="en-US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55203-2FA1-744F-659A-9158BC8D70C3}"/>
              </a:ext>
            </a:extLst>
          </p:cNvPr>
          <p:cNvSpPr txBox="1"/>
          <p:nvPr/>
        </p:nvSpPr>
        <p:spPr>
          <a:xfrm>
            <a:off x="268288" y="980728"/>
            <a:ext cx="2996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/>
              <a:t>.ui</a:t>
            </a:r>
            <a:r>
              <a:rPr lang="ko-KR" altLang="en-US" sz="1400" b="1"/>
              <a:t>를 </a:t>
            </a:r>
            <a:r>
              <a:rPr lang="en-US" altLang="ko-KR" sz="1400" b="1"/>
              <a:t>.py </a:t>
            </a:r>
            <a:r>
              <a:rPr lang="ko-KR" altLang="en-US" sz="1400" b="1"/>
              <a:t>파일로 변경하여 실행하기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C0F957-2B6E-FB7B-9964-A8E41ABF0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81" y="1412776"/>
            <a:ext cx="8776270" cy="4933950"/>
          </a:xfrm>
          <a:prstGeom prst="rect">
            <a:avLst/>
          </a:prstGeom>
        </p:spPr>
      </p:pic>
      <p:sp>
        <p:nvSpPr>
          <p:cNvPr id="5" name="모서리가 둥근 직사각형 21">
            <a:extLst>
              <a:ext uri="{FF2B5EF4-FFF2-40B4-BE49-F238E27FC236}">
                <a16:creationId xmlns:a16="http://schemas.microsoft.com/office/drawing/2014/main" id="{8C8A5749-B9B8-161B-13B5-A23E1F7DDF33}"/>
              </a:ext>
            </a:extLst>
          </p:cNvPr>
          <p:cNvSpPr/>
          <p:nvPr/>
        </p:nvSpPr>
        <p:spPr>
          <a:xfrm>
            <a:off x="196280" y="2636912"/>
            <a:ext cx="3744416" cy="216024"/>
          </a:xfrm>
          <a:prstGeom prst="roundRect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직사각형 22">
            <a:extLst>
              <a:ext uri="{FF2B5EF4-FFF2-40B4-BE49-F238E27FC236}">
                <a16:creationId xmlns:a16="http://schemas.microsoft.com/office/drawing/2014/main" id="{A4BCC8F7-40AB-A512-E069-0409190BBD0E}"/>
              </a:ext>
            </a:extLst>
          </p:cNvPr>
          <p:cNvSpPr/>
          <p:nvPr/>
        </p:nvSpPr>
        <p:spPr>
          <a:xfrm>
            <a:off x="2068488" y="3212976"/>
            <a:ext cx="2160240" cy="288032"/>
          </a:xfrm>
          <a:prstGeom prst="roundRect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23">
            <a:extLst>
              <a:ext uri="{FF2B5EF4-FFF2-40B4-BE49-F238E27FC236}">
                <a16:creationId xmlns:a16="http://schemas.microsoft.com/office/drawing/2014/main" id="{9940D602-3179-ECB7-3621-6738AF75B1DA}"/>
              </a:ext>
            </a:extLst>
          </p:cNvPr>
          <p:cNvSpPr/>
          <p:nvPr/>
        </p:nvSpPr>
        <p:spPr>
          <a:xfrm>
            <a:off x="348680" y="5229200"/>
            <a:ext cx="3744416" cy="216024"/>
          </a:xfrm>
          <a:prstGeom prst="roundRect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24">
            <a:extLst>
              <a:ext uri="{FF2B5EF4-FFF2-40B4-BE49-F238E27FC236}">
                <a16:creationId xmlns:a16="http://schemas.microsoft.com/office/drawing/2014/main" id="{ADF0064A-1B13-B715-3CC2-F53CC27BAE06}"/>
              </a:ext>
            </a:extLst>
          </p:cNvPr>
          <p:cNvSpPr/>
          <p:nvPr/>
        </p:nvSpPr>
        <p:spPr>
          <a:xfrm>
            <a:off x="1996480" y="5949280"/>
            <a:ext cx="1296144" cy="288032"/>
          </a:xfrm>
          <a:prstGeom prst="roundRect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B2D599-699F-1FE0-A135-70A62040C568}"/>
              </a:ext>
            </a:extLst>
          </p:cNvPr>
          <p:cNvSpPr txBox="1"/>
          <p:nvPr/>
        </p:nvSpPr>
        <p:spPr>
          <a:xfrm>
            <a:off x="3359738" y="837519"/>
            <a:ext cx="273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00FF"/>
                </a:solidFill>
              </a:rPr>
              <a:t>pyuic5 –x </a:t>
            </a:r>
            <a:r>
              <a:rPr lang="en-US" altLang="ko-KR" b="1" dirty="0" err="1">
                <a:solidFill>
                  <a:srgbClr val="0000FF"/>
                </a:solidFill>
              </a:rPr>
              <a:t>test.ui</a:t>
            </a:r>
            <a:r>
              <a:rPr lang="en-US" altLang="ko-KR" b="1" dirty="0">
                <a:solidFill>
                  <a:srgbClr val="0000FF"/>
                </a:solidFill>
              </a:rPr>
              <a:t> –o test.py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7172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E4E23-BF28-1025-7B1B-93575F012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053CBE6-1480-A06B-E135-8350AF40BA02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calculator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2000" b="1" dirty="0" err="1">
                <a:solidFill>
                  <a:schemeClr val="tx1"/>
                </a:solidFill>
                <a:sym typeface="Wingdings" panose="05000000000000000000" pitchFamily="2" charset="2"/>
              </a:rPr>
              <a:t>cal.ui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4FC8DF-412D-DCCA-314E-B06DBB8249AC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</a:t>
            </a:r>
            <a:endParaRPr lang="ko-KR" altLang="en-US" sz="2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C8B22E3-CF28-3F61-593F-A3358FBA6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63" y="1628800"/>
            <a:ext cx="8734425" cy="44100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C24C76-6C85-27C0-21D6-AFB2579226F6}"/>
              </a:ext>
            </a:extLst>
          </p:cNvPr>
          <p:cNvSpPr txBox="1"/>
          <p:nvPr/>
        </p:nvSpPr>
        <p:spPr>
          <a:xfrm>
            <a:off x="220663" y="908720"/>
            <a:ext cx="21916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>
                <a:solidFill>
                  <a:srgbClr val="0000FF"/>
                </a:solidFill>
              </a:rPr>
              <a:t>mainwindow </a:t>
            </a:r>
            <a:r>
              <a:rPr lang="ko-KR" altLang="en-US" sz="1600" b="1">
                <a:solidFill>
                  <a:srgbClr val="0000FF"/>
                </a:solidFill>
              </a:rPr>
              <a:t>생성</a:t>
            </a:r>
            <a:endParaRPr lang="en-US" altLang="ko-KR" sz="1600" b="1">
              <a:solidFill>
                <a:srgbClr val="0000FF"/>
              </a:solidFill>
            </a:endParaRPr>
          </a:p>
          <a:p>
            <a:r>
              <a:rPr lang="en-US" altLang="ko-KR" sz="1600" b="1">
                <a:solidFill>
                  <a:srgbClr val="0000FF"/>
                </a:solidFill>
              </a:rPr>
              <a:t>geometry : 400 x 200</a:t>
            </a:r>
            <a:endParaRPr lang="ko-KR" altLang="en-US" sz="1600" b="1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5965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F17ED-A6D6-89C9-61C3-AF9BB2BCF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A454359-6AA9-BE40-C692-E106FBE00D0E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calculator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2000" b="1" dirty="0" err="1">
                <a:solidFill>
                  <a:schemeClr val="tx1"/>
                </a:solidFill>
                <a:sym typeface="Wingdings" panose="05000000000000000000" pitchFamily="2" charset="2"/>
              </a:rPr>
              <a:t>cal.ui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E261337-0F3C-4F98-1358-C3002EC625AA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</a:t>
            </a:r>
            <a:endParaRPr lang="ko-KR" altLang="en-US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7A02BB-8EF0-9BE6-BDE7-251F45EC3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94" y="1340768"/>
            <a:ext cx="8086725" cy="4838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47E2F-6FDF-51B8-3CBC-FD7E379AF218}"/>
              </a:ext>
            </a:extLst>
          </p:cNvPr>
          <p:cNvSpPr txBox="1"/>
          <p:nvPr/>
        </p:nvSpPr>
        <p:spPr>
          <a:xfrm>
            <a:off x="473646" y="908720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00FF"/>
                </a:solidFill>
              </a:rPr>
              <a:t>Line Edit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A55A540-0E03-2AD1-0410-0F528D2C5D1A}"/>
              </a:ext>
            </a:extLst>
          </p:cNvPr>
          <p:cNvCxnSpPr>
            <a:stCxn id="6" idx="2"/>
          </p:cNvCxnSpPr>
          <p:nvPr/>
        </p:nvCxnSpPr>
        <p:spPr>
          <a:xfrm>
            <a:off x="929861" y="1216497"/>
            <a:ext cx="263865" cy="120439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01F66FA-A112-B011-F9E0-9FCA42C43E6A}"/>
              </a:ext>
            </a:extLst>
          </p:cNvPr>
          <p:cNvCxnSpPr>
            <a:stCxn id="6" idx="2"/>
          </p:cNvCxnSpPr>
          <p:nvPr/>
        </p:nvCxnSpPr>
        <p:spPr>
          <a:xfrm>
            <a:off x="929861" y="1216497"/>
            <a:ext cx="1992057" cy="120439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1FB2865-1A66-4884-FBF7-A52C13DC4F89}"/>
              </a:ext>
            </a:extLst>
          </p:cNvPr>
          <p:cNvCxnSpPr>
            <a:stCxn id="6" idx="2"/>
          </p:cNvCxnSpPr>
          <p:nvPr/>
        </p:nvCxnSpPr>
        <p:spPr>
          <a:xfrm>
            <a:off x="929861" y="1216497"/>
            <a:ext cx="3072177" cy="120439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5ED6328-AA4A-912E-71DC-9FD025229B76}"/>
              </a:ext>
            </a:extLst>
          </p:cNvPr>
          <p:cNvSpPr txBox="1"/>
          <p:nvPr/>
        </p:nvSpPr>
        <p:spPr>
          <a:xfrm>
            <a:off x="1841798" y="908720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00FF"/>
                </a:solidFill>
              </a:rPr>
              <a:t>Combo Box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0DFC795-9C20-3ED1-2581-93B688A74946}"/>
              </a:ext>
            </a:extLst>
          </p:cNvPr>
          <p:cNvCxnSpPr>
            <a:stCxn id="11" idx="2"/>
          </p:cNvCxnSpPr>
          <p:nvPr/>
        </p:nvCxnSpPr>
        <p:spPr>
          <a:xfrm flipH="1">
            <a:off x="2273846" y="1216497"/>
            <a:ext cx="147598" cy="120439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DB0B87C-DE87-70D9-C1D2-B3E989178930}"/>
              </a:ext>
            </a:extLst>
          </p:cNvPr>
          <p:cNvCxnSpPr/>
          <p:nvPr/>
        </p:nvCxnSpPr>
        <p:spPr>
          <a:xfrm>
            <a:off x="3569990" y="1196752"/>
            <a:ext cx="72008" cy="129614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C93EED1-0ED4-F4E9-1253-51DFDF5CF7B4}"/>
              </a:ext>
            </a:extLst>
          </p:cNvPr>
          <p:cNvSpPr txBox="1"/>
          <p:nvPr/>
        </p:nvSpPr>
        <p:spPr>
          <a:xfrm>
            <a:off x="3137942" y="908720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00FF"/>
                </a:solidFill>
              </a:rPr>
              <a:t>Label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EE1BA2-8E9A-B3A2-D748-56DDB9D96F22}"/>
              </a:ext>
            </a:extLst>
          </p:cNvPr>
          <p:cNvSpPr txBox="1"/>
          <p:nvPr/>
        </p:nvSpPr>
        <p:spPr>
          <a:xfrm>
            <a:off x="56828" y="3501008"/>
            <a:ext cx="1181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00FF"/>
                </a:solidFill>
              </a:rPr>
              <a:t>Push button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12EFBE6-2BC9-CDB2-0430-434D55C4AB7B}"/>
              </a:ext>
            </a:extLst>
          </p:cNvPr>
          <p:cNvCxnSpPr>
            <a:stCxn id="15" idx="3"/>
          </p:cNvCxnSpPr>
          <p:nvPr/>
        </p:nvCxnSpPr>
        <p:spPr>
          <a:xfrm flipV="1">
            <a:off x="1238562" y="3356992"/>
            <a:ext cx="747252" cy="297905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20">
            <a:extLst>
              <a:ext uri="{FF2B5EF4-FFF2-40B4-BE49-F238E27FC236}">
                <a16:creationId xmlns:a16="http://schemas.microsoft.com/office/drawing/2014/main" id="{67F3831F-BFEF-E37F-9175-EDB26FE636D1}"/>
              </a:ext>
            </a:extLst>
          </p:cNvPr>
          <p:cNvSpPr/>
          <p:nvPr/>
        </p:nvSpPr>
        <p:spPr>
          <a:xfrm>
            <a:off x="5010150" y="4221088"/>
            <a:ext cx="3960440" cy="129614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B0FD7CC-64C2-60B8-9990-7F5B3A400445}"/>
              </a:ext>
            </a:extLst>
          </p:cNvPr>
          <p:cNvCxnSpPr/>
          <p:nvPr/>
        </p:nvCxnSpPr>
        <p:spPr>
          <a:xfrm flipV="1">
            <a:off x="2849910" y="5013176"/>
            <a:ext cx="2160240" cy="21602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16C78DB-186C-90EF-77FC-204BDA48F829}"/>
              </a:ext>
            </a:extLst>
          </p:cNvPr>
          <p:cNvSpPr txBox="1"/>
          <p:nvPr/>
        </p:nvSpPr>
        <p:spPr>
          <a:xfrm>
            <a:off x="5154166" y="5517232"/>
            <a:ext cx="1872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C00000"/>
                </a:solidFill>
              </a:rPr>
              <a:t>Clear </a:t>
            </a:r>
            <a:r>
              <a:rPr lang="ko-KR" altLang="en-US" sz="1400" b="1">
                <a:solidFill>
                  <a:srgbClr val="C00000"/>
                </a:solidFill>
              </a:rPr>
              <a:t>버튼 기능 추가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780DDF-84AF-11F7-270A-BD97C2E1FBF0}"/>
              </a:ext>
            </a:extLst>
          </p:cNvPr>
          <p:cNvSpPr txBox="1"/>
          <p:nvPr/>
        </p:nvSpPr>
        <p:spPr>
          <a:xfrm>
            <a:off x="3641998" y="6237312"/>
            <a:ext cx="3796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C00000"/>
                </a:solidFill>
              </a:rPr>
              <a:t>pyuic5 -x cal_gui.ui -o cal_gui.py</a:t>
            </a:r>
            <a:endParaRPr lang="ko-KR" altLang="en-US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647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8B924-A6A3-D404-D0B2-95AD9FCBF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2A86B20-8A7A-847B-8497-85B6D82E5A9C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calculator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2000" b="1" dirty="0" err="1">
                <a:solidFill>
                  <a:schemeClr val="tx1"/>
                </a:solidFill>
                <a:sym typeface="Wingdings" panose="05000000000000000000" pitchFamily="2" charset="2"/>
              </a:rPr>
              <a:t>cal.ui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D126F93-6C52-F28A-E684-924A01D7F201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</a:t>
            </a:r>
            <a:endParaRPr lang="ko-KR" altLang="en-US" sz="20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183E27B-4BCE-C023-B0FD-D7A43B5830F8}"/>
              </a:ext>
            </a:extLst>
          </p:cNvPr>
          <p:cNvSpPr/>
          <p:nvPr/>
        </p:nvSpPr>
        <p:spPr>
          <a:xfrm>
            <a:off x="374664" y="889866"/>
            <a:ext cx="907300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/>
              <a:t>from cal_gui import *</a:t>
            </a:r>
          </a:p>
          <a:p>
            <a:r>
              <a:rPr lang="ko-KR" altLang="en-US" sz="1400" b="1"/>
              <a:t>def signals(self):</a:t>
            </a:r>
          </a:p>
          <a:p>
            <a:r>
              <a:rPr lang="ko-KR" altLang="en-US" sz="1400" b="1"/>
              <a:t>    self.cal_button.clicked.connect(self.calc)</a:t>
            </a:r>
          </a:p>
          <a:p>
            <a:r>
              <a:rPr lang="ko-KR" altLang="en-US" sz="1400" b="1"/>
              <a:t>def calc(self):</a:t>
            </a:r>
          </a:p>
          <a:p>
            <a:r>
              <a:rPr lang="ko-KR" altLang="en-US" sz="1400" b="1"/>
              <a:t>    a = self.input1.text()</a:t>
            </a:r>
          </a:p>
          <a:p>
            <a:r>
              <a:rPr lang="ko-KR" altLang="en-US" sz="1400" b="1"/>
              <a:t>    b = self.input2.text()</a:t>
            </a:r>
          </a:p>
          <a:p>
            <a:r>
              <a:rPr lang="ko-KR" altLang="en-US" sz="1400" b="1"/>
              <a:t>    operator = self.comboBox.currentText()</a:t>
            </a:r>
          </a:p>
          <a:p>
            <a:endParaRPr lang="ko-KR" altLang="en-US" sz="1400" b="1"/>
          </a:p>
          <a:p>
            <a:r>
              <a:rPr lang="ko-KR" altLang="en-US" sz="1400" b="1"/>
              <a:t>    try:</a:t>
            </a:r>
          </a:p>
          <a:p>
            <a:r>
              <a:rPr lang="ko-KR" altLang="en-US" sz="1400" b="1"/>
              <a:t>        c=eval(a + operator + b)</a:t>
            </a:r>
          </a:p>
          <a:p>
            <a:r>
              <a:rPr lang="ko-KR" altLang="en-US" sz="1400" b="1"/>
              <a:t>        self.result.setText(str(c))</a:t>
            </a:r>
          </a:p>
          <a:p>
            <a:r>
              <a:rPr lang="ko-KR" altLang="en-US" sz="1400" b="1"/>
              <a:t>    except:</a:t>
            </a:r>
          </a:p>
          <a:p>
            <a:r>
              <a:rPr lang="ko-KR" altLang="en-US" sz="1400" b="1"/>
              <a:t>        Qtwidgets.QMessageBox.critical(MainWindow, 'Error', 'Invalid inputs!', </a:t>
            </a:r>
          </a:p>
          <a:p>
            <a:r>
              <a:rPr lang="ko-KR" altLang="en-US" sz="1400" b="1"/>
              <a:t>            Qtwidgets.QMessageBox.Ok)</a:t>
            </a:r>
          </a:p>
          <a:p>
            <a:r>
              <a:rPr lang="ko-KR" altLang="en-US" sz="1400" b="1"/>
              <a:t>Ui_Calculator.signals = signals</a:t>
            </a:r>
          </a:p>
          <a:p>
            <a:r>
              <a:rPr lang="ko-KR" altLang="en-US" sz="1400" b="1"/>
              <a:t>Ui_Calculator.calc = calc</a:t>
            </a:r>
          </a:p>
          <a:p>
            <a:r>
              <a:rPr lang="ko-KR" altLang="en-US" sz="1400" b="1"/>
              <a:t>if __name__=="__main__":</a:t>
            </a:r>
          </a:p>
          <a:p>
            <a:r>
              <a:rPr lang="ko-KR" altLang="en-US" sz="1400" b="1"/>
              <a:t>    import sys</a:t>
            </a:r>
          </a:p>
          <a:p>
            <a:r>
              <a:rPr lang="ko-KR" altLang="en-US" sz="1400" b="1"/>
              <a:t>    app = QtWidgets.QApplication(sys.argv)</a:t>
            </a:r>
          </a:p>
          <a:p>
            <a:endParaRPr lang="ko-KR" altLang="en-US" sz="1400" b="1"/>
          </a:p>
          <a:p>
            <a:r>
              <a:rPr lang="ko-KR" altLang="en-US" sz="1400" b="1"/>
              <a:t>    MainWindow = QtWidgets.QMainWindow()</a:t>
            </a:r>
          </a:p>
          <a:p>
            <a:r>
              <a:rPr lang="ko-KR" altLang="en-US" sz="1400" b="1"/>
              <a:t>    ui = Ui_Calculator()</a:t>
            </a:r>
          </a:p>
          <a:p>
            <a:r>
              <a:rPr lang="ko-KR" altLang="en-US" sz="1400" b="1"/>
              <a:t>    ui.setupUi(MainWindow)</a:t>
            </a:r>
          </a:p>
          <a:p>
            <a:r>
              <a:rPr lang="ko-KR" altLang="en-US" sz="1400" b="1"/>
              <a:t>    ui.signals()</a:t>
            </a:r>
          </a:p>
          <a:p>
            <a:r>
              <a:rPr lang="ko-KR" altLang="en-US" sz="1400" b="1"/>
              <a:t>    MainWindow.show()</a:t>
            </a:r>
          </a:p>
          <a:p>
            <a:r>
              <a:rPr lang="ko-KR" altLang="en-US" sz="1400" b="1"/>
              <a:t>    sys.exit(app.exec_())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B9B6DA-BCAB-1203-4C40-D71EE158E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320" y="1177898"/>
            <a:ext cx="2743535" cy="164337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84E25BD-4B0D-D202-405B-DE3019058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328" y="4130226"/>
            <a:ext cx="2808312" cy="225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1677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97A31-D527-73FD-04E0-D93BACB50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D4A8830-6750-D893-B306-5C5A9D1E26BF}"/>
              </a:ext>
            </a:extLst>
          </p:cNvPr>
          <p:cNvSpPr/>
          <p:nvPr/>
        </p:nvSpPr>
        <p:spPr>
          <a:xfrm>
            <a:off x="0" y="1659"/>
            <a:ext cx="12192000" cy="22324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 algn="ctr"/>
            <a:r>
              <a:rPr lang="en-US" altLang="ko-KR" sz="4800" b="1" dirty="0">
                <a:solidFill>
                  <a:schemeClr val="tx1"/>
                </a:solidFill>
                <a:latin typeface="+mn-ea"/>
              </a:rPr>
              <a:t>PyQt </a:t>
            </a:r>
            <a:r>
              <a:rPr lang="ko-KR" altLang="en-US" sz="4800" b="1" dirty="0">
                <a:solidFill>
                  <a:schemeClr val="tx1"/>
                </a:solidFill>
                <a:latin typeface="+mn-ea"/>
              </a:rPr>
              <a:t>설치 및 실행</a:t>
            </a:r>
            <a:endParaRPr lang="en-US" altLang="ko-KR" sz="4800" b="1" dirty="0">
              <a:solidFill>
                <a:schemeClr val="tx1"/>
              </a:solidFill>
              <a:latin typeface="+mn-ea"/>
            </a:endParaRPr>
          </a:p>
          <a:p>
            <a:pPr marL="179387" algn="ctr"/>
            <a:r>
              <a:rPr lang="en-US" altLang="ko-KR" sz="4400" b="1" dirty="0">
                <a:solidFill>
                  <a:schemeClr val="tx1"/>
                </a:solidFill>
                <a:latin typeface="+mn-ea"/>
              </a:rPr>
              <a:t>Raspberry pi</a:t>
            </a:r>
            <a:endParaRPr lang="ko-KR" altLang="en-US" sz="44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107808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DE2A8-2506-3F24-0EB2-E86ACE97E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2A015AC-1C67-BA63-AC94-EC60E72C3FED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tx1"/>
                </a:solidFill>
              </a:rPr>
              <a:t>설치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8C91CB7-E174-4AF8-A497-662D5DEFF191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Rpi </a:t>
            </a:r>
            <a:r>
              <a:rPr lang="en-US" altLang="ko-KR" sz="2000" b="1" dirty="0">
                <a:sym typeface="Wingdings" panose="05000000000000000000" pitchFamily="2" charset="2"/>
              </a:rPr>
              <a:t> </a:t>
            </a:r>
            <a:r>
              <a:rPr lang="en-US" altLang="ko-KR" sz="2000" b="1" dirty="0" err="1">
                <a:sym typeface="Wingdings" panose="05000000000000000000" pitchFamily="2" charset="2"/>
              </a:rPr>
              <a:t>venv</a:t>
            </a:r>
            <a:endParaRPr lang="ko-KR" alt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61DFA6-D2B9-621C-98D7-CE4326DCC646}"/>
              </a:ext>
            </a:extLst>
          </p:cNvPr>
          <p:cNvSpPr txBox="1"/>
          <p:nvPr/>
        </p:nvSpPr>
        <p:spPr>
          <a:xfrm>
            <a:off x="416560" y="1016060"/>
            <a:ext cx="11551920" cy="2262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900"/>
              </a:lnSpc>
            </a:pPr>
            <a:r>
              <a:rPr lang="en-US" altLang="ko-KR" dirty="0"/>
              <a:t>1. </a:t>
            </a:r>
            <a:r>
              <a:rPr lang="ko-KR" altLang="en-US" dirty="0"/>
              <a:t> 최신 패키지 목록으로 갱신</a:t>
            </a:r>
          </a:p>
          <a:p>
            <a:pPr>
              <a:lnSpc>
                <a:spcPts val="2900"/>
              </a:lnSpc>
            </a:pPr>
            <a:r>
              <a:rPr lang="ko-KR" altLang="en-US" dirty="0"/>
              <a:t>    sudo </a:t>
            </a:r>
            <a:r>
              <a:rPr lang="ko-KR" altLang="en-US" dirty="0" err="1"/>
              <a:t>apt</a:t>
            </a:r>
            <a:r>
              <a:rPr lang="ko-KR" altLang="en-US" dirty="0"/>
              <a:t> </a:t>
            </a:r>
            <a:r>
              <a:rPr lang="ko-KR" altLang="en-US" dirty="0" err="1"/>
              <a:t>update</a:t>
            </a:r>
            <a:endParaRPr lang="ko-KR" altLang="en-US" dirty="0"/>
          </a:p>
          <a:p>
            <a:pPr>
              <a:lnSpc>
                <a:spcPts val="2900"/>
              </a:lnSpc>
            </a:pPr>
            <a:endParaRPr lang="ko-KR" altLang="en-US" dirty="0"/>
          </a:p>
          <a:p>
            <a:pPr>
              <a:lnSpc>
                <a:spcPts val="2900"/>
              </a:lnSpc>
            </a:pPr>
            <a:r>
              <a:rPr lang="en-US" altLang="ko-KR" dirty="0"/>
              <a:t>2. </a:t>
            </a:r>
            <a:r>
              <a:rPr lang="ko-KR" altLang="en-US" dirty="0"/>
              <a:t> </a:t>
            </a:r>
            <a:r>
              <a:rPr lang="ko-KR" altLang="en-US" dirty="0" err="1"/>
              <a:t>venv</a:t>
            </a:r>
            <a:r>
              <a:rPr lang="ko-KR" altLang="en-US" dirty="0"/>
              <a:t> 모듈/</a:t>
            </a:r>
            <a:r>
              <a:rPr lang="ko-KR" altLang="en-US" dirty="0" err="1"/>
              <a:t>빌드도구</a:t>
            </a:r>
            <a:r>
              <a:rPr lang="ko-KR" altLang="en-US" dirty="0"/>
              <a:t>/pip 등 기본 준비</a:t>
            </a:r>
          </a:p>
          <a:p>
            <a:pPr>
              <a:lnSpc>
                <a:spcPts val="2900"/>
              </a:lnSpc>
            </a:pPr>
            <a:r>
              <a:rPr lang="ko-KR" altLang="en-US" dirty="0"/>
              <a:t>    sudo </a:t>
            </a:r>
            <a:r>
              <a:rPr lang="ko-KR" altLang="en-US" dirty="0" err="1"/>
              <a:t>apt</a:t>
            </a:r>
            <a:r>
              <a:rPr lang="ko-KR" altLang="en-US" dirty="0"/>
              <a:t> </a:t>
            </a:r>
            <a:r>
              <a:rPr lang="ko-KR" altLang="en-US" dirty="0" err="1"/>
              <a:t>install</a:t>
            </a:r>
            <a:r>
              <a:rPr lang="ko-KR" altLang="en-US" dirty="0"/>
              <a:t> -</a:t>
            </a:r>
            <a:r>
              <a:rPr lang="ko-KR" altLang="en-US" dirty="0" err="1"/>
              <a:t>y</a:t>
            </a:r>
            <a:r>
              <a:rPr lang="ko-KR" altLang="en-US" dirty="0"/>
              <a:t> python3-venv python3-pip python3-dev </a:t>
            </a:r>
            <a:r>
              <a:rPr lang="ko-KR" altLang="en-US" dirty="0" err="1"/>
              <a:t>build-essential</a:t>
            </a:r>
            <a:endParaRPr lang="ko-KR" altLang="en-US" dirty="0"/>
          </a:p>
          <a:p>
            <a:pPr>
              <a:lnSpc>
                <a:spcPts val="26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27190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3A5A8-A3F2-273F-4010-702E2F0D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CBEBCCD-6449-E63A-CF90-D97418F7DAFD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tx1"/>
                </a:solidFill>
              </a:rPr>
              <a:t>주요 명령어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FFA70AA-DC30-FBE7-2780-AFAC6121B16A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Rpi </a:t>
            </a:r>
            <a:r>
              <a:rPr lang="en-US" altLang="ko-KR" sz="2000" b="1" dirty="0">
                <a:sym typeface="Wingdings" panose="05000000000000000000" pitchFamily="2" charset="2"/>
              </a:rPr>
              <a:t> </a:t>
            </a:r>
            <a:r>
              <a:rPr lang="en-US" altLang="ko-KR" sz="2000" b="1" dirty="0" err="1">
                <a:sym typeface="Wingdings" panose="05000000000000000000" pitchFamily="2" charset="2"/>
              </a:rPr>
              <a:t>venv</a:t>
            </a:r>
            <a:endParaRPr lang="ko-KR" altLang="en-US" sz="20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763AF00-AF57-E035-09A0-DFDB3B60B1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615380"/>
              </p:ext>
            </p:extLst>
          </p:nvPr>
        </p:nvGraphicFramePr>
        <p:xfrm>
          <a:off x="432652" y="782318"/>
          <a:ext cx="11251347" cy="565912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46868">
                  <a:extLst>
                    <a:ext uri="{9D8B030D-6E8A-4147-A177-3AD203B41FA5}">
                      <a16:colId xmlns:a16="http://schemas.microsoft.com/office/drawing/2014/main" val="1604387024"/>
                    </a:ext>
                  </a:extLst>
                </a:gridCol>
                <a:gridCol w="4154030">
                  <a:extLst>
                    <a:ext uri="{9D8B030D-6E8A-4147-A177-3AD203B41FA5}">
                      <a16:colId xmlns:a16="http://schemas.microsoft.com/office/drawing/2014/main" val="2686152777"/>
                    </a:ext>
                  </a:extLst>
                </a:gridCol>
                <a:gridCol w="3750449">
                  <a:extLst>
                    <a:ext uri="{9D8B030D-6E8A-4147-A177-3AD203B41FA5}">
                      <a16:colId xmlns:a16="http://schemas.microsoft.com/office/drawing/2014/main" val="76995238"/>
                    </a:ext>
                  </a:extLst>
                </a:gridCol>
              </a:tblGrid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목적</a:t>
                      </a:r>
                    </a:p>
                  </a:txBody>
                  <a:tcPr marL="32232" marR="32232" marT="16116" marB="1611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명령어</a:t>
                      </a:r>
                    </a:p>
                  </a:txBody>
                  <a:tcPr marL="32232" marR="32232" marT="16116" marB="1611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예시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2232" marR="32232" marT="16116" marB="1611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439395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가상환경 생성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python3 -m venv &lt;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경로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&gt;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python3 -m </a:t>
                      </a:r>
                      <a:r>
                        <a:rPr lang="en-US" sz="1400" dirty="0" err="1">
                          <a:latin typeface="+mn-ea"/>
                          <a:ea typeface="+mn-ea"/>
                        </a:rPr>
                        <a:t>venv</a:t>
                      </a:r>
                      <a:r>
                        <a:rPr lang="en-US" sz="1400" dirty="0">
                          <a:latin typeface="+mn-ea"/>
                          <a:ea typeface="+mn-ea"/>
                        </a:rPr>
                        <a:t> .</a:t>
                      </a:r>
                      <a:r>
                        <a:rPr lang="en-US" sz="1400" dirty="0" err="1">
                          <a:latin typeface="+mn-ea"/>
                          <a:ea typeface="+mn-ea"/>
                        </a:rPr>
                        <a:t>venv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2366747118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특정 버전으로 생성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+mn-ea"/>
                          <a:ea typeface="+mn-ea"/>
                        </a:rPr>
                        <a:t>python3.X -m </a:t>
                      </a:r>
                      <a:r>
                        <a:rPr lang="en-US" sz="1400" b="1" dirty="0" err="1">
                          <a:latin typeface="+mn-ea"/>
                          <a:ea typeface="+mn-ea"/>
                        </a:rPr>
                        <a:t>venv</a:t>
                      </a:r>
                      <a:r>
                        <a:rPr lang="en-US" sz="1400" b="1" dirty="0">
                          <a:latin typeface="+mn-ea"/>
                          <a:ea typeface="+mn-ea"/>
                        </a:rPr>
                        <a:t> &lt;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경로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&gt;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+mn-ea"/>
                          <a:ea typeface="+mn-ea"/>
                        </a:rPr>
                        <a:t>python3.11 -m </a:t>
                      </a:r>
                      <a:r>
                        <a:rPr lang="en-US" sz="1400" b="1" dirty="0" err="1">
                          <a:latin typeface="+mn-ea"/>
                          <a:ea typeface="+mn-ea"/>
                        </a:rPr>
                        <a:t>venv</a:t>
                      </a:r>
                      <a:r>
                        <a:rPr lang="en-US" sz="1400" b="1" dirty="0">
                          <a:latin typeface="+mn-ea"/>
                          <a:ea typeface="+mn-ea"/>
                        </a:rPr>
                        <a:t> .</a:t>
                      </a:r>
                      <a:r>
                        <a:rPr lang="en-US" sz="1400" b="1" dirty="0" err="1">
                          <a:latin typeface="+mn-ea"/>
                          <a:ea typeface="+mn-ea"/>
                        </a:rPr>
                        <a:t>venv</a:t>
                      </a:r>
                      <a:endParaRPr lang="en-US" sz="1400" b="1" dirty="0">
                        <a:latin typeface="+mn-ea"/>
                        <a:ea typeface="+mn-ea"/>
                      </a:endParaRP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135229977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활성화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source &lt;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경로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&gt;/</a:t>
                      </a:r>
                      <a:r>
                        <a:rPr lang="en-US" sz="1400">
                          <a:latin typeface="+mn-ea"/>
                          <a:ea typeface="+mn-ea"/>
                        </a:rPr>
                        <a:t>bin/activate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source .</a:t>
                      </a:r>
                      <a:r>
                        <a:rPr lang="en-US" sz="1400" dirty="0" err="1">
                          <a:latin typeface="+mn-ea"/>
                          <a:ea typeface="+mn-ea"/>
                        </a:rPr>
                        <a:t>venv</a:t>
                      </a:r>
                      <a:r>
                        <a:rPr lang="en-US" sz="1400" dirty="0">
                          <a:latin typeface="+mn-ea"/>
                          <a:ea typeface="+mn-ea"/>
                        </a:rPr>
                        <a:t>/bin/activate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1118387088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비활성화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deactivate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2603750260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latin typeface="+mn-ea"/>
                          <a:ea typeface="+mn-ea"/>
                        </a:rPr>
                        <a:t>pip/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빌드툴 업그레이드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python -m pip install -U pip </a:t>
                      </a:r>
                      <a:r>
                        <a:rPr lang="en-US" sz="1400" dirty="0" err="1">
                          <a:latin typeface="+mn-ea"/>
                          <a:ea typeface="+mn-ea"/>
                        </a:rPr>
                        <a:t>setuptools</a:t>
                      </a:r>
                      <a:r>
                        <a:rPr lang="en-US" sz="1400" dirty="0">
                          <a:latin typeface="+mn-ea"/>
                          <a:ea typeface="+mn-ea"/>
                        </a:rPr>
                        <a:t> wheel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>
                          <a:latin typeface="+mn-ea"/>
                          <a:ea typeface="+mn-ea"/>
                        </a:rPr>
                        <a:t>항상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python -m pip ...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 권장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946914919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패키지 설치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python -m pip install &lt;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패키지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&gt;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python -m pip install requests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850081977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패키지 제거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python -m pip uninstall &lt;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패키지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&gt;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python -m pip uninstall requests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626109515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설치 목록 보기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python -m pip list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2181777386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현재 파이썬 경로 확인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which python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latin typeface="+mn-ea"/>
                          <a:ea typeface="+mn-ea"/>
                        </a:rPr>
                        <a:t>venv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면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.../.</a:t>
                      </a:r>
                      <a:r>
                        <a:rPr lang="en-US" sz="1400" dirty="0" err="1">
                          <a:latin typeface="+mn-ea"/>
                          <a:ea typeface="+mn-ea"/>
                        </a:rPr>
                        <a:t>venv</a:t>
                      </a:r>
                      <a:r>
                        <a:rPr lang="en-US" sz="1400" dirty="0">
                          <a:latin typeface="+mn-ea"/>
                          <a:ea typeface="+mn-ea"/>
                        </a:rPr>
                        <a:t>/bin/python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2265047882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pip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경로 확인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which pip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venv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면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.../.</a:t>
                      </a:r>
                      <a:r>
                        <a:rPr lang="en-US" sz="1400">
                          <a:latin typeface="+mn-ea"/>
                          <a:ea typeface="+mn-ea"/>
                        </a:rPr>
                        <a:t>venv/bin/pip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1414825989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venv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경로 확인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echo $VIRTUAL_ENV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활성화 시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venv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루트 표시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3070787142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환경 삭제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rm -rf &lt;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경로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&gt;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rm -rf .</a:t>
                      </a:r>
                      <a:r>
                        <a:rPr lang="en-US" altLang="ko-KR" sz="1400" dirty="0" err="1">
                          <a:latin typeface="+mn-ea"/>
                          <a:ea typeface="+mn-ea"/>
                        </a:rPr>
                        <a:t>venv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폴더 삭제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=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제거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1653142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002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DE58C-C5EB-BAC1-B432-06372AA19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86B6B3E-9E65-EEB6-B13F-44CEB9938134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b="1" dirty="0" err="1">
                <a:solidFill>
                  <a:schemeClr val="tx1"/>
                </a:solidFill>
              </a:rPr>
              <a:t>venv</a:t>
            </a:r>
            <a:r>
              <a:rPr lang="en-US" altLang="ko-KR" b="1" dirty="0">
                <a:solidFill>
                  <a:schemeClr val="tx1"/>
                </a:solidFill>
              </a:rPr>
              <a:t> </a:t>
            </a:r>
            <a:r>
              <a:rPr lang="ko-KR" altLang="en-US" b="1" dirty="0">
                <a:solidFill>
                  <a:schemeClr val="tx1"/>
                </a:solidFill>
              </a:rPr>
              <a:t>환경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C1A1233-255F-A7EF-2C9D-6EEC24263D95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 err="1"/>
              <a:t>pyQt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설치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972873-B7D0-E76C-600D-D79A36ACE8C4}"/>
              </a:ext>
            </a:extLst>
          </p:cNvPr>
          <p:cNvSpPr txBox="1"/>
          <p:nvPr/>
        </p:nvSpPr>
        <p:spPr>
          <a:xfrm>
            <a:off x="311086" y="924648"/>
            <a:ext cx="1027521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 1) OS 패키지 업데이트</a:t>
            </a:r>
          </a:p>
          <a:p>
            <a:r>
              <a:rPr lang="ko-KR" altLang="en-US" dirty="0"/>
              <a:t>     sudo </a:t>
            </a:r>
            <a:r>
              <a:rPr lang="ko-KR" altLang="en-US" dirty="0" err="1"/>
              <a:t>apt</a:t>
            </a:r>
            <a:r>
              <a:rPr lang="ko-KR" altLang="en-US" dirty="0"/>
              <a:t> </a:t>
            </a:r>
            <a:r>
              <a:rPr lang="ko-KR" altLang="en-US" dirty="0" err="1"/>
              <a:t>update</a:t>
            </a:r>
            <a:r>
              <a:rPr lang="ko-KR" altLang="en-US" dirty="0"/>
              <a:t> &amp;&amp; sudo </a:t>
            </a:r>
            <a:r>
              <a:rPr lang="ko-KR" altLang="en-US" dirty="0" err="1"/>
              <a:t>apt</a:t>
            </a:r>
            <a:r>
              <a:rPr lang="ko-KR" altLang="en-US" dirty="0"/>
              <a:t> </a:t>
            </a:r>
            <a:r>
              <a:rPr lang="ko-KR" altLang="en-US" dirty="0" err="1"/>
              <a:t>full-upgrade</a:t>
            </a:r>
            <a:r>
              <a:rPr lang="ko-KR" altLang="en-US" dirty="0"/>
              <a:t> -</a:t>
            </a:r>
            <a:r>
              <a:rPr lang="ko-KR" altLang="en-US" dirty="0" err="1"/>
              <a:t>y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  2) </a:t>
            </a:r>
            <a:r>
              <a:rPr lang="ko-KR" altLang="en-US" dirty="0" err="1"/>
              <a:t>Qt</a:t>
            </a:r>
            <a:r>
              <a:rPr lang="ko-KR" altLang="en-US" dirty="0"/>
              <a:t> </a:t>
            </a:r>
            <a:r>
              <a:rPr lang="ko-KR" altLang="en-US" dirty="0" err="1"/>
              <a:t>Designer</a:t>
            </a:r>
            <a:r>
              <a:rPr lang="ko-KR" altLang="en-US" dirty="0"/>
              <a:t> 설치</a:t>
            </a:r>
            <a:br>
              <a:rPr lang="en-US" altLang="ko-KR" dirty="0"/>
            </a:br>
            <a:r>
              <a:rPr lang="en-US" altLang="ko-KR" dirty="0"/>
              <a:t>     sudo apt install pyqt5-dev-tools</a:t>
            </a:r>
            <a:endParaRPr lang="ko-KR" altLang="en-US" dirty="0"/>
          </a:p>
          <a:p>
            <a:r>
              <a:rPr lang="ko-KR" altLang="en-US" dirty="0"/>
              <a:t>     sudo </a:t>
            </a:r>
            <a:r>
              <a:rPr lang="ko-KR" altLang="en-US" dirty="0" err="1"/>
              <a:t>apt</a:t>
            </a:r>
            <a:r>
              <a:rPr lang="ko-KR" altLang="en-US" dirty="0"/>
              <a:t> </a:t>
            </a:r>
            <a:r>
              <a:rPr lang="ko-KR" altLang="en-US" dirty="0" err="1"/>
              <a:t>install</a:t>
            </a:r>
            <a:r>
              <a:rPr lang="ko-KR" altLang="en-US" dirty="0"/>
              <a:t> -</a:t>
            </a:r>
            <a:r>
              <a:rPr lang="ko-KR" altLang="en-US" dirty="0" err="1"/>
              <a:t>y</a:t>
            </a:r>
            <a:r>
              <a:rPr lang="ko-KR" altLang="en-US" dirty="0"/>
              <a:t> qttools5-dev-tools qtwayland5</a:t>
            </a:r>
          </a:p>
          <a:p>
            <a:endParaRPr lang="ko-KR" altLang="en-US" dirty="0"/>
          </a:p>
          <a:p>
            <a:r>
              <a:rPr lang="ko-KR" altLang="en-US" dirty="0"/>
              <a:t> 3) 가상환경 생성/활성화</a:t>
            </a:r>
          </a:p>
          <a:p>
            <a:r>
              <a:rPr lang="ko-KR" altLang="en-US" dirty="0"/>
              <a:t>     python3 -</a:t>
            </a:r>
            <a:r>
              <a:rPr lang="ko-KR" altLang="en-US" dirty="0" err="1"/>
              <a:t>m</a:t>
            </a:r>
            <a:r>
              <a:rPr lang="ko-KR" altLang="en-US" dirty="0"/>
              <a:t> </a:t>
            </a:r>
            <a:r>
              <a:rPr lang="ko-KR" altLang="en-US" dirty="0" err="1"/>
              <a:t>venv</a:t>
            </a:r>
            <a:r>
              <a:rPr lang="ko-KR" altLang="en-US" dirty="0"/>
              <a:t>  </a:t>
            </a:r>
            <a:r>
              <a:rPr lang="en-US" altLang="ko-KR" dirty="0"/>
              <a:t>.</a:t>
            </a:r>
            <a:r>
              <a:rPr lang="en-US" altLang="ko-KR" dirty="0" err="1"/>
              <a:t>venv</a:t>
            </a:r>
            <a:endParaRPr lang="ko-KR" altLang="en-US" dirty="0"/>
          </a:p>
          <a:p>
            <a:r>
              <a:rPr lang="ko-KR" altLang="en-US" dirty="0"/>
              <a:t>     </a:t>
            </a:r>
            <a:r>
              <a:rPr lang="ko-KR" altLang="en-US" dirty="0" err="1"/>
              <a:t>source</a:t>
            </a:r>
            <a:r>
              <a:rPr lang="ko-KR" altLang="en-US" dirty="0"/>
              <a:t> </a:t>
            </a:r>
            <a:r>
              <a:rPr lang="en-US" altLang="ko-KR" dirty="0"/>
              <a:t>.</a:t>
            </a:r>
            <a:r>
              <a:rPr lang="ko-KR" altLang="en-US" dirty="0" err="1"/>
              <a:t>venvs</a:t>
            </a:r>
            <a:r>
              <a:rPr lang="ko-KR" altLang="en-US" dirty="0"/>
              <a:t>/</a:t>
            </a:r>
            <a:r>
              <a:rPr lang="ko-KR" altLang="en-US" dirty="0" err="1"/>
              <a:t>bin</a:t>
            </a:r>
            <a:r>
              <a:rPr lang="ko-KR" altLang="en-US" dirty="0"/>
              <a:t>/</a:t>
            </a:r>
            <a:r>
              <a:rPr lang="ko-KR" altLang="en-US" dirty="0" err="1"/>
              <a:t>activate</a:t>
            </a:r>
            <a:endParaRPr lang="ko-KR" altLang="en-US" dirty="0"/>
          </a:p>
          <a:p>
            <a:r>
              <a:rPr lang="ko-KR" altLang="en-US" dirty="0"/>
              <a:t>     </a:t>
            </a:r>
            <a:r>
              <a:rPr lang="ko-KR" altLang="en-US" dirty="0" err="1"/>
              <a:t>python</a:t>
            </a:r>
            <a:r>
              <a:rPr lang="ko-KR" altLang="en-US" dirty="0"/>
              <a:t> -</a:t>
            </a:r>
            <a:r>
              <a:rPr lang="ko-KR" altLang="en-US" dirty="0" err="1"/>
              <a:t>m</a:t>
            </a:r>
            <a:r>
              <a:rPr lang="ko-KR" altLang="en-US" dirty="0"/>
              <a:t> pip </a:t>
            </a:r>
            <a:r>
              <a:rPr lang="ko-KR" altLang="en-US" dirty="0" err="1"/>
              <a:t>install</a:t>
            </a:r>
            <a:r>
              <a:rPr lang="ko-KR" altLang="en-US" dirty="0"/>
              <a:t> --</a:t>
            </a:r>
            <a:r>
              <a:rPr lang="ko-KR" altLang="en-US" dirty="0" err="1"/>
              <a:t>upgrade</a:t>
            </a:r>
            <a:r>
              <a:rPr lang="ko-KR" altLang="en-US" dirty="0"/>
              <a:t> pip </a:t>
            </a:r>
            <a:r>
              <a:rPr lang="ko-KR" altLang="en-US" dirty="0" err="1"/>
              <a:t>wheel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 4) </a:t>
            </a:r>
            <a:r>
              <a:rPr lang="ko-KR" altLang="en-US" dirty="0" err="1"/>
              <a:t>venv에</a:t>
            </a:r>
            <a:r>
              <a:rPr lang="ko-KR" altLang="en-US" dirty="0"/>
              <a:t> PyQt5 설치</a:t>
            </a:r>
          </a:p>
          <a:p>
            <a:r>
              <a:rPr lang="ko-KR" altLang="en-US" dirty="0"/>
              <a:t>     pip </a:t>
            </a:r>
            <a:r>
              <a:rPr lang="ko-KR" altLang="en-US" dirty="0" err="1"/>
              <a:t>install</a:t>
            </a:r>
            <a:r>
              <a:rPr lang="ko-KR" altLang="en-US" dirty="0"/>
              <a:t> "PyQt5&gt;=5.15"</a:t>
            </a:r>
          </a:p>
          <a:p>
            <a:endParaRPr lang="ko-KR" altLang="en-US" dirty="0"/>
          </a:p>
          <a:p>
            <a:r>
              <a:rPr lang="ko-KR" altLang="en-US" dirty="0"/>
              <a:t> 5) 설치 버전 확인</a:t>
            </a:r>
          </a:p>
          <a:p>
            <a:r>
              <a:rPr lang="ko-KR" altLang="en-US" dirty="0"/>
              <a:t>     pyuic5 --</a:t>
            </a:r>
            <a:r>
              <a:rPr lang="ko-KR" altLang="en-US" dirty="0" err="1"/>
              <a:t>version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14521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E20E8-1E01-CB6B-8187-75405FCB6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7C73FC3-A932-8362-17FB-A12A57C1688A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LED </a:t>
            </a:r>
            <a:r>
              <a:rPr lang="ko-KR" altLang="en-US" sz="2000" b="1" dirty="0">
                <a:solidFill>
                  <a:schemeClr val="tx1"/>
                </a:solidFill>
              </a:rPr>
              <a:t>제어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B67BE68-8328-4D95-135E-5A0ADC6B3B89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PyQt </a:t>
            </a:r>
            <a:r>
              <a:rPr lang="ko-KR" altLang="en-US" sz="2000" b="1" dirty="0"/>
              <a:t>실습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90C4B19-1A09-C197-BE79-BF3BA3C39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0187" y="891561"/>
            <a:ext cx="2667372" cy="45154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9D21B3-A362-4918-ED11-6D6EBCB1741C}"/>
              </a:ext>
            </a:extLst>
          </p:cNvPr>
          <p:cNvSpPr txBox="1"/>
          <p:nvPr/>
        </p:nvSpPr>
        <p:spPr>
          <a:xfrm>
            <a:off x="2108499" y="3791230"/>
            <a:ext cx="105509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00FF"/>
                </a:solidFill>
              </a:rPr>
              <a:t>LED </a:t>
            </a:r>
            <a:r>
              <a:rPr lang="ko-KR" altLang="en-US" b="1" dirty="0">
                <a:solidFill>
                  <a:srgbClr val="0000FF"/>
                </a:solidFill>
              </a:rPr>
              <a:t>연결</a:t>
            </a:r>
            <a:endParaRPr lang="en-US" altLang="ko-KR" b="1" dirty="0">
              <a:solidFill>
                <a:srgbClr val="0000FF"/>
              </a:solidFill>
            </a:endParaRPr>
          </a:p>
          <a:p>
            <a:r>
              <a:rPr lang="en-US" altLang="ko-KR" dirty="0">
                <a:solidFill>
                  <a:srgbClr val="0000FF"/>
                </a:solidFill>
              </a:rPr>
              <a:t>GPIO13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GPIO19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GPIO26</a:t>
            </a:r>
          </a:p>
          <a:p>
            <a:endParaRPr lang="ko-KR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653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LED </a:t>
            </a:r>
            <a:r>
              <a:rPr lang="ko-KR" altLang="en-US" sz="2000" b="1" dirty="0">
                <a:solidFill>
                  <a:schemeClr val="tx1"/>
                </a:solidFill>
              </a:rPr>
              <a:t>제어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designer  </a:t>
            </a:r>
            <a:r>
              <a:rPr lang="en-US" altLang="ko-KR" sz="2000" b="1" dirty="0" err="1">
                <a:solidFill>
                  <a:schemeClr val="tx1"/>
                </a:solidFill>
                <a:sym typeface="Wingdings" panose="05000000000000000000" pitchFamily="2" charset="2"/>
              </a:rPr>
              <a:t>led_gui.ui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PyQt </a:t>
            </a:r>
            <a:r>
              <a:rPr lang="ko-KR" altLang="en-US" sz="2000" b="1" dirty="0"/>
              <a:t>실습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96E54E5-E31C-DBBE-DB33-FE62BA980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48" y="990666"/>
            <a:ext cx="3583241" cy="33186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B40F51-1CB0-28CC-8C02-94F7B4D22B75}"/>
              </a:ext>
            </a:extLst>
          </p:cNvPr>
          <p:cNvSpPr txBox="1"/>
          <p:nvPr/>
        </p:nvSpPr>
        <p:spPr>
          <a:xfrm>
            <a:off x="5070275" y="968705"/>
            <a:ext cx="22637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accent2">
                    <a:lumMod val="75000"/>
                  </a:schemeClr>
                </a:solidFill>
              </a:rPr>
              <a:t>objectName</a:t>
            </a:r>
            <a:endParaRPr lang="ko-KR" altLang="en-US" sz="32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1B083-4B38-D97C-D879-813ED7C5538B}"/>
              </a:ext>
            </a:extLst>
          </p:cNvPr>
          <p:cNvSpPr txBox="1"/>
          <p:nvPr/>
        </p:nvSpPr>
        <p:spPr>
          <a:xfrm>
            <a:off x="5413493" y="1710713"/>
            <a:ext cx="181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LED1_Button</a:t>
            </a:r>
            <a:endParaRPr lang="ko-KR" altLang="en-US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17E898-A9A1-A985-62FD-77EF4D6557EC}"/>
              </a:ext>
            </a:extLst>
          </p:cNvPr>
          <p:cNvSpPr txBox="1"/>
          <p:nvPr/>
        </p:nvSpPr>
        <p:spPr>
          <a:xfrm>
            <a:off x="5413493" y="2486843"/>
            <a:ext cx="181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LED2_Button</a:t>
            </a:r>
            <a:endParaRPr lang="ko-KR" alt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8D25D7-FA19-801E-728B-CE3010B8F0F7}"/>
              </a:ext>
            </a:extLst>
          </p:cNvPr>
          <p:cNvSpPr txBox="1"/>
          <p:nvPr/>
        </p:nvSpPr>
        <p:spPr>
          <a:xfrm>
            <a:off x="5413493" y="3284380"/>
            <a:ext cx="181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LED3_Button</a:t>
            </a:r>
            <a:endParaRPr lang="ko-KR" altLang="en-US" sz="240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2848920-17F3-B65F-AC90-AEBA5A791913}"/>
              </a:ext>
            </a:extLst>
          </p:cNvPr>
          <p:cNvCxnSpPr/>
          <p:nvPr/>
        </p:nvCxnSpPr>
        <p:spPr>
          <a:xfrm flipV="1">
            <a:off x="3330357" y="1941546"/>
            <a:ext cx="2034691" cy="605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2792CA2-B2BD-A247-F310-778F78A73B73}"/>
              </a:ext>
            </a:extLst>
          </p:cNvPr>
          <p:cNvCxnSpPr>
            <a:endCxn id="8" idx="1"/>
          </p:cNvCxnSpPr>
          <p:nvPr/>
        </p:nvCxnSpPr>
        <p:spPr>
          <a:xfrm flipV="1">
            <a:off x="3330357" y="2717676"/>
            <a:ext cx="2083136" cy="605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B0C61E0-A9C9-FFF7-8B7B-3A9D65A7C085}"/>
              </a:ext>
            </a:extLst>
          </p:cNvPr>
          <p:cNvCxnSpPr/>
          <p:nvPr/>
        </p:nvCxnSpPr>
        <p:spPr>
          <a:xfrm flipV="1">
            <a:off x="3330357" y="3515213"/>
            <a:ext cx="2083136" cy="605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2A78971-E3CB-68B5-04B7-C8DDC5378E78}"/>
              </a:ext>
            </a:extLst>
          </p:cNvPr>
          <p:cNvSpPr txBox="1"/>
          <p:nvPr/>
        </p:nvSpPr>
        <p:spPr>
          <a:xfrm>
            <a:off x="710605" y="4697364"/>
            <a:ext cx="6062237" cy="1515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altLang="ko-KR" sz="2800" b="1"/>
              <a:t>led_gui.ui   </a:t>
            </a:r>
            <a:r>
              <a:rPr lang="ko-KR" altLang="en-US" sz="2800" b="1"/>
              <a:t>로 저장</a:t>
            </a:r>
            <a:endParaRPr lang="en-US" altLang="ko-KR" sz="2800" b="1"/>
          </a:p>
          <a:p>
            <a:pPr marL="285750" indent="-28575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altLang="ko-KR" sz="2800" b="1"/>
              <a:t>.ui </a:t>
            </a:r>
            <a:r>
              <a:rPr lang="en-US" altLang="ko-KR" sz="2800" b="1">
                <a:sym typeface="Wingdings" panose="05000000000000000000" pitchFamily="2" charset="2"/>
              </a:rPr>
              <a:t> .py </a:t>
            </a:r>
            <a:r>
              <a:rPr lang="ko-KR" altLang="en-US" sz="2800" b="1">
                <a:sym typeface="Wingdings" panose="05000000000000000000" pitchFamily="2" charset="2"/>
              </a:rPr>
              <a:t>변환</a:t>
            </a:r>
            <a:endParaRPr lang="en-US" altLang="ko-KR" sz="2800" b="1"/>
          </a:p>
          <a:p>
            <a:pPr>
              <a:lnSpc>
                <a:spcPts val="3700"/>
              </a:lnSpc>
            </a:pPr>
            <a:r>
              <a:rPr lang="en-US" altLang="ko-KR" sz="2800" b="1"/>
              <a:t>    </a:t>
            </a:r>
            <a:r>
              <a:rPr lang="en-US" altLang="ko-KR" sz="2800" b="1">
                <a:sym typeface="Wingdings" panose="05000000000000000000" pitchFamily="2" charset="2"/>
              </a:rPr>
              <a:t>  </a:t>
            </a:r>
            <a:r>
              <a:rPr lang="en-US" altLang="ko-KR" sz="2800" b="1"/>
              <a:t>pyuic5 –x led_gui.ui –o led_gui.py</a:t>
            </a:r>
            <a:endParaRPr lang="ko-KR" altLang="en-US" sz="2800" b="1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3D58E9F-ED54-637C-4F14-3A2688ACC716}"/>
              </a:ext>
            </a:extLst>
          </p:cNvPr>
          <p:cNvCxnSpPr/>
          <p:nvPr/>
        </p:nvCxnSpPr>
        <p:spPr>
          <a:xfrm flipV="1">
            <a:off x="4230589" y="4134111"/>
            <a:ext cx="1134459" cy="605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5D9ACB3-ABE0-B663-331B-DAECCD3094AF}"/>
              </a:ext>
            </a:extLst>
          </p:cNvPr>
          <p:cNvSpPr txBox="1"/>
          <p:nvPr/>
        </p:nvSpPr>
        <p:spPr>
          <a:xfrm>
            <a:off x="5365048" y="3872427"/>
            <a:ext cx="1730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LED_Control</a:t>
            </a:r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9698182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1C51-159E-20B2-2021-F956E4E33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F0E266E-DCF4-B5C8-D9C7-DF2577E75837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LED </a:t>
            </a:r>
            <a:r>
              <a:rPr lang="ko-KR" altLang="en-US" sz="2000" b="1" dirty="0">
                <a:solidFill>
                  <a:schemeClr val="tx1"/>
                </a:solidFill>
              </a:rPr>
              <a:t>제어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vs code   ledRun.py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0EF66CF-73BA-9698-C6A9-396E0200217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PyQt </a:t>
            </a:r>
            <a:r>
              <a:rPr lang="ko-KR" altLang="en-US" sz="2000" b="1" dirty="0"/>
              <a:t>실습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4AE7CC8-C141-D808-6413-D51D33DB5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917"/>
            <a:ext cx="11220226" cy="616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746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CAD8C-B27D-4B6F-8B6B-17E3BB61F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2FB70BB-B7CB-5738-AA04-5A6B8056213A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LED </a:t>
            </a:r>
            <a:r>
              <a:rPr lang="ko-KR" altLang="en-US" sz="2000" b="1" dirty="0">
                <a:solidFill>
                  <a:schemeClr val="tx1"/>
                </a:solidFill>
              </a:rPr>
              <a:t>제어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vs code 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4E10C58-E6A5-E5EE-2E81-91DDB1ECE960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PyQt </a:t>
            </a:r>
            <a:r>
              <a:rPr lang="ko-KR" altLang="en-US" sz="2000" b="1" dirty="0"/>
              <a:t>실습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B340FB2-F11E-7E8A-9C49-46B9D19A2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7849"/>
            <a:ext cx="12192000" cy="23405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5ACE92-2E44-2BE1-3E32-703750AE3BF3}"/>
              </a:ext>
            </a:extLst>
          </p:cNvPr>
          <p:cNvSpPr txBox="1"/>
          <p:nvPr/>
        </p:nvSpPr>
        <p:spPr>
          <a:xfrm>
            <a:off x="383059" y="4044367"/>
            <a:ext cx="111334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GUI </a:t>
            </a:r>
            <a:r>
              <a:rPr lang="ko-KR" altLang="en-US" dirty="0"/>
              <a:t>가 있는 프로그램은 원격 </a:t>
            </a:r>
            <a:r>
              <a:rPr lang="en-US" altLang="ko-KR" dirty="0"/>
              <a:t>SSH</a:t>
            </a:r>
            <a:r>
              <a:rPr lang="ko-KR" altLang="en-US" dirty="0"/>
              <a:t>로 바로 실행이 안되므로 </a:t>
            </a:r>
            <a:br>
              <a:rPr lang="en-US" altLang="ko-KR" dirty="0"/>
            </a:br>
            <a:r>
              <a:rPr lang="en-US" altLang="ko-KR" dirty="0"/>
              <a:t>VNC </a:t>
            </a:r>
            <a:r>
              <a:rPr lang="ko-KR" altLang="en-US" dirty="0"/>
              <a:t>환경에서 실행하자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44330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0AE56-2531-0AB2-CD16-37EBA421A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14DDD9D-C37A-87DF-297D-BE1BC55E6C2E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VNC </a:t>
            </a:r>
            <a:r>
              <a:rPr lang="ko-KR" altLang="en-US" sz="2000" b="1" dirty="0">
                <a:solidFill>
                  <a:schemeClr val="tx1"/>
                </a:solidFill>
              </a:rPr>
              <a:t>설치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5A21FBD-E8F5-0F88-43DB-35D4ECDAF4C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PyQt </a:t>
            </a:r>
            <a:r>
              <a:rPr lang="ko-KR" altLang="en-US" sz="2000" b="1" dirty="0"/>
              <a:t>실습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EDDE88-1512-A575-A57F-79B736200687}"/>
              </a:ext>
            </a:extLst>
          </p:cNvPr>
          <p:cNvSpPr txBox="1"/>
          <p:nvPr/>
        </p:nvSpPr>
        <p:spPr>
          <a:xfrm>
            <a:off x="500230" y="1088787"/>
            <a:ext cx="60995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sudo </a:t>
            </a:r>
            <a:r>
              <a:rPr lang="ko-KR" altLang="en-US" sz="2000" dirty="0" err="1"/>
              <a:t>apt</a:t>
            </a:r>
            <a:r>
              <a:rPr lang="ko-KR" altLang="en-US" sz="2000" dirty="0"/>
              <a:t> </a:t>
            </a:r>
            <a:r>
              <a:rPr lang="ko-KR" altLang="en-US" sz="2000" dirty="0" err="1"/>
              <a:t>update</a:t>
            </a:r>
            <a:endParaRPr lang="ko-KR" altLang="en-US" sz="2000" dirty="0"/>
          </a:p>
          <a:p>
            <a:r>
              <a:rPr lang="ko-KR" altLang="en-US" sz="2000" dirty="0"/>
              <a:t>sudo </a:t>
            </a:r>
            <a:r>
              <a:rPr lang="ko-KR" altLang="en-US" sz="2000" dirty="0" err="1"/>
              <a:t>apt</a:t>
            </a:r>
            <a:r>
              <a:rPr lang="ko-KR" altLang="en-US" sz="2000" dirty="0"/>
              <a:t> </a:t>
            </a:r>
            <a:r>
              <a:rPr lang="ko-KR" altLang="en-US" sz="2000" dirty="0" err="1"/>
              <a:t>install</a:t>
            </a:r>
            <a:r>
              <a:rPr lang="ko-KR" altLang="en-US" sz="2000" dirty="0"/>
              <a:t> -</a:t>
            </a:r>
            <a:r>
              <a:rPr lang="ko-KR" altLang="en-US" sz="2000" dirty="0" err="1"/>
              <a:t>y</a:t>
            </a:r>
            <a:r>
              <a:rPr lang="ko-KR" altLang="en-US" sz="2000" dirty="0"/>
              <a:t> </a:t>
            </a:r>
            <a:r>
              <a:rPr lang="ko-KR" altLang="en-US" sz="2000" dirty="0" err="1"/>
              <a:t>realvnc-vnc-server</a:t>
            </a:r>
            <a:endParaRPr lang="ko-KR" altLang="en-US" sz="2000" dirty="0"/>
          </a:p>
          <a:p>
            <a:r>
              <a:rPr lang="ko-KR" altLang="en-US" sz="2000" dirty="0"/>
              <a:t>sudo </a:t>
            </a:r>
            <a:r>
              <a:rPr lang="ko-KR" altLang="en-US" sz="2000" dirty="0" err="1"/>
              <a:t>systemctl</a:t>
            </a:r>
            <a:r>
              <a:rPr lang="ko-KR" altLang="en-US" sz="2000" dirty="0"/>
              <a:t> </a:t>
            </a:r>
            <a:r>
              <a:rPr lang="ko-KR" altLang="en-US" sz="2000" dirty="0" err="1"/>
              <a:t>enable</a:t>
            </a:r>
            <a:r>
              <a:rPr lang="ko-KR" altLang="en-US" sz="2000" dirty="0"/>
              <a:t> --</a:t>
            </a:r>
            <a:r>
              <a:rPr lang="ko-KR" altLang="en-US" sz="2000" dirty="0" err="1"/>
              <a:t>now</a:t>
            </a:r>
            <a:r>
              <a:rPr lang="ko-KR" altLang="en-US" sz="2000" dirty="0"/>
              <a:t> vncserver-x11-serviced</a:t>
            </a:r>
          </a:p>
          <a:p>
            <a:r>
              <a:rPr lang="ko-KR" altLang="en-US" sz="2000" dirty="0" err="1"/>
              <a:t>systemctl</a:t>
            </a:r>
            <a:r>
              <a:rPr lang="ko-KR" altLang="en-US" sz="2000" dirty="0"/>
              <a:t> </a:t>
            </a:r>
            <a:r>
              <a:rPr lang="ko-KR" altLang="en-US" sz="2000" dirty="0" err="1"/>
              <a:t>status</a:t>
            </a:r>
            <a:r>
              <a:rPr lang="ko-KR" altLang="en-US" sz="2000" dirty="0"/>
              <a:t> vncserver-x11-serviced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EFE72A-8E55-FB3C-ED9F-BD3963BA3753}"/>
              </a:ext>
            </a:extLst>
          </p:cNvPr>
          <p:cNvSpPr txBox="1"/>
          <p:nvPr/>
        </p:nvSpPr>
        <p:spPr>
          <a:xfrm>
            <a:off x="500230" y="2869416"/>
            <a:ext cx="6099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Courier New" panose="02070309020205020404" pitchFamily="49" charset="0"/>
              </a:rPr>
              <a:t>active (running)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이면 </a:t>
            </a:r>
            <a:r>
              <a:rPr lang="en-US" altLang="ko-KR" sz="2000" b="1" dirty="0"/>
              <a:t>OK.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689824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AF2C-4051-DF55-FEDA-A0860E04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0DF12BC-A266-AA1D-2A2F-0F7A45B30437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 windows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E2DACD5-BBFB-FDF8-DC0C-E920026C23B7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PyQt </a:t>
            </a:r>
            <a:r>
              <a:rPr lang="ko-KR" altLang="en-US" sz="2000" b="1" dirty="0"/>
              <a:t>실습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757878-5C67-5583-318E-E8414319D54E}"/>
              </a:ext>
            </a:extLst>
          </p:cNvPr>
          <p:cNvSpPr txBox="1"/>
          <p:nvPr/>
        </p:nvSpPr>
        <p:spPr>
          <a:xfrm>
            <a:off x="245011" y="848068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2"/>
              </a:rPr>
              <a:t>Download VNC Viewer by </a:t>
            </a:r>
            <a:r>
              <a:rPr lang="en-US" altLang="ko-KR" dirty="0" err="1">
                <a:hlinkClick r:id="rId2"/>
              </a:rPr>
              <a:t>RealVNC</a:t>
            </a:r>
            <a:r>
              <a:rPr lang="en-US" altLang="ko-KR" dirty="0">
                <a:hlinkClick r:id="rId2"/>
              </a:rPr>
              <a:t>®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BB3AEE-E453-AD78-6B7A-815DE967B820}"/>
              </a:ext>
            </a:extLst>
          </p:cNvPr>
          <p:cNvSpPr txBox="1"/>
          <p:nvPr/>
        </p:nvSpPr>
        <p:spPr>
          <a:xfrm>
            <a:off x="245011" y="1332162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UltraVNC_1640_x64_Setup.exe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377DDD3-F827-E636-A868-A8991FDC4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14" y="1979214"/>
            <a:ext cx="5087060" cy="195289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4BA0CB7-4B42-9207-6D4E-83F8ACA2E5F5}"/>
              </a:ext>
            </a:extLst>
          </p:cNvPr>
          <p:cNvSpPr txBox="1"/>
          <p:nvPr/>
        </p:nvSpPr>
        <p:spPr>
          <a:xfrm>
            <a:off x="5806715" y="1979214"/>
            <a:ext cx="4525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윈도우 환경에서 </a:t>
            </a:r>
            <a:r>
              <a:rPr lang="en-US" altLang="ko-KR" dirty="0"/>
              <a:t>raspberry pi </a:t>
            </a:r>
            <a:r>
              <a:rPr lang="ko-KR" altLang="en-US" dirty="0"/>
              <a:t>윈도우 표시됨</a:t>
            </a:r>
          </a:p>
        </p:txBody>
      </p:sp>
    </p:spTree>
    <p:extLst>
      <p:ext uri="{BB962C8B-B14F-4D97-AF65-F5344CB8AC3E}">
        <p14:creationId xmlns:p14="http://schemas.microsoft.com/office/powerpoint/2010/main" val="24222407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65661-95CB-E112-71DE-1ED0112C5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06476CC-1EEB-845D-E1B7-139E297CDD3B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 windows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BAC26D7-8F9B-3BDD-F306-C0A7ABB03EEE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PyQt </a:t>
            </a:r>
            <a:r>
              <a:rPr lang="ko-KR" altLang="en-US" sz="2000" b="1" dirty="0"/>
              <a:t>실습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5B086B-730F-2F61-9364-2B0A593DB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09" y="940867"/>
            <a:ext cx="7630590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329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E50EF-3C1E-E72E-C0A2-5B9110C21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35D009-3078-58DC-D4C3-600E4FAE84F0}"/>
              </a:ext>
            </a:extLst>
          </p:cNvPr>
          <p:cNvSpPr txBox="1"/>
          <p:nvPr/>
        </p:nvSpPr>
        <p:spPr>
          <a:xfrm>
            <a:off x="10720799" y="5949864"/>
            <a:ext cx="1013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u="sng" dirty="0">
                <a:solidFill>
                  <a:schemeClr val="accent1">
                    <a:lumMod val="50000"/>
                  </a:schemeClr>
                </a:solidFill>
              </a:rPr>
              <a:t>END.</a:t>
            </a:r>
            <a:endParaRPr lang="ko-KR" altLang="en-US" sz="3200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161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3517</TotalTime>
  <Words>6330</Words>
  <Application>Microsoft Office PowerPoint</Application>
  <PresentationFormat>와이드스크린</PresentationFormat>
  <Paragraphs>774</Paragraphs>
  <Slides>56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5" baseType="lpstr">
      <vt:lpstr>Arial Unicode MS</vt:lpstr>
      <vt:lpstr>맑은 고딕</vt:lpstr>
      <vt:lpstr>Arial</vt:lpstr>
      <vt:lpstr>Calibri</vt:lpstr>
      <vt:lpstr>Calibri Light</vt:lpstr>
      <vt:lpstr>Consolas</vt:lpstr>
      <vt:lpstr>Courier New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손 영달</dc:creator>
  <cp:lastModifiedBy>Dev DW</cp:lastModifiedBy>
  <cp:revision>280</cp:revision>
  <dcterms:created xsi:type="dcterms:W3CDTF">2024-07-30T13:51:44Z</dcterms:created>
  <dcterms:modified xsi:type="dcterms:W3CDTF">2025-11-11T23:55:39Z</dcterms:modified>
</cp:coreProperties>
</file>